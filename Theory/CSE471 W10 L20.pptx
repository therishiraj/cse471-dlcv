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5898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3179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7695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359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949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390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11289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18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3086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7488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7932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58645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937967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917290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89661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875934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141732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14173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141732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9377172" y="14173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71373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3891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9052560" y="471373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7172" y="43891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 ·   WEEK 10  ·  LECTURE 2  ·  HOUR 20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21488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Segmentation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DeepLab</a:t>
            </a:r>
            <a:pPr indent="0" marL="0">
              <a:buNone/>
            </a:pPr>
            <a:r>
              <a:rPr lang="en-US" sz="2400" dirty="0">
                <a:solidFill>
                  <a:srgbClr val="5C7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 R-CNN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architecture perfects semantic segmentation. The other brings segmentation to individual objects.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WHERE WE'VE BEEN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UNet to Two Specialists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lecture: semantic vs. instance vs. panoptic segmentation, and UNet's encoder-decoder + skip-connection recipe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ended on UNet's limits: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pooling still loses real resolution before skip connections compensate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native way to separate individual object instances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two purpose-built answers: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— rethinks downsampling itself for sharper SEMANTIC segmentation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— extends detection with a mask branch for true INSTANCE segmentation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20840" y="210312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0840" y="2103120"/>
            <a:ext cx="49377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2084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2651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segmentation, reimagined — no encoder-decoder pyramid needed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20840" y="374904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 w="15875">
            <a:solidFill>
              <a:srgbClr val="FF6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3749040"/>
            <a:ext cx="493776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3749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4297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Detection's proposal pipeline, taught to output pixel masks too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98448" y="1636776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8760" y="1636776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standard downsampling limits segmentation quality, and how atrous convolution fixes it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98448" y="2532888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2532888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DeepLab's ASPP module and how it captures multi-scale context in one layer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98448" y="3429000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08760" y="3429000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Mask R-CNN extends Faster R-CNN with a decoupled mask branch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98448" y="4325112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08760" y="4325112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RoIAlign and why precise, quantization-free feature extraction matters for masks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98448" y="5221224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508760" y="5221224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DeepLab, Mask R-CNN, and UNet to pick the right tool for a given task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Go Beyond UNet?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is a strong general-purpose semantic segmentation architecture, but it has real limits: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still loses resolution</a:t>
            </a:r>
            <a:endParaRPr lang="en-US" sz="1200" dirty="0"/>
          </a:p>
          <a:p>
            <a:pPr lvl="1" marL="685800" indent="-3429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help recover it, but can't fully undo it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Receptive field grows only by stacking pooling layers</a:t>
            </a:r>
            <a:endParaRPr lang="en-US" sz="1200" dirty="0"/>
          </a:p>
          <a:p>
            <a:pPr lvl="1" marL="685800" indent="-3429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expensive way to gain context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instance awareness</a:t>
            </a:r>
            <a:endParaRPr lang="en-US" sz="1200" dirty="0"/>
          </a:p>
          <a:p>
            <a:pPr lvl="1" marL="685800" indent="-3429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of a class collapses into one shared label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research directions emerged to address these: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EF3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160520"/>
            <a:ext cx="53949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41605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00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 downsampling itself using atrous convolution — keep resolution high while still growing context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623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stronger SEMANTIC segmentation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41605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E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4160520"/>
            <a:ext cx="539496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41605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800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 excellent detector and teach it to output a pixel mask per object, alongside its box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5623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true INSTANCE segmentation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SEMANTIC SEGMENTATION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1417320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467612" y="1417320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82012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03704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2382012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467612" y="2203704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63040"/>
            <a:ext cx="914400" cy="9144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417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DeepLab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(Google), v1 2014 → v2 → v3 (2017) → v3+ (2018)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803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of models, refined over several papers, consistently among the top performers on standard semantic segmentation benchmarks (PASCAL VOC, Cityscapes)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 across the whole series:</a:t>
            </a:r>
            <a:endParaRPr lang="en-US" sz="135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atrous (dilated) convolution to control receptive field and spatial resolution INDEPENDENTLY</a:t>
            </a:r>
            <a:endParaRPr lang="en-US" sz="135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relying on pooling, which ties the two together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idea is the thread running through everything else in this half of the lecture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· 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Standard Downsampling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traditionally use pooling / strided convolution to grow the receptive field and cut compute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every downsampling step throws away spatial resolution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classification, that's fine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for the whole image — exact spatial detail doesn't matter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per-pixel segmentation, it's costly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resolution directly means blurrier, less precise boundaries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want: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receptive field (to understand context) WITHOUT shrinking the feature 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92240" y="1828800"/>
            <a:ext cx="5120640" cy="45720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56832" y="18288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246888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EE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2560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pooling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880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resolution kept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3154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Small receptive field — no context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370332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EEF3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3794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pooling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Large receptive field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389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Resolution destroyed — blurry masks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502920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0F2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50292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Atrous convolution breaks this tension — next slide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· THE KEY IDEA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Atrous (Dilated) Convolutions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gaps (“holes”) between the kernel's weights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3×3 kernel with dilation rate r covers a much larger area — but still only has 9 weights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Enlarges the receptive field WITHOUT adding parameters and WITHOUT reducing spatial resolution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atrous convolutions at increasing rates grows context efficiently while the feature map stays dense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change that lets DeepLab skip most of the pooling a normal CNN would need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1691640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3×3 conv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75120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59168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43216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27264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11312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79408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9168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43216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27264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1312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79408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59168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43216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27264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1312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0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79408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59168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43216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27264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11312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95360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79408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59168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43216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27264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11312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95360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79408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75120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9168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3216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27264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11312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95360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79408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75120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59168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43216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27264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11312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95360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79408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00823" y="2837383"/>
            <a:ext cx="268834" cy="26883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6" name="Shape 54"/>
          <p:cNvSpPr/>
          <p:nvPr/>
        </p:nvSpPr>
        <p:spPr>
          <a:xfrm>
            <a:off x="7884871" y="2837383"/>
            <a:ext cx="268834" cy="26883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7" name="Shape 55"/>
          <p:cNvSpPr/>
          <p:nvPr/>
        </p:nvSpPr>
        <p:spPr>
          <a:xfrm>
            <a:off x="8268919" y="2837383"/>
            <a:ext cx="268834" cy="26883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8" name="Shape 56"/>
          <p:cNvSpPr/>
          <p:nvPr/>
        </p:nvSpPr>
        <p:spPr>
          <a:xfrm>
            <a:off x="7500823" y="3221431"/>
            <a:ext cx="268834" cy="26883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9" name="Shape 57"/>
          <p:cNvSpPr/>
          <p:nvPr/>
        </p:nvSpPr>
        <p:spPr>
          <a:xfrm>
            <a:off x="7884871" y="3221431"/>
            <a:ext cx="268834" cy="26883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0" name="Shape 58"/>
          <p:cNvSpPr/>
          <p:nvPr/>
        </p:nvSpPr>
        <p:spPr>
          <a:xfrm>
            <a:off x="8268919" y="3221431"/>
            <a:ext cx="268834" cy="26883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1" name="Shape 59"/>
          <p:cNvSpPr/>
          <p:nvPr/>
        </p:nvSpPr>
        <p:spPr>
          <a:xfrm>
            <a:off x="7500823" y="3605479"/>
            <a:ext cx="268834" cy="26883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2" name="Shape 60"/>
          <p:cNvSpPr/>
          <p:nvPr/>
        </p:nvSpPr>
        <p:spPr>
          <a:xfrm>
            <a:off x="7884871" y="3605479"/>
            <a:ext cx="268834" cy="26883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3" name="Shape 61"/>
          <p:cNvSpPr/>
          <p:nvPr/>
        </p:nvSpPr>
        <p:spPr>
          <a:xfrm>
            <a:off x="8268919" y="3605479"/>
            <a:ext cx="268834" cy="26883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675120" y="4791456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 = 1 (standard)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9281160" y="1691640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Atrous 3×3 conv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281160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665208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049256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433304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17352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201400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585448" y="201168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281160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65208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49256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433304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817352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201400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85448" y="239572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281160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665208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049256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433304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817352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201400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585448" y="2779776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281160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665208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049256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433304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817352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201400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585448" y="3163824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281160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665208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049256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433304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817352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1201400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585448" y="3547872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281160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665208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049256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433304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817352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201400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585448" y="3931920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281160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665208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049256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433304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817352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201400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1585448" y="4315968"/>
            <a:ext cx="384048" cy="384048"/>
          </a:xfrm>
          <a:prstGeom prst="rect">
            <a:avLst/>
          </a:prstGeom>
          <a:solidFill>
            <a:srgbClr val="F7FAFB"/>
          </a:solidFill>
          <a:ln w="9525">
            <a:solidFill>
              <a:srgbClr val="CBD8E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722815" y="2453335"/>
            <a:ext cx="268834" cy="26883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490911" y="2453335"/>
            <a:ext cx="268834" cy="26883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1259007" y="2453335"/>
            <a:ext cx="268834" cy="26883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8" name="Shape 116"/>
          <p:cNvSpPr/>
          <p:nvPr/>
        </p:nvSpPr>
        <p:spPr>
          <a:xfrm>
            <a:off x="9722815" y="3221431"/>
            <a:ext cx="268834" cy="26883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490911" y="3221431"/>
            <a:ext cx="268834" cy="26883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259007" y="3221431"/>
            <a:ext cx="268834" cy="26883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1" name="Shape 119"/>
          <p:cNvSpPr/>
          <p:nvPr/>
        </p:nvSpPr>
        <p:spPr>
          <a:xfrm>
            <a:off x="9722815" y="3989527"/>
            <a:ext cx="268834" cy="26883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490911" y="3989527"/>
            <a:ext cx="268834" cy="26883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1259007" y="3989527"/>
            <a:ext cx="268834" cy="26883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9281160" y="4791456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 = 2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6537960" y="5202936"/>
            <a:ext cx="5294376" cy="1051560"/>
          </a:xfrm>
          <a:prstGeom prst="roundRect">
            <a:avLst>
              <a:gd name="adj" fmla="val 6957"/>
            </a:avLst>
          </a:prstGeom>
          <a:solidFill>
            <a:srgbClr val="EEF3F6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6675120" y="5202936"/>
            <a:ext cx="5020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9 weights (colored cells) — the atrous version just samples them much further apart, covering a bigger area of the input in one layer.</a:t>
            </a:r>
            <a:endParaRPr lang="en-US" sz="1100" dirty="0"/>
          </a:p>
        </p:txBody>
      </p:sp>
      <p:sp>
        <p:nvSpPr>
          <p:cNvPr id="127" name="Text 125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128" name="Text 126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· MULTI-SCALE CONTEXT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Atrous Spatial Pyramid Pooling (ASPP)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appear at different scales in an image — one dilation rate isn't optimal for all of them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ASPP runs SEVERAL atrous convolutions in PARALLEL</a:t>
            </a:r>
            <a:endParaRPr lang="en-US" sz="12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a different dilation rate (e.g. 6, 12, 18), plus a global-average-pooling branch for full-image context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parallel outputs are concatenated and fused with a 1×1 convolution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multi-scale context captured in ONE layer — no encoder-decoder pyramid required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822960" cy="3291840"/>
          </a:xfrm>
          <a:prstGeom prst="rect">
            <a:avLst/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09360" y="1737360"/>
            <a:ext cx="822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78040" y="2075688"/>
            <a:ext cx="36576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1874520"/>
            <a:ext cx="187452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87452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78040" y="2807208"/>
            <a:ext cx="36576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2606040"/>
            <a:ext cx="187452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0" y="260604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12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78040" y="3538728"/>
            <a:ext cx="36576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3337560"/>
            <a:ext cx="187452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89520" y="333756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18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78040" y="4270248"/>
            <a:ext cx="36576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0" y="4069080"/>
            <a:ext cx="187452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0" y="406908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pooling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09760" y="2157984"/>
            <a:ext cx="411480" cy="0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2889504"/>
            <a:ext cx="411480" cy="0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3621024"/>
            <a:ext cx="411480" cy="0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9760" y="4352544"/>
            <a:ext cx="411480" cy="0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1737360"/>
            <a:ext cx="594360" cy="3291840"/>
          </a:xfrm>
          <a:prstGeom prst="roundRect">
            <a:avLst>
              <a:gd name="adj" fmla="val 9231"/>
            </a:avLst>
          </a:prstGeom>
          <a:solidFill>
            <a:srgbClr val="0F2A47"/>
          </a:solidFill>
          <a:ln/>
        </p:spPr>
      </p:sp>
      <p:sp>
        <p:nvSpPr>
          <p:cNvPr id="24" name="Text 22"/>
          <p:cNvSpPr txBox="1"/>
          <p:nvPr/>
        </p:nvSpPr>
        <p:spPr>
          <a:xfrm rot="16200000">
            <a:off x="9326880" y="30861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61320" y="3300984"/>
            <a:ext cx="22860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89920" y="2880360"/>
            <a:ext cx="914400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789920" y="288036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·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3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ResNet), with some strided convolutions swapped for atrous convolutions to keep resolution higher than usual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ASPP</a:t>
            </a:r>
            <a:endParaRPr lang="en-US" sz="13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top of the backbone's output feature map, capturing multi-scale context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(v3+ only)</a:t>
            </a:r>
            <a:endParaRPr lang="en-US" sz="13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 module that upsamples and refines boundaries using an early, high-resolution backbone feature map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versions (v1–v3) skipped the decoder and just bilinearly upsampled the ASPP output directly — simpler, but blurrier at object edges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2377440"/>
            <a:ext cx="1051560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0" y="237744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88352" y="2729484"/>
            <a:ext cx="265176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2377440"/>
            <a:ext cx="1051560" cy="868680"/>
          </a:xfrm>
          <a:prstGeom prst="roundRect">
            <a:avLst>
              <a:gd name="adj" fmla="val 7368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237744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759952" y="2729484"/>
            <a:ext cx="265176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1" name="Shape 9"/>
          <p:cNvSpPr/>
          <p:nvPr/>
        </p:nvSpPr>
        <p:spPr>
          <a:xfrm>
            <a:off x="9052560" y="2377440"/>
            <a:ext cx="1051560" cy="868680"/>
          </a:xfrm>
          <a:prstGeom prst="roundRect">
            <a:avLst>
              <a:gd name="adj" fmla="val 7368"/>
            </a:avLst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0" y="237744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(v3+)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131552" y="2729484"/>
            <a:ext cx="265176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24160" y="2377440"/>
            <a:ext cx="1051560" cy="868680"/>
          </a:xfrm>
          <a:prstGeom prst="roundRect">
            <a:avLst>
              <a:gd name="adj" fmla="val 7368"/>
            </a:avLst>
          </a:prstGeom>
          <a:solidFill>
            <a:srgbClr val="6E86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332720" y="237744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352044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52044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bilinearly upsampled to the original image resolution — one class label per pixel, same H×W as the input.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Low-level backbone features also feed the v3+ decoder directly — detailed on the next slide.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·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v3+ Decoder: A Lighter-Weight Skip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v1–v3 upsampled the ASPP output directly — simple, but boundaries came out blurry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v3+ adds one lightweight decoder step:</a:t>
            </a:r>
            <a:endParaRPr lang="en-US" sz="120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low-level feature map from early in the backbone (higher resolution, less semantic)</a:t>
            </a:r>
            <a:endParaRPr lang="en-US" sz="120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 the ASPP output to match its resolution</a:t>
            </a:r>
            <a:endParaRPr lang="en-US" sz="120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the two, then refine with a few more convolutions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Conceptually similar in spirit to UNet's skip connections — but just ONE skip, not one per resolution level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92240" y="2194560"/>
            <a:ext cx="173736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92240" y="21945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(early, high-res)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75320" y="2583180"/>
            <a:ext cx="1005840" cy="0"/>
          </a:xfrm>
          <a:prstGeom prst="line">
            <a:avLst/>
          </a:prstGeom>
          <a:noFill/>
          <a:ln w="19050">
            <a:solidFill>
              <a:srgbClr val="5C6B78"/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92240" y="3611880"/>
            <a:ext cx="1737360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36118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ASPP 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(upsampled)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75320" y="4000500"/>
            <a:ext cx="1005840" cy="0"/>
          </a:xfrm>
          <a:prstGeom prst="line">
            <a:avLst/>
          </a:prstGeom>
          <a:noFill/>
          <a:ln w="19050">
            <a:solidFill>
              <a:srgbClr val="5C6B78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326880" y="2468880"/>
            <a:ext cx="548640" cy="1828800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 rot="16200000">
            <a:off x="8778240" y="3108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921240" y="3300984"/>
            <a:ext cx="22860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49840" y="2788920"/>
            <a:ext cx="1691640" cy="1188720"/>
          </a:xfrm>
          <a:prstGeom prst="roundRect">
            <a:avLst>
              <a:gd name="adj" fmla="val 5385"/>
            </a:avLst>
          </a:prstGeom>
          <a:solidFill>
            <a:srgbClr val="EEF3F6"/>
          </a:solidFill>
          <a:ln w="15875">
            <a:solidFill>
              <a:srgbClr val="0F2A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0" y="278892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convs 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 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map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DEEPLAB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DeepLab: Strengths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5720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737360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balance of context and boundary precision via ASPP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consistent benchmark performance (PASCAL VOC, Cityscapes)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use of resolution — no deep encoder-decoder pyramid needed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Backbone-agnostic — drop in any modern CNN backbone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303520" cy="45720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19672" y="1737360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3172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Atrous convolutions at high dilation rates cost more compute/memory than standard pooling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fundamentally a SEMANTIC segmentation method — no instance separation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still struggle with very fine, thin structures at object boundaries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8463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Part 2: </a:t>
            </a:r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(and UNet) are excellent at semantic segmentation, but neither tells you “which pixels are car #1 vs. car #2.” That's exactly the gap Mask R-CNN fills.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INSTANCE SEGMENTATION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Semantic to Instance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and UNet both do semantic segmentation superbly — but neither separates individual object instances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from last lecture: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 = detection (find each object) + a mask (exact pixels) for each one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move: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 already-excellent detector and teach it to output a mask too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Mask R-CNN — built directly on top of Faster R-CNN, which you already know from Week 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4343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4343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(boxes + classes)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11880" y="4764024"/>
            <a:ext cx="36576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4343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14800" y="4343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mask branch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4764024"/>
            <a:ext cx="36576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4343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4343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(boxes + classes + masks)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INSTANCE SEGMENTATION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1417320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1467612" y="1417320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82012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03704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2382012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1467612" y="2203704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63040"/>
            <a:ext cx="914400" cy="9144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 R-CNN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He, Gkioxari, Dollár &amp; Girshick (FAIR), 2017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803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Faster R-CNN — recall its two-stage pipeline: an RPN proposes regions, then a head classifies and refines each box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adds a THIRD, parallel branch to that head:</a:t>
            </a:r>
            <a:endParaRPr lang="en-US" sz="13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mask-predicting FCN, running alongside the existing classification and box-regression branches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philosophy: decouple mask prediction from classification</a:t>
            </a:r>
            <a:endParaRPr lang="en-US" sz="13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binary mask independently per class, and let the classification branch decide which class's mask to use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the de facto standard architecture for instance segmentation almost immediately after publication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·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+ FPN</a:t>
            </a:r>
            <a:endParaRPr lang="en-US" sz="130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multi-scale feature maps, same as RetinaNet from Week 9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</a:t>
            </a:r>
            <a:endParaRPr lang="en-US" sz="130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proposes candidate regions, exactly as in Faster R-CNN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RoIAlign</a:t>
            </a:r>
            <a:endParaRPr lang="en-US" sz="130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extracts a precisely-aligned fixed-size feature patch per proposal (why this replaces RoIPool: next two slides)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head branches per RoI:</a:t>
            </a:r>
            <a:endParaRPr lang="en-US" sz="130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box regression, and mask prediction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46520" y="1828800"/>
            <a:ext cx="1554480" cy="658368"/>
          </a:xfrm>
          <a:prstGeom prst="roundRect">
            <a:avLst>
              <a:gd name="adj" fmla="val 9722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55080" y="18288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FPN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028432" y="2075688"/>
            <a:ext cx="146304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8202168" y="1828800"/>
            <a:ext cx="1554480" cy="658368"/>
          </a:xfrm>
          <a:prstGeom prst="roundRect">
            <a:avLst>
              <a:gd name="adj" fmla="val 9722"/>
            </a:avLst>
          </a:prstGeom>
          <a:solidFill>
            <a:srgbClr val="6E86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10728" y="18288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784080" y="2075688"/>
            <a:ext cx="146304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1" name="Shape 9"/>
          <p:cNvSpPr/>
          <p:nvPr/>
        </p:nvSpPr>
        <p:spPr>
          <a:xfrm>
            <a:off x="9957816" y="1828800"/>
            <a:ext cx="1554480" cy="658368"/>
          </a:xfrm>
          <a:prstGeom prst="roundRect">
            <a:avLst>
              <a:gd name="adj" fmla="val 9722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66376" y="18288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RoIAlign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35056" y="2487168"/>
            <a:ext cx="0" cy="320040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5096" y="2807208"/>
            <a:ext cx="3468624" cy="0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45096" y="2807208"/>
            <a:ext cx="0" cy="274320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79408" y="2807208"/>
            <a:ext cx="0" cy="274320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713720" y="2807208"/>
            <a:ext cx="0" cy="274320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46520" y="3081528"/>
            <a:ext cx="1597152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3081528"/>
            <a:ext cx="1688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80832" y="3081528"/>
            <a:ext cx="1597152" cy="685800"/>
          </a:xfrm>
          <a:prstGeom prst="roundRect">
            <a:avLst>
              <a:gd name="adj" fmla="val 8000"/>
            </a:avLst>
          </a:prstGeom>
          <a:solidFill>
            <a:srgbClr val="6E86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5112" y="3081528"/>
            <a:ext cx="1688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Regression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915144" y="3081528"/>
            <a:ext cx="1597152" cy="68580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69424" y="3081528"/>
            <a:ext cx="1688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(FCN)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877056"/>
            <a:ext cx="1597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0.97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180832" y="3877056"/>
            <a:ext cx="1597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Δx,Δy,Δw,Δh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9915144" y="3877056"/>
            <a:ext cx="1597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mask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46520" y="4288536"/>
            <a:ext cx="5065776" cy="868680"/>
          </a:xfrm>
          <a:prstGeom prst="roundRect">
            <a:avLst>
              <a:gd name="adj" fmla="val 7368"/>
            </a:avLst>
          </a:prstGeom>
          <a:solidFill>
            <a:srgbClr val="EEF3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0" y="4288536"/>
            <a:ext cx="4791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branches share the same RoIAlign features but run independently — the mask branch never competes with classification.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· 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RoIPool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R-CNN's original RoIPool QUANTIZES — it rounds the RoI's floating-point boundaries to the nearest grid cell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happens twice:</a:t>
            </a:r>
            <a:endParaRPr lang="en-US" sz="12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dividing the RoI into bins, again pooling each bin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roundings shift the extracted features away from the RoI's true location in the image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box classification:</a:t>
            </a:r>
            <a:endParaRPr lang="en-US" sz="12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matters — roughly-right regional features are enough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pixel-accurate masks:</a:t>
            </a:r>
            <a:endParaRPr lang="en-US" sz="12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 directly corrupts the output — masks come out shifted and blurry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75120" y="173736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9000" y="173736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02880" y="173736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173736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30640" y="173736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94520" y="173736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30124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9000" y="230124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02880" y="230124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230124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30640" y="230124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4520" y="230124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286512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39000" y="286512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02880" y="286512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286512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30640" y="286512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94520" y="286512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342900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39000" y="342900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02880" y="342900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342900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30640" y="342900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94520" y="342900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399288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39000" y="399288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02880" y="399288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66760" y="399288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30640" y="399288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94520" y="399288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455676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39000" y="455676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02880" y="455676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66760" y="455676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30640" y="455676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94520" y="455676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36358" y="2216658"/>
            <a:ext cx="1917192" cy="1917192"/>
          </a:xfrm>
          <a:prstGeom prst="rect">
            <a:avLst/>
          </a:prstGeom>
          <a:ln w="28575">
            <a:solidFill>
              <a:srgbClr val="1C7293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7239000" y="2301240"/>
            <a:ext cx="1691640" cy="1691640"/>
          </a:xfrm>
          <a:prstGeom prst="rect">
            <a:avLst/>
          </a:prstGeom>
          <a:ln w="28575">
            <a:solidFill>
              <a:srgbClr val="B23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0" y="5413248"/>
            <a:ext cx="320040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7086600" y="5303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RoI (exact, fractional boundary)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675120" y="5687568"/>
            <a:ext cx="320040" cy="0"/>
          </a:xfrm>
          <a:prstGeom prst="line">
            <a:avLst/>
          </a:prstGeom>
          <a:noFill/>
          <a:ln w="28575">
            <a:solidFill>
              <a:srgbClr val="B23A3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08660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RoIPool's snapped (rounded) bins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75120" y="5989320"/>
            <a:ext cx="3383280" cy="777240"/>
          </a:xfrm>
          <a:prstGeom prst="roundRect">
            <a:avLst>
              <a:gd name="adj" fmla="val 8235"/>
            </a:avLst>
          </a:prstGeom>
          <a:solidFill>
            <a:srgbClr val="EEF3F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812280" y="5989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two rectangles is misalignment — baked in before the mask branch even runs.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· THE FIX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RoIAlign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both quantization steps entirely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bilinear interpolation to compute a feature value at exact, non-integer sample points within each bin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features now line up with the original RoI, pixel for pixel — no rounding, no drift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change was central to Mask R-CNN's results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credits it as key to producing high-quality masks, not just an incremental tweak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0" y="173736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9000" y="173736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02880" y="173736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173736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30640" y="173736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94520" y="173736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30124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9000" y="230124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02880" y="230124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230124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30640" y="230124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4520" y="230124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286512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39000" y="286512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02880" y="286512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286512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30640" y="286512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94520" y="286512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342900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39000" y="342900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02880" y="342900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342900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30640" y="342900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94520" y="342900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399288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39000" y="399288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02880" y="399288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66760" y="399288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30640" y="399288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94520" y="399288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455676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39000" y="455676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02880" y="455676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66760" y="455676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30640" y="4556760"/>
            <a:ext cx="5638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94520" y="4556760"/>
            <a:ext cx="563880" cy="563880"/>
          </a:xfrm>
          <a:prstGeom prst="rect">
            <a:avLst/>
          </a:prstGeom>
          <a:solidFill>
            <a:srgbClr val="F7FAFB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36358" y="2216658"/>
            <a:ext cx="1917192" cy="1917192"/>
          </a:xfrm>
          <a:prstGeom prst="rect">
            <a:avLst/>
          </a:prstGeom>
          <a:ln w="28575">
            <a:solidFill>
              <a:srgbClr val="1C7293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7399782" y="2180082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79080" y="2180082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58378" y="2180082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37676" y="2180082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16974" y="2180082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99782" y="2659380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79080" y="2659380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58378" y="2659380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37676" y="2659380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16974" y="2659380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99782" y="3138678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79080" y="3138678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58378" y="3138678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37676" y="3138678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16974" y="3138678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99782" y="3617976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79080" y="3617976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58378" y="3617976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37676" y="3617976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16974" y="3617976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99782" y="4097274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79080" y="4097274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58378" y="4097274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37676" y="4097274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316974" y="4097274"/>
            <a:ext cx="73152" cy="73152"/>
          </a:xfrm>
          <a:prstGeom prst="ellipse">
            <a:avLst/>
          </a:prstGeom>
          <a:solidFill>
            <a:srgbClr val="1E7A4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75120" y="5413248"/>
            <a:ext cx="320040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dash"/>
          </a:ln>
        </p:spPr>
      </p:sp>
      <p:sp>
        <p:nvSpPr>
          <p:cNvPr id="68" name="Text 66"/>
          <p:cNvSpPr txBox="1"/>
          <p:nvPr/>
        </p:nvSpPr>
        <p:spPr>
          <a:xfrm>
            <a:off x="7086600" y="5303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RoI (exact, fractional boundary)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793992" y="5614416"/>
            <a:ext cx="82296" cy="82296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7086600" y="55778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sample point (bilinear interpolation)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675120" y="5989320"/>
            <a:ext cx="3383280" cy="777240"/>
          </a:xfrm>
          <a:prstGeom prst="roundRect">
            <a:avLst>
              <a:gd name="adj" fmla="val 8235"/>
            </a:avLst>
          </a:prstGeom>
          <a:solidFill>
            <a:srgbClr val="EEF3F6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812280" y="5989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sample point sits exactly where it should — no snapping to the nearest grid line.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·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Mask Branch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fully convolutional network (FCN) applied to each RoIAlign feature patch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K binary masks — one per class</a:t>
            </a:r>
            <a:endParaRPr lang="en-US" sz="120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 fixed small size (typically 28×28)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inference:</a:t>
            </a:r>
            <a:endParaRPr lang="en-US" sz="120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mask channel for the class the classification branch already predicted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decoupling means each class's mask predictor only ever answers “is this pixel me or not” — never “which class is this”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mask is finally resized back up to the RoI's actual size in the original image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309360" y="2011680"/>
            <a:ext cx="1417320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09360" y="201168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RoIAlign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54112" y="2455164"/>
            <a:ext cx="265176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2011680"/>
            <a:ext cx="1417320" cy="10515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0" y="201168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491472" y="2455164"/>
            <a:ext cx="265176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0" y="2011680"/>
            <a:ext cx="1143000" cy="685800"/>
          </a:xfrm>
          <a:prstGeom prst="rect">
            <a:avLst/>
          </a:prstGeom>
          <a:solidFill>
            <a:srgbClr val="8FB4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93808" y="2121408"/>
            <a:ext cx="1143000" cy="685800"/>
          </a:xfrm>
          <a:prstGeom prst="rect">
            <a:avLst/>
          </a:prstGeom>
          <a:solidFill>
            <a:srgbClr val="8FB4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03536" y="2231136"/>
            <a:ext cx="1143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46920" y="311810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class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492740" y="3081528"/>
            <a:ext cx="0" cy="576072"/>
          </a:xfrm>
          <a:prstGeom prst="line">
            <a:avLst/>
          </a:prstGeom>
          <a:noFill/>
          <a:ln w="15875">
            <a:solidFill>
              <a:srgbClr val="5C6B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3657600"/>
            <a:ext cx="4892040" cy="777240"/>
          </a:xfrm>
          <a:prstGeom prst="roundRect">
            <a:avLst>
              <a:gd name="adj" fmla="val 8235"/>
            </a:avLst>
          </a:prstGeom>
          <a:solidFill>
            <a:srgbClr val="EEF3F6"/>
          </a:solidFill>
          <a:ln w="15875">
            <a:solidFill>
              <a:srgbClr val="0F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65760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ONE mask matching the classification branch's predicted class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4617720"/>
            <a:ext cx="4892040" cy="777240"/>
          </a:xfrm>
          <a:prstGeom prst="roundRect">
            <a:avLst>
              <a:gd name="adj" fmla="val 8235"/>
            </a:avLst>
          </a:prstGeom>
          <a:solidFill>
            <a:srgbClr val="FBEFE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46177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and mask never compete — the mask branch just traces an outline, not decides what the object is.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· TRAINING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Multi-Task Loss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</a:t>
            </a:r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cls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pPr algn="ctr" indent="0" marL="0">
              <a:buNone/>
            </a:pPr>
            <a:r>
              <a:rPr lang="en-US" sz="2000" dirty="0">
                <a:solidFill>
                  <a:srgbClr val="6E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algn="ctr" indent="0" marL="0">
              <a:buNone/>
            </a:pPr>
            <a:r>
              <a:rPr lang="en-US" sz="1000" dirty="0">
                <a:solidFill>
                  <a:srgbClr val="6E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pPr algn="ctr" indent="0" marL="0">
              <a:buNone/>
            </a:pPr>
            <a:r>
              <a:rPr lang="en-US" sz="20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EF3F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971800"/>
            <a:ext cx="36118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971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L_cls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6616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cross-entropy over object classes — identical to Faster R-CNN's classification loss.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97180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E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2971800"/>
            <a:ext cx="3611880" cy="457200"/>
          </a:xfrm>
          <a:prstGeom prst="rect">
            <a:avLst/>
          </a:prstGeom>
          <a:solidFill>
            <a:srgbClr val="6E8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97680" y="2971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L_box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56616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L1 loss on box coordinate offsets — identical to Faster R-CNN's box regression loss.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297180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EF3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2971800"/>
            <a:ext cx="361188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0" y="2971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L_mask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56616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per-pixel binary cross-entropy, computed ONLY on the ground-truth class's mask channel — the other K−1 channels are ignored for this RoI.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577840"/>
            <a:ext cx="11109960" cy="685800"/>
          </a:xfrm>
          <a:prstGeom prst="roundRect">
            <a:avLst>
              <a:gd name="adj" fmla="val 9333"/>
            </a:avLst>
          </a:prstGeom>
          <a:solidFill>
            <a:srgbClr val="FBEFE9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57784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per-class masks matter: </a:t>
            </a:r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the mask loss to the correct class's channel is exactly what lets classification and mask prediction avoid competing.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UNet vs. DeepLab vs. Mask R-CNN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48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78308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697480" y="1783080"/>
            <a:ext cx="2971800" cy="457200"/>
          </a:xfrm>
          <a:prstGeom prst="rect">
            <a:avLst/>
          </a:prstGeom>
          <a:solidFill>
            <a:srgbClr val="1C7293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07208" y="178308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0" y="1783080"/>
            <a:ext cx="2971800" cy="457200"/>
          </a:xfrm>
          <a:prstGeom prst="rect">
            <a:avLst/>
          </a:prstGeom>
          <a:solidFill>
            <a:srgbClr val="1C6B63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79008" y="178308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41080" y="1783080"/>
            <a:ext cx="3017520" cy="457200"/>
          </a:xfrm>
          <a:prstGeom prst="rect">
            <a:avLst/>
          </a:prstGeom>
          <a:solidFill>
            <a:srgbClr val="FF6B35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50808" y="178308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2148840" cy="45720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24028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2240280"/>
            <a:ext cx="2971800" cy="45720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07208" y="224028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2240280"/>
            <a:ext cx="2971800" cy="45720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79008" y="224028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41080" y="2240280"/>
            <a:ext cx="3017520" cy="45720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50808" y="224028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2148840" cy="59436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269748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97480" y="2697480"/>
            <a:ext cx="2971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07208" y="2697480"/>
            <a:ext cx="2752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2697480"/>
            <a:ext cx="2971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79008" y="2697480"/>
            <a:ext cx="2752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Atrous convolution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ASPP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41080" y="2697480"/>
            <a:ext cx="30175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50808" y="2697480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RoIAlign + parallel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branch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291840"/>
            <a:ext cx="2148840" cy="59436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329184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97480" y="3291840"/>
            <a:ext cx="2971800" cy="59436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07208" y="3291840"/>
            <a:ext cx="2752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(H×W)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3291840"/>
            <a:ext cx="2971800" cy="59436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79008" y="3291840"/>
            <a:ext cx="2752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(H×W)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641080" y="3291840"/>
            <a:ext cx="3017520" cy="59436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50808" y="3291840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+ class + mask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object instance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886200"/>
            <a:ext cx="2148840" cy="59436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" y="388620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697480" y="3886200"/>
            <a:ext cx="2971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07208" y="3886200"/>
            <a:ext cx="2752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imaging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0" y="3886200"/>
            <a:ext cx="2971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79008" y="3886200"/>
            <a:ext cx="2752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Benchmark-leading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accuracy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641080" y="3886200"/>
            <a:ext cx="30175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50808" y="3886200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individual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of the same class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7091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EEF3F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them isn't about which is “best” </a:t>
            </a:r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it's about matching the tool to what the task actually asks for: a label map, or individually separated objects.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UNIT V COMPLETE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Atrous convolution grows the receptive field WITHOUT losing resolution — the idea underlying DeepLab's ASPP module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585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captures multi-scale context in one layer, no encoder-decoder pyramid required — and consistently leads semantic segmentation benchmarks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0837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extends Faster R-CNN with a decoupled mask branch — the standard architecture for instance segmentation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5818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RoIAlign's quantization-free, bilinearly-interpolated sampling is what makes pixel-accurate masks possible — a small change with outsized impact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53712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5079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(UNet / DeepLab) vs. instance (Mask R-CNN) vs. panoptic — the right architecture depends on what the task actually needs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85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wraps Unit V.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moving into advanced &amp; generative vision architectures — the final unit of the course.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2  |  HOUR 20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Week 10 · Lecture 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DeepLab &amp; Mask R-CNN</dc:title>
  <dc:subject>PptxGenJS Presentation</dc:subject>
  <dc:creator>Deep Learning for Computer Vision</dc:creator>
  <cp:lastModifiedBy>Deep Learning for Computer Vision</cp:lastModifiedBy>
  <cp:revision>1</cp:revision>
  <dcterms:created xsi:type="dcterms:W3CDTF">2026-09-04T16:24:30Z</dcterms:created>
  <dcterms:modified xsi:type="dcterms:W3CDTF">2026-09-04T16:24:30Z</dcterms:modified>
</cp:coreProperties>
</file>