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F2A47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F2A47"/>
                </a:solidFill>
                <a:latin typeface="Arial"/>
              </a:rPr>
              <a:t>Pretraining Dataset Scale (millions of images, 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8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7A4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ImageNet-1k
(1.3M)</c:v>
                  </c:pt>
                  <c:pt idx="1">
                    <c:v>ImageNet-21k
(14M)</c:v>
                  </c:pt>
                  <c:pt idx="2">
                    <c:v>JFT-300M
(300M)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14</c:v>
                </c:pt>
                <c:pt idx="2">
                  <c:v>300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E4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F2A47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F2A47"/>
                </a:solidFill>
                <a:latin typeface="Arial"/>
              </a:rPr>
              <a:t>Illustrative “Attention Distance” by Layer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 A (local-first)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25</c:v>
                </c:pt>
                <c:pt idx="2">
                  <c:v>45</c:v>
                </c:pt>
                <c:pt idx="3">
                  <c:v>70</c:v>
                </c:pt>
                <c:pt idx="4">
                  <c:v>95</c:v>
                </c:pt>
                <c:pt idx="5">
                  <c:v>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 B (global early)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</c:v>
                </c:pt>
                <c:pt idx="1">
                  <c:v>100</c:v>
                </c:pt>
                <c:pt idx="2">
                  <c:v>105</c:v>
                </c:pt>
                <c:pt idx="3">
                  <c:v>110</c:v>
                </c:pt>
                <c:pt idx="4">
                  <c:v>112</c:v>
                </c:pt>
                <c:pt idx="5">
                  <c:v>118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Encoder layer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Mean attended distance (px)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6005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56005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VISION MODELS   ·   WEEK 11  ·  LECTURE 2  ·  HOUR 22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011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 in Depth &amp;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606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Swin Transformer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E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global view to a hierarchical, windowed one.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the building blocks. Today: how they're actually trained, and the architecture that made them practical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WHERE WE'VE BEEN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Building Blocks to Full Architectures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lecture: the building blocks — self-attention (Q/K/V), multi-head attention, and positional encoding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how ViT assembles them: patches → tokens → Transformer encoder stack → [CLS] classification head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two things:</a:t>
            </a:r>
            <a:endParaRPr lang="en-US" sz="140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ViT is actually trained in practice, and what it learns</a:t>
            </a:r>
            <a:endParaRPr lang="en-US" sz="140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architecture built to fix ViT's weaknesses for dense prediction — the Swin Transformer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4023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44439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4023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44439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4023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7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23960" y="4443984"/>
            <a:ext cx="27432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4023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ViT's practical training recipe — why it needs so much data, and how model/patch size trade off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ViT actually learns, through its attention maps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plain ViT struggles for dense prediction tasks like detection and segmentation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Swin's core ideas: windowed attention, shifted windows, and patch merging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Swin, ViT, and CNNs to know when to reach for each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REFRESHER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ViT, in One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61518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7" name="Shape 5"/>
          <p:cNvSpPr/>
          <p:nvPr/>
        </p:nvSpPr>
        <p:spPr>
          <a:xfrm>
            <a:off x="3337560" y="21031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 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261518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1031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6E8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261518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1031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1031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split into fixed-size patches, flattened, linearly projected, and given a positional encoding — a sequence, just like words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identical Transformer encoder blocks (self-attention + MLP, with residual connections and LayerNorm) processes the whole sequence at once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[CLS] token's final representation is read out by a small classification head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go one level deeper into HOW this is actually trained, and what makes it work — or not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VIT IN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ViT's Data Hunger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has almost no built-in visual assumptions — no convolutional locality, no translation equivariance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learn spatial structure entirely from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on ImageNet-1k alone (~1.3M images), the original ViT actually underperformed a well-tuned ResNet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pretrained on much larger datasets — ImageNet-21k (14M images) or Google's internal JFT-300M (300M images) — did ViT pull ahead of CNNs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ViT's strength shows up in a LARGE-DATA regime; without it, a CNN's built-in bias wins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194560" y="4114800"/>
          <a:ext cx="7772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VIT IN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Variants &amp; Patch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783080"/>
            <a:ext cx="1828800" cy="502920"/>
          </a:xfrm>
          <a:prstGeom prst="rect">
            <a:avLst/>
          </a:prstGeom>
          <a:solidFill>
            <a:srgbClr val="0F2A4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178308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2194560" cy="502920"/>
          </a:xfrm>
          <a:prstGeom prst="rect">
            <a:avLst/>
          </a:prstGeom>
          <a:solidFill>
            <a:srgbClr val="0F2A4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78308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1783080"/>
            <a:ext cx="2377440" cy="502920"/>
          </a:xfrm>
          <a:prstGeom prst="rect">
            <a:avLst/>
          </a:prstGeom>
          <a:solidFill>
            <a:srgbClr val="0F2A47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59168" y="1783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(approx.)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286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0" y="2286000"/>
            <a:ext cx="182880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35808" y="2286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219456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2860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2286000"/>
            <a:ext cx="237744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2286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7432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ViT-Large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0" y="2743200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35808" y="2743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27432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27432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7432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~307M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ViT-Huge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3200400"/>
            <a:ext cx="182880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32004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219456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64608" y="32004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49440" y="3200400"/>
            <a:ext cx="237744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2004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~632M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023360"/>
            <a:ext cx="11109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“ViT-B/16” = Base model, 16×16 patches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patches → more tokens → finer detail, but quadratically more compute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224×224 image gives 196 tokens at 16×16 patches, but 256 tokens at 14×14 — more tokens, more context per pair, more cost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 is a direct, simple knob for trading accuracy against compute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VIT IN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at Higher Resolution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recipe: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at a lower resolution (e.g. 224×224), then fine-tune at a higher one (e.g. 384×384) for the final task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at fine-tuning time consistently improves accuracy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pixels at the same patch size means MORE patches — the learned positional embeddings (one per position) no longer match the new sequence length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2D-interpolate the positional embedding grid to the new number of patches before fine-tuning begins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10312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210312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10312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46888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46888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46888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46888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83464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83464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83464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83464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20040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20040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20040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3200400"/>
            <a:ext cx="365760" cy="365760"/>
          </a:xfrm>
          <a:prstGeom prst="rect">
            <a:avLst/>
          </a:prstGeom>
          <a:solidFill>
            <a:srgbClr val="BFDC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pos.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(224px input)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66760" y="2752344"/>
            <a:ext cx="6400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0" y="2377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8972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596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8220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44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7468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70920" y="16459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596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8220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7844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7468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70920" y="204216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8596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8220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7844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7468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70920" y="243840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972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596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8220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7844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7468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70920" y="283464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972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8596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8220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7844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7468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70920" y="323088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972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8596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8220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7844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7468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170920" y="3627120"/>
            <a:ext cx="396240" cy="396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1540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24×24 pos.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(384px input)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675120" y="493776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858000" y="49377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is smoothly resized, not retrained from scratch — a cheap way to reuse pretrained position knowledge at a new resolution.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ViT Actually Learns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attention from the [CLS] token back to the patches often shows ViT focusing on semantically relevant object regions — loosely human-like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early layers, some attention heads already attend globally</a:t>
            </a:r>
            <a:endParaRPr lang="en-US" sz="12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CNN's first layer structurally cannot do — its receptive field is small by construction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heads stay local in early layers, then broaden in later layers — the model learns a mix of strategies, rather than having locality forced on 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interpretability was part of what made ViT exciting beyond just accuracy numbers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8288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pattern, based on the kind of behavior reported in the ViT paper's analysis)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ViT's Real-World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or exceeded CNN benchmarks on ImageNet classification, once pretrained at scale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Sparked a wave of “Transformers for vision” research across nearly every vision task — not just classification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classification is a single-label-per-image task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applications — detection, segmentation — need dense, per-region or per-pixel predictions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exactly where plain ViT starts to struggle — and where today's second half picks 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TO SOLVE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ViT's Two Problems for Dense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cost grows with (number of patches)². Detection and segmentation need high-resolution input — which means many more patches, and cost explodes.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920240"/>
            <a:ext cx="5394960" cy="548640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Multi-Scale Features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51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produces ONE feature resolution throughout the whole network. CNN backbones (and FPN-based detectors) rely on a PYRAMID of feature maps at multiple scales.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these are exactly what the Swin Transformer was designed to solve.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how.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 GENERAL-PURPOSE BACKBONE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 Transformer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40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(Microsoft Research), 2021 — ICCV Best Paper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“Swin” = Shifted WINdows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general-purpose vision backbone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good for detection and segmentation as it is for classification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ideas, covered over the next several slides: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attention within local windows, not globally</a:t>
            </a:r>
            <a:endParaRPr lang="en-US" sz="14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hierarchy of feature resolutions, like a CNN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· CORE IDEA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Windowed Attention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image into small, non-overlapping windows (e.g. 7×7 patches)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self-attention ONLY within each window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across the whole image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becomes LINEAR in the number of patches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quadratic — window size stays fixed regardless of image size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 can only see other patches in its own window — no global context in a single layer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18288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8288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18288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18288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18288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0" y="18288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3317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23317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3317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3317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23317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3317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0" y="23317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7000" y="23317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8346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8346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8346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8346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28346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8346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28346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28346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333756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9480" y="333756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33756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333756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0" y="333756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333756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333756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87000" y="333756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84048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69480" y="384048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384048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384048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384048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84048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84080" y="384048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87000" y="384048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43434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43434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43434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43434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78240" y="43434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43434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84080" y="43434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7000" y="43434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48463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69480" y="48463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48463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75320" y="48463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48463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48463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84080" y="48463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7000" y="48463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53492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69480" y="53492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53492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75320" y="534924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78240" y="53492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53492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84080" y="53492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87000" y="534924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0" y="1828800"/>
            <a:ext cx="2011680" cy="2011680"/>
          </a:xfrm>
          <a:prstGeom prst="rect">
            <a:avLst/>
          </a:prstGeom>
          <a:ln w="31750">
            <a:solidFill>
              <a:srgbClr val="0F2A4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78240" y="1828800"/>
            <a:ext cx="2011680" cy="2011680"/>
          </a:xfrm>
          <a:prstGeom prst="rect">
            <a:avLst/>
          </a:prstGeom>
          <a:ln w="31750">
            <a:solidFill>
              <a:srgbClr val="0F2A4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0" y="3840480"/>
            <a:ext cx="2011680" cy="2011680"/>
          </a:xfrm>
          <a:prstGeom prst="rect">
            <a:avLst/>
          </a:prstGeom>
          <a:ln w="31750">
            <a:solidFill>
              <a:srgbClr val="0F2A4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0" y="3840480"/>
            <a:ext cx="2011680" cy="2011680"/>
          </a:xfrm>
          <a:prstGeom prst="rect">
            <a:avLst/>
          </a:prstGeom>
          <a:ln w="31750">
            <a:solidFill>
              <a:srgbClr val="0F2A4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49224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bordered square = one attention window — attention stays inside it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· A PROBLEM TO SOLVE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Fixed Windows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layer uses the exact same window partition, patches in different windows can NEVER interact — no matter how many layers stack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real loss of the thing that made attention exciting in the first place: relating distant regions directly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some way to let information cross window boundaries over depth, without paying the cost of full global attention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36576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9080" y="36576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6576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365760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36576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576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6576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365760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41605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41605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41605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4160520"/>
            <a:ext cx="502920" cy="502920"/>
          </a:xfrm>
          <a:prstGeom prst="rect">
            <a:avLst/>
          </a:prstGeom>
          <a:solidFill>
            <a:srgbClr val="DC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41605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41605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1605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4160520"/>
            <a:ext cx="502920" cy="502920"/>
          </a:xfrm>
          <a:prstGeom prst="rect">
            <a:avLst/>
          </a:prstGeom>
          <a:solidFill>
            <a:srgbClr val="FBE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657600"/>
            <a:ext cx="2011680" cy="1005840"/>
          </a:xfrm>
          <a:prstGeom prst="rect">
            <a:avLst/>
          </a:prstGeom>
          <a:ln w="317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3657600"/>
            <a:ext cx="2011680" cy="1005840"/>
          </a:xfrm>
          <a:prstGeom prst="rect">
            <a:avLst/>
          </a:prstGeom>
          <a:ln w="3175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3771900"/>
            <a:ext cx="274320" cy="274320"/>
          </a:xfrm>
          <a:prstGeom prst="line">
            <a:avLst/>
          </a:prstGeom>
          <a:noFill/>
          <a:ln w="31750">
            <a:solidFill>
              <a:srgbClr val="B2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4046220"/>
            <a:ext cx="274320" cy="-274320"/>
          </a:xfrm>
          <a:prstGeom prst="line">
            <a:avLst/>
          </a:prstGeom>
          <a:noFill/>
          <a:ln w="31750">
            <a:solidFill>
              <a:srgbClr val="B2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patches, different windows — zero direct interaction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· THE FIX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Shifted Window Attention (SW-MSA)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between two window layouts in consecutive blocks: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(W-MSA)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grid of windows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(SW-MSA)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grid, shifted by half a window in both directions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split across a boundary in block 1 end up together in block 2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several layers, information gradually propagates across the whole image — while each individual layer stays cheap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9224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942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378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7814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250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942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378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7814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250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942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378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814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7250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8942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378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7814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7250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942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8378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7814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7250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8942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660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8378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8096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814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7250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8942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8378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7814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7250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8942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8660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8378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8096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7814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7532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7250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92240" y="1920240"/>
            <a:ext cx="1188720" cy="1188720"/>
          </a:xfrm>
          <a:prstGeom prst="rect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0" y="1920240"/>
            <a:ext cx="1188720" cy="1188720"/>
          </a:xfrm>
          <a:prstGeom prst="rect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92240" y="3108960"/>
            <a:ext cx="1188720" cy="1188720"/>
          </a:xfrm>
          <a:prstGeom prst="rect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80960" y="3108960"/>
            <a:ext cx="1188720" cy="1188720"/>
          </a:xfrm>
          <a:prstGeom prst="rect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1792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 (regular)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23544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53262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2980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2698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2134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01852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315700" y="19202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3544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3262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82980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2698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2416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2134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01852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315700" y="22174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3544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3262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82980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2698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2416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72134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01852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15700" y="25146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3544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3262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2980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2698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2416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72134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01852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315700" y="281178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23544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53262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82980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2698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2416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72134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01852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315700" y="310896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3544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53262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2980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2698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42416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72134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315700" y="340614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3544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53262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2980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12698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2416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72134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01852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315700" y="370332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23544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53262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82980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2698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42416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72134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01852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315700" y="4000500"/>
            <a:ext cx="297180" cy="297180"/>
          </a:xfrm>
          <a:prstGeom prst="rect">
            <a:avLst/>
          </a:prstGeom>
          <a:solidFill>
            <a:srgbClr val="F4F7F9"/>
          </a:solidFill>
          <a:ln w="6350">
            <a:solidFill>
              <a:srgbClr val="CBD8E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235440" y="1920240"/>
            <a:ext cx="59436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829800" y="1920240"/>
            <a:ext cx="118872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018520" y="1920240"/>
            <a:ext cx="59436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235440" y="2514600"/>
            <a:ext cx="594360" cy="118872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829800" y="2514600"/>
            <a:ext cx="1188720" cy="118872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18520" y="2514600"/>
            <a:ext cx="594360" cy="118872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235440" y="3703320"/>
            <a:ext cx="59436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829800" y="3703320"/>
            <a:ext cx="118872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018520" y="3703320"/>
            <a:ext cx="594360" cy="594360"/>
          </a:xfrm>
          <a:prstGeom prst="rect">
            <a:avLst/>
          </a:prstGeom>
          <a:ln w="28575">
            <a:solidFill>
              <a:srgbClr val="FF6B35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896112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SW-MSA (shifted)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8961120" y="3026664"/>
            <a:ext cx="22860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492240" y="4846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6629400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patches, new grouping — patches near a boundary in one layer become window-mates in the next.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52" name="Text 15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· CORE IDEA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Merging: Building a Hierarchy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Periodically, merge each 2×2 group of neighboring patches into one: concatenate their features, then a linear layer projects the result down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HALVES spatial resolution and DOUBLES the channel count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CNN-style downsampling, done explicitly between Transformer stages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pyramid of feature maps at four resolutions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FPN-style detection and segmentation heads expect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0" y="393192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393192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393192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393192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43484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443484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443484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443484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493776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493776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493776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493776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544068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544068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544068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5440680"/>
            <a:ext cx="502920" cy="502920"/>
          </a:xfrm>
          <a:prstGeom prst="rect">
            <a:avLst/>
          </a:prstGeom>
          <a:solidFill>
            <a:srgbClr val="BFDC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6080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patches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(H×W, C channels)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9080" y="4855464"/>
            <a:ext cx="54864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77640" y="4434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1005840" cy="1005840"/>
          </a:xfrm>
          <a:prstGeom prst="rect">
            <a:avLst/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3429000"/>
            <a:ext cx="1005840" cy="1005840"/>
          </a:xfrm>
          <a:prstGeom prst="rect">
            <a:avLst/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434840"/>
            <a:ext cx="1005840" cy="1005840"/>
          </a:xfrm>
          <a:prstGeom prst="rect">
            <a:avLst/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4434840"/>
            <a:ext cx="1005840" cy="1005840"/>
          </a:xfrm>
          <a:prstGeom prst="rect">
            <a:avLst/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patches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(H/2×W/2, 2C channels)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Swin Architecture: Four Stages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a few Swin blocks (alternating W-MSA and SW-MSA), then hands off to patch merging before the next stage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drops by half and channels double at every stage transition — just like a CNN backbone's pyramid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pyramid is what makes Swin a drop-in replacement for a CNN backbone in detection and segmentation frameworks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H/4 × W/4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channels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90672" y="389534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4709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886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H/8 × W/8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channels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42432" y="389534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77840" y="4709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3291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7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886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H/16 × W/16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channels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94192" y="3895344"/>
            <a:ext cx="26517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47091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86800" y="32918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886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H/32 × W/32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 channels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· A DETAIL WORTH KNOWING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Position Bias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absolute positional embedding like ViT, Swin adds a LEARNED bias directly into the attention score for each pair of patches within a window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relative, not absolute?</a:t>
            </a:r>
            <a:endParaRPr lang="en-US" sz="13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computed within small, fixed-size windows — what matters is the offset between two patches in a window, not their absolute position in the whole image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table of biases, indexed by relative (Δx, Δy) offset, is shared across every window in the image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0" y="20116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2011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= softmax(</a:t>
            </a:r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</a:t>
            </a:r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/√d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ctr"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640" y="3291840"/>
            <a:ext cx="45720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2918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3291840"/>
            <a:ext cx="457200" cy="457200"/>
          </a:xfrm>
          <a:prstGeom prst="rect">
            <a:avLst/>
          </a:prstGeom>
          <a:solidFill>
            <a:srgbClr val="B2CE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32918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291840"/>
            <a:ext cx="45720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7490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749040"/>
            <a:ext cx="457200" cy="457200"/>
          </a:xfrm>
          <a:prstGeom prst="rect">
            <a:avLst/>
          </a:prstGeom>
          <a:solidFill>
            <a:srgbClr val="86B3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3749040"/>
            <a:ext cx="457200" cy="457200"/>
          </a:xfrm>
          <a:prstGeom prst="rect">
            <a:avLst/>
          </a:prstGeom>
          <a:solidFill>
            <a:srgbClr val="67A0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749040"/>
            <a:ext cx="457200" cy="457200"/>
          </a:xfrm>
          <a:prstGeom prst="rect">
            <a:avLst/>
          </a:prstGeom>
          <a:solidFill>
            <a:srgbClr val="86B3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37490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4206240"/>
            <a:ext cx="457200" cy="457200"/>
          </a:xfrm>
          <a:prstGeom prst="rect">
            <a:avLst/>
          </a:prstGeom>
          <a:solidFill>
            <a:srgbClr val="B2CE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4206240"/>
            <a:ext cx="457200" cy="457200"/>
          </a:xfrm>
          <a:prstGeom prst="rect">
            <a:avLst/>
          </a:prstGeom>
          <a:solidFill>
            <a:srgbClr val="67A0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206240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4206240"/>
            <a:ext cx="457200" cy="457200"/>
          </a:xfrm>
          <a:prstGeom prst="rect">
            <a:avLst/>
          </a:prstGeom>
          <a:solidFill>
            <a:srgbClr val="67A0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4206240"/>
            <a:ext cx="457200" cy="457200"/>
          </a:xfrm>
          <a:prstGeom prst="rect">
            <a:avLst/>
          </a:prstGeom>
          <a:solidFill>
            <a:srgbClr val="B2CE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46634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663440"/>
            <a:ext cx="457200" cy="457200"/>
          </a:xfrm>
          <a:prstGeom prst="rect">
            <a:avLst/>
          </a:prstGeom>
          <a:solidFill>
            <a:srgbClr val="86B3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4663440"/>
            <a:ext cx="457200" cy="457200"/>
          </a:xfrm>
          <a:prstGeom prst="rect">
            <a:avLst/>
          </a:prstGeom>
          <a:solidFill>
            <a:srgbClr val="67A0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4663440"/>
            <a:ext cx="457200" cy="457200"/>
          </a:xfrm>
          <a:prstGeom prst="rect">
            <a:avLst/>
          </a:prstGeom>
          <a:solidFill>
            <a:srgbClr val="86B3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46634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5120640"/>
            <a:ext cx="45720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51206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5120640"/>
            <a:ext cx="457200" cy="457200"/>
          </a:xfrm>
          <a:prstGeom prst="rect">
            <a:avLst/>
          </a:prstGeom>
          <a:solidFill>
            <a:srgbClr val="B2CE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5120640"/>
            <a:ext cx="457200" cy="457200"/>
          </a:xfrm>
          <a:prstGeom prst="rect">
            <a:avLst/>
          </a:prstGeom>
          <a:solidFill>
            <a:srgbClr val="C4D9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5120640"/>
            <a:ext cx="457200" cy="457200"/>
          </a:xfrm>
          <a:prstGeom prst="rect">
            <a:avLst/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indexed by relative offset (Δx, Δy)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vs. ViT vs. Swin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2651760" cy="457200"/>
          </a:xfrm>
          <a:prstGeom prst="rect">
            <a:avLst/>
          </a:prstGeom>
          <a:solidFill>
            <a:srgbClr val="1C7293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737360"/>
            <a:ext cx="2697480" cy="457200"/>
          </a:xfrm>
          <a:prstGeom prst="rect">
            <a:avLst/>
          </a:prstGeom>
          <a:solidFill>
            <a:srgbClr val="1C6B63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49640" y="1737360"/>
            <a:ext cx="283464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65176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/ receptive field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6517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grows with depth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194560"/>
            <a:ext cx="269748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from layer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49640" y="2194560"/>
            <a:ext cx="283464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windows, grows via shifting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2651760" cy="41148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resolution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697480"/>
            <a:ext cx="2651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2697480"/>
            <a:ext cx="2697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49640" y="2697480"/>
            <a:ext cx="28346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65176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built-in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3108960"/>
            <a:ext cx="269748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one resolution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49640" y="3108960"/>
            <a:ext cx="2834640" cy="45720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4108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4-stage pyramid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5176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info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56616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918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(convolution)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52160" y="3566160"/>
            <a:ext cx="2697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embedding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49640" y="356616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4108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bias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023360"/>
            <a:ext cx="2651760" cy="50292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4023360"/>
            <a:ext cx="265176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918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General, data-efficient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4023360"/>
            <a:ext cx="269748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at scale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49640" y="4023360"/>
            <a:ext cx="2834640" cy="50292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4108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segmentation backbones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Swin Became a Standard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2918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847088"/>
            <a:ext cx="7452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directly in for a ResNet-style backbone in existing detection and segmentation frameworks — Swin + Mask R-CNN, Swin + UperNet for semantic segmentation.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54680"/>
            <a:ext cx="3291840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264408"/>
            <a:ext cx="7452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Transformer representational power with CNN-like efficiency and a familiar multi-scale 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72000"/>
            <a:ext cx="3291840" cy="128016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general-purpose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681728"/>
            <a:ext cx="7452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across classification, detection, AND segmentation — the all-round versatility plain ViT never had.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ViT's power shows up at scale — with enough pretraining data, it matches or beats CNNs, and its attention maps reveal genuinely global learned representations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58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plain ViT is expensive at high resolution and produces only one feature scale — a poor fit for detection and segmentation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fixes both: windowed attention for linear cost, and shifted windows so information still crosses window boundaries over depth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merging gives Swin a CNN-like multi-scale pyramid — exactly what dense-prediction heads expect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bias fits Swin's windowed structure more naturally than ViT's absolute positional embeddings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out advanced vision models and moving toward the course's final unit — generative vision models.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11 · LECTURE 2  |  HOUR 22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11 · Lecture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 in Depth &amp; the Swin Transformer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2026-09-05T18:35:24Z</dcterms:created>
  <dcterms:modified xsi:type="dcterms:W3CDTF">2026-09-05T18:35:24Z</dcterms:modified>
</cp:coreProperties>
</file>