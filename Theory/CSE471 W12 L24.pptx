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5898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31797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47695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63594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79492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5390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11289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27187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3086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58984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74882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979322"/>
            <a:ext cx="12191695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958645"/>
            <a:ext cx="12191695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937967"/>
            <a:ext cx="12191695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917290"/>
            <a:ext cx="12191695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896612"/>
            <a:ext cx="12191695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5875934"/>
            <a:ext cx="12191695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1417320"/>
            <a:ext cx="365760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1417320"/>
            <a:ext cx="41148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Shape 19"/>
          <p:cNvSpPr/>
          <p:nvPr/>
        </p:nvSpPr>
        <p:spPr>
          <a:xfrm>
            <a:off x="9235440" y="1417320"/>
            <a:ext cx="365760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Shape 20"/>
          <p:cNvSpPr/>
          <p:nvPr/>
        </p:nvSpPr>
        <p:spPr>
          <a:xfrm>
            <a:off x="9560052" y="1417320"/>
            <a:ext cx="41148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" y="4713732"/>
            <a:ext cx="365760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Shape 22"/>
          <p:cNvSpPr/>
          <p:nvPr/>
        </p:nvSpPr>
        <p:spPr>
          <a:xfrm>
            <a:off x="822960" y="4389120"/>
            <a:ext cx="41148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Shape 23"/>
          <p:cNvSpPr/>
          <p:nvPr/>
        </p:nvSpPr>
        <p:spPr>
          <a:xfrm>
            <a:off x="9235440" y="4713732"/>
            <a:ext cx="365760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Shape 24"/>
          <p:cNvSpPr/>
          <p:nvPr/>
        </p:nvSpPr>
        <p:spPr>
          <a:xfrm>
            <a:off x="9560052" y="4389120"/>
            <a:ext cx="41148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VI   ·   WEEK 12  ·  LECTURE 2  ·  HOUR 24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20116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Adversarial</a:t>
            </a:r>
            <a:endParaRPr lang="en-US" sz="38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26060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Networks</a:t>
            </a:r>
            <a:endParaRPr lang="en-US" sz="38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34290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DCGAN</a:t>
            </a:r>
            <a:pPr indent="0" marL="0">
              <a:buNone/>
            </a:pPr>
            <a:r>
              <a:rPr lang="en-US" sz="2100" dirty="0">
                <a:solidFill>
                  <a:srgbClr val="5C7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·  </a:t>
            </a:r>
            <a:pPr indent="0" marL="0">
              <a:buNone/>
            </a:pPr>
            <a:r>
              <a:rPr lang="en-US" sz="21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CycleGAN</a:t>
            </a:r>
            <a:pPr indent="0" marL="0">
              <a:buNone/>
            </a:pPr>
            <a:r>
              <a:rPr lang="en-US" sz="2100" dirty="0">
                <a:solidFill>
                  <a:srgbClr val="5C7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·  </a:t>
            </a:r>
            <a:pPr indent="0" marL="0">
              <a:buNone/>
            </a:pPr>
            <a:r>
              <a:rPr lang="en-US" sz="21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StyleGAN</a:t>
            </a:r>
            <a:endParaRPr lang="en-US" sz="21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598932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one network learning what's real, two networks fight over it — and the fight produces sharper images.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· A DIFFERENT PHILOSOPHY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Probabilistic Loss to a Game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lecture: VAEs — a principled, stable, probabilistic approach to generation, with a smooth latent space, but often blurry output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a completely different philosophy</a:t>
            </a:r>
            <a:endParaRPr lang="en-US" sz="130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an explicit probabilistic loss, pit two networks against each other in a game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landmark architectures built on that one idea:</a:t>
            </a:r>
            <a:endParaRPr lang="en-US" sz="130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DCGAN — stabilizing GAN training with convolutional architecture guidelines</a:t>
            </a:r>
            <a:endParaRPr lang="en-US" sz="130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CycleGAN — translating between image domains with NO paired training data</a:t>
            </a:r>
            <a:endParaRPr lang="en-US" sz="130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StyleGAN — state-of-the-art photorealism with fine-grained, controllable style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12 · LECTURE 2  |  HOUR 24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ROADMAP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98448" y="1636776"/>
            <a:ext cx="9966960" cy="749808"/>
          </a:xfrm>
          <a:prstGeom prst="roundRect">
            <a:avLst>
              <a:gd name="adj" fmla="val 8537"/>
            </a:avLst>
          </a:prstGeom>
          <a:solidFill>
            <a:srgbClr val="EEF3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08760" y="1636776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GAN framework: a generator and discriminator trained adversarially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566928" cy="56692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877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98448" y="2532888"/>
            <a:ext cx="9966960" cy="749808"/>
          </a:xfrm>
          <a:prstGeom prst="roundRect">
            <a:avLst>
              <a:gd name="adj" fmla="val 8537"/>
            </a:avLst>
          </a:prstGeom>
          <a:solidFill>
            <a:srgbClr val="EEF3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508760" y="2532888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minimax loss and why GAN training is notoriously unstable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483864"/>
            <a:ext cx="566928" cy="56692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4838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98448" y="3429000"/>
            <a:ext cx="9966960" cy="749808"/>
          </a:xfrm>
          <a:prstGeom prst="roundRect">
            <a:avLst>
              <a:gd name="adj" fmla="val 8537"/>
            </a:avLst>
          </a:prstGeom>
          <a:solidFill>
            <a:srgbClr val="EEF3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508760" y="3429000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DCGAN's architectural guidelines that made GAN training reliable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379976"/>
            <a:ext cx="566928" cy="56692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3799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98448" y="4325112"/>
            <a:ext cx="9966960" cy="749808"/>
          </a:xfrm>
          <a:prstGeom prst="roundRect">
            <a:avLst>
              <a:gd name="adj" fmla="val 8537"/>
            </a:avLst>
          </a:prstGeom>
          <a:solidFill>
            <a:srgbClr val="EEF3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508760" y="4325112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CycleGAN's cycle-consistency loss for unpaired image translation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5276088"/>
            <a:ext cx="566928" cy="56692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2760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98448" y="5221224"/>
            <a:ext cx="9966960" cy="749808"/>
          </a:xfrm>
          <a:prstGeom prst="roundRect">
            <a:avLst>
              <a:gd name="adj" fmla="val 8537"/>
            </a:avLst>
          </a:prstGeom>
          <a:solidFill>
            <a:srgbClr val="EEF3F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508760" y="5221224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StyleGAN's style-based generator and what it enables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12 · LECTURE 2  |  HOUR 24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Networks, One Game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Goodfellow et al., 2014</a:t>
            </a:r>
            <a:endParaRPr lang="en-US" sz="140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“Generative Adversarial Networks”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networks trained simultaneously, competing:</a:t>
            </a:r>
            <a:endParaRPr lang="en-US" sz="140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(G) — tries to create fakes realistic enough to fool the discriminator</a:t>
            </a:r>
            <a:endParaRPr lang="en-US" sz="140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Discriminator (D) — tries to correctly tell real data from G's fakes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training proceeds, both improve together</a:t>
            </a:r>
            <a:endParaRPr lang="en-US" sz="140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pushing G toward increasingly realistic output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675120" y="228600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75120" y="228600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forger)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89720" y="2651760"/>
            <a:ext cx="640080" cy="64008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89720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149840" y="228600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6B3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149840" y="228600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Discriminator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authenticator)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75120" y="411480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0" y="41148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get better in response to each other — like a forger and an art authenticator, each sharpening their skills against the other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12 · LECTURE 2  |  HOUR 24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PLAYERS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Generator vs. Discriminator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EEF3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37360"/>
            <a:ext cx="512064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(G)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560320"/>
            <a:ext cx="4572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a random noise vector z, sampled from e.g. N(0,1)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fake image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fool D into calling its output real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entirely via D's feedback, through backprop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EEF3F6"/>
          </a:solidFill>
          <a:ln/>
        </p:spPr>
      </p:sp>
      <p:sp>
        <p:nvSpPr>
          <p:cNvPr id="9" name="Shape 7"/>
          <p:cNvSpPr/>
          <p:nvPr/>
        </p:nvSpPr>
        <p:spPr>
          <a:xfrm>
            <a:off x="6263640" y="1737360"/>
            <a:ext cx="5120640" cy="548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63640" y="17373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Discriminator (D)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560320"/>
            <a:ext cx="4572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an image — real (from data) or fake (from G)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single probability (real vs. fake)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correctly tell real from fake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binary classifier, nothing exotic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12 · LECTURE 2  |  HOUR 24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Adversarial Training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EEF3F6"/>
          </a:solidFill>
          <a:ln/>
        </p:spPr>
      </p:sp>
      <p:sp>
        <p:nvSpPr>
          <p:cNvPr id="5" name="Shape 3"/>
          <p:cNvSpPr/>
          <p:nvPr/>
        </p:nvSpPr>
        <p:spPr>
          <a:xfrm>
            <a:off x="2217420" y="1508760"/>
            <a:ext cx="640080" cy="64008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21742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331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real &amp; fake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8346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 batch of real images from the dataset, and a batch of fake images from G(z)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79392" y="2935224"/>
            <a:ext cx="173736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10" name="Shape 8"/>
          <p:cNvSpPr/>
          <p:nvPr/>
        </p:nvSpPr>
        <p:spPr>
          <a:xfrm>
            <a:off x="4480560" y="182880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EEF3F6"/>
          </a:solidFill>
          <a:ln/>
        </p:spPr>
      </p:sp>
      <p:sp>
        <p:nvSpPr>
          <p:cNvPr id="11" name="Shape 9"/>
          <p:cNvSpPr/>
          <p:nvPr/>
        </p:nvSpPr>
        <p:spPr>
          <a:xfrm>
            <a:off x="5875020" y="1508760"/>
            <a:ext cx="640080" cy="64008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87502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331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8346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D to better distinguish real from fake — maximize its classification accuracy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36992" y="2935224"/>
            <a:ext cx="173736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16" name="Shape 14"/>
          <p:cNvSpPr/>
          <p:nvPr/>
        </p:nvSpPr>
        <p:spPr>
          <a:xfrm>
            <a:off x="8138160" y="182880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EEF3F6"/>
          </a:solidFill>
          <a:ln/>
        </p:spPr>
      </p:sp>
      <p:sp>
        <p:nvSpPr>
          <p:cNvPr id="17" name="Shape 15"/>
          <p:cNvSpPr/>
          <p:nvPr/>
        </p:nvSpPr>
        <p:spPr>
          <a:xfrm>
            <a:off x="9532620" y="1508760"/>
            <a:ext cx="640080" cy="64008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53262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2331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G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8346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G to produce images that fool the CURRENT D — minimize D's ability to detect them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" y="4572000"/>
            <a:ext cx="10744200" cy="822960"/>
          </a:xfrm>
          <a:prstGeom prst="roundRect">
            <a:avLst>
              <a:gd name="adj" fmla="val 8889"/>
            </a:avLst>
          </a:prstGeom>
          <a:solidFill>
            <a:srgbClr val="0F2A4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5840" y="4572000"/>
            <a:ext cx="10378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Repeat, alternating: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networks chase each other in a constantly moving-target game.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12 · LECTURE 2  |  HOUR 24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GAN Loss Function: A Minimax Game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1691640"/>
            <a:ext cx="10332720" cy="1005840"/>
          </a:xfrm>
          <a:prstGeom prst="roundRect">
            <a:avLst>
              <a:gd name="adj" fmla="val 7273"/>
            </a:avLst>
          </a:prstGeom>
          <a:solidFill>
            <a:srgbClr val="0F2A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6916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max</a:t>
            </a:r>
            <a:pPr algn="ctr"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V(D,G) = E[log D(x)]  +  E[log(1 − D(G(z)))]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01752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EEF3F6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3017520"/>
            <a:ext cx="5120640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0175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wants to MAXIMIZE this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6576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high probability to real images (log D(x)) and low probability to fake ones (log(1−D(G(z))))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301752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EEF3F6"/>
          </a:solidFill>
          <a:ln/>
        </p:spPr>
      </p:sp>
      <p:sp>
        <p:nvSpPr>
          <p:cNvPr id="11" name="Shape 9"/>
          <p:cNvSpPr/>
          <p:nvPr/>
        </p:nvSpPr>
        <p:spPr>
          <a:xfrm>
            <a:off x="6263640" y="3017520"/>
            <a:ext cx="512064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63640" y="30175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wants to MINIMIZE this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6576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D(G(z)) close to 1 — fool D into thinking its fakes are real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84632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BEFE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484632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theoretical optimum: </a:t>
            </a:r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produces samples indistinguishable from real data, and D outputs 0.5 everywhere — it genuinely can't tell anymore.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12 · LECTURE 2  |  HOUR 24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GANS ARE HARD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Challenges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109960" cy="1161288"/>
          </a:xfrm>
          <a:prstGeom prst="roundRect">
            <a:avLst>
              <a:gd name="adj" fmla="val 6299"/>
            </a:avLst>
          </a:prstGeom>
          <a:solidFill>
            <a:srgbClr val="EEF3F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3108960" cy="1161288"/>
          </a:xfrm>
          <a:prstGeom prst="rect">
            <a:avLst/>
          </a:prstGeom>
          <a:solidFill>
            <a:srgbClr val="B23A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91640"/>
            <a:ext cx="27432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Collapse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1801368"/>
            <a:ext cx="7635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finds one (or a few) outputs that reliably fool D, and just produces those repeatedly — losing diversity entirely.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90088"/>
            <a:ext cx="11109960" cy="1161288"/>
          </a:xfrm>
          <a:prstGeom prst="roundRect">
            <a:avLst>
              <a:gd name="adj" fmla="val 6299"/>
            </a:avLst>
          </a:prstGeom>
          <a:solidFill>
            <a:srgbClr val="EEF3F6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990088"/>
            <a:ext cx="3108960" cy="1161288"/>
          </a:xfrm>
          <a:prstGeom prst="rect">
            <a:avLst/>
          </a:prstGeom>
          <a:solidFill>
            <a:srgbClr val="8A4A1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990088"/>
            <a:ext cx="27432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Instability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3099816"/>
            <a:ext cx="7635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networks can oscillate rather than converge — no single loss number cleanly signals “progress” like in supervised learning.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288536"/>
            <a:ext cx="11109960" cy="1161288"/>
          </a:xfrm>
          <a:prstGeom prst="roundRect">
            <a:avLst>
              <a:gd name="adj" fmla="val 6299"/>
            </a:avLst>
          </a:prstGeom>
          <a:solidFill>
            <a:srgbClr val="EEF3F6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288536"/>
            <a:ext cx="3108960" cy="1161288"/>
          </a:xfrm>
          <a:prstGeom prst="rect">
            <a:avLst/>
          </a:prstGeom>
          <a:solidFill>
            <a:srgbClr val="4A6B8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288536"/>
            <a:ext cx="27432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Gradients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4398264"/>
            <a:ext cx="7635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 becomes too good too fast, G gets almost no useful gradient signal left to improve from.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678424"/>
            <a:ext cx="11109960" cy="548640"/>
          </a:xfrm>
          <a:prstGeom prst="roundRect">
            <a:avLst>
              <a:gd name="adj" fmla="val 11667"/>
            </a:avLst>
          </a:prstGeom>
          <a:solidFill>
            <a:srgbClr val="0F2A4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567842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challenges motivated years of architectural and training refinements — starting with DCGAN.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12 · LECTURE 2  |  HOUR 24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STABILIZING GAN TRAINING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219456" cy="411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417320"/>
            <a:ext cx="41148" cy="21945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1289304" y="1417320"/>
            <a:ext cx="219456" cy="411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1467612" y="1417320"/>
            <a:ext cx="41148" cy="21945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382012"/>
            <a:ext cx="219456" cy="411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203704"/>
            <a:ext cx="41148" cy="21945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1289304" y="2382012"/>
            <a:ext cx="219456" cy="411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1467612" y="2203704"/>
            <a:ext cx="41148" cy="21945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463040"/>
            <a:ext cx="914400" cy="91440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14173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DCGAN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Radford, Metz &amp; Chintala, 2015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880360"/>
            <a:ext cx="10881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“Unsupervised Representation Learning with Deep Convolutional GANs”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4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GANs used simple fully-connected networks</a:t>
            </a:r>
            <a:endParaRPr lang="en-US" sz="1350" dirty="0"/>
          </a:p>
          <a:p>
            <a:pPr lvl="1" marL="685800" indent="-342900">
              <a:spcAft>
                <a:spcPts val="1100"/>
              </a:spcAft>
              <a:buSzPct val="100000"/>
              <a:buChar char="–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unstable to train, and low output quality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DCGAN's contribution:</a:t>
            </a:r>
            <a:endParaRPr lang="en-US" sz="1350" dirty="0"/>
          </a:p>
          <a:p>
            <a:pPr lvl="1" marL="685800" indent="-342900">
              <a:spcAft>
                <a:spcPts val="1100"/>
              </a:spcAft>
              <a:buSzPct val="100000"/>
              <a:buChar char="–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architectural GUIDELINES for using convolutional networks in both G and D that made training dramatically more stable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Became the default starting point for image GANs almost immediately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12 · LECTURE 2  |  HOUR 24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DCGAN · THE RECIPE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Guidelines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34440" y="1673352"/>
            <a:ext cx="10424160" cy="768096"/>
          </a:xfrm>
          <a:prstGeom prst="roundRect">
            <a:avLst>
              <a:gd name="adj" fmla="val 8333"/>
            </a:avLst>
          </a:prstGeom>
          <a:solidFill>
            <a:srgbClr val="EEF3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17320" y="1673352"/>
            <a:ext cx="4023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pooling with strided convolutions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673352"/>
            <a:ext cx="5943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Strided convs in D, fractionally-strided (transposed) convs in G — lets the network learn its own up/downsampling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87752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58775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34440" y="2569464"/>
            <a:ext cx="10424160" cy="768096"/>
          </a:xfrm>
          <a:prstGeom prst="roundRect">
            <a:avLst>
              <a:gd name="adj" fmla="val 8333"/>
            </a:avLst>
          </a:prstGeom>
          <a:solidFill>
            <a:srgbClr val="EEF3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417320" y="2569464"/>
            <a:ext cx="4023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batch normalization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2569464"/>
            <a:ext cx="5943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both G and D — except the generator's output layer and the discriminator's input layer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83864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48386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34440" y="3465576"/>
            <a:ext cx="10424160" cy="768096"/>
          </a:xfrm>
          <a:prstGeom prst="roundRect">
            <a:avLst>
              <a:gd name="adj" fmla="val 8333"/>
            </a:avLst>
          </a:prstGeom>
          <a:solidFill>
            <a:srgbClr val="EEF3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417320" y="3465576"/>
            <a:ext cx="4023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fully-connected hidden layers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465576"/>
            <a:ext cx="5943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deeper architectures — go fully convolutional instead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379976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37997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234440" y="4361688"/>
            <a:ext cx="10424160" cy="768096"/>
          </a:xfrm>
          <a:prstGeom prst="roundRect">
            <a:avLst>
              <a:gd name="adj" fmla="val 8333"/>
            </a:avLst>
          </a:prstGeom>
          <a:solidFill>
            <a:srgbClr val="EEF3F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417320" y="4361688"/>
            <a:ext cx="4023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in the generator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577840" y="4361688"/>
            <a:ext cx="5943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layers except the output layer, which uses tanh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276088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527608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34440" y="5257800"/>
            <a:ext cx="10424160" cy="768096"/>
          </a:xfrm>
          <a:prstGeom prst="roundRect">
            <a:avLst>
              <a:gd name="adj" fmla="val 8333"/>
            </a:avLst>
          </a:prstGeom>
          <a:solidFill>
            <a:srgbClr val="EEF3F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417320" y="5257800"/>
            <a:ext cx="4023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LeakyReLU in the discriminator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577840" y="5257800"/>
            <a:ext cx="5943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layers — avoids dead units and keeps gradients flowing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12 · LECTURE 2  |  HOUR 24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DCGAN · IMPACT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Latent Space Arithmetic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DCGAN established a reliable, reusable recipe — it became the default starting point for image GANs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4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showed the latent space learns real semantic structure</a:t>
            </a:r>
            <a:endParaRPr lang="en-US" sz="1350" dirty="0"/>
          </a:p>
          <a:p>
            <a:pPr lvl="1" marL="685800" indent="-342900">
              <a:spcAft>
                <a:spcPts val="1100"/>
              </a:spcAft>
              <a:buSzPct val="100000"/>
              <a:buChar char="–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arithmetic on z vectors produces meaningful, predictable changes in the generated image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4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echoes VAE's smooth latent space — but now for a GAN</a:t>
            </a:r>
            <a:endParaRPr lang="en-US" sz="1350" dirty="0"/>
          </a:p>
          <a:p>
            <a:pPr lvl="1" marL="685800" indent="-342900">
              <a:spcAft>
                <a:spcPts val="1100"/>
              </a:spcAft>
              <a:buSzPct val="100000"/>
              <a:buChar char="–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the model learned real structure, not memorization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93192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39319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“man with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glasses”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971800" y="393192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29000" y="393192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6E86A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29000" y="39319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“man”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393192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217920" y="393192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6E8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0" y="39319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“woman”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549640" y="393192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006840" y="393192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006840" y="39319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“woman with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glasses”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12 · LECTURE 2  |  HOUR 24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UNPAIRED TRANSLATION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219456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417320"/>
            <a:ext cx="41148" cy="21945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1289304" y="1417320"/>
            <a:ext cx="219456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Shape 4"/>
          <p:cNvSpPr/>
          <p:nvPr/>
        </p:nvSpPr>
        <p:spPr>
          <a:xfrm>
            <a:off x="1467612" y="1417320"/>
            <a:ext cx="41148" cy="21945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382012"/>
            <a:ext cx="219456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203704"/>
            <a:ext cx="41148" cy="21945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Shape 7"/>
          <p:cNvSpPr/>
          <p:nvPr/>
        </p:nvSpPr>
        <p:spPr>
          <a:xfrm>
            <a:off x="1289304" y="2382012"/>
            <a:ext cx="219456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Shape 8"/>
          <p:cNvSpPr/>
          <p:nvPr/>
        </p:nvSpPr>
        <p:spPr>
          <a:xfrm>
            <a:off x="1467612" y="2203704"/>
            <a:ext cx="41148" cy="21945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463040"/>
            <a:ext cx="914400" cy="91440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1417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CycleGAN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Zhu, Park, Isola &amp; Efros, 2017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880360"/>
            <a:ext cx="10881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“Unpaired Image-to-Image Translation using Cycle-Consistent Adversarial Networks”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</a:t>
            </a:r>
            <a:endParaRPr lang="en-US" sz="1400" dirty="0"/>
          </a:p>
          <a:p>
            <a:pPr lvl="1" marL="685800" indent="-3429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images from one domain to another — horses ↔ zebras, summer ↔ winter, photos ↔ Monet-style paintings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constraint that makes it special:</a:t>
            </a:r>
            <a:endParaRPr lang="en-US" sz="1400" dirty="0"/>
          </a:p>
          <a:p>
            <a:pPr lvl="1" marL="685800" indent="-3429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paired training examples required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12 · LECTURE 2  |  HOUR 24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CYCLEGAN · THE PROBLEM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Unpaired Translation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image-to-image translation (e.g. pix2pix) needs PAIRED data: the exact same scene, aligned pixel-for-pixel, in both domains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 pairs are often impossible or extremely expensive to collect</a:t>
            </a:r>
            <a:endParaRPr lang="en-US" sz="1400" dirty="0"/>
          </a:p>
          <a:p>
            <a:pPr lvl="1" marL="685800" indent="-3429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“same horse, but a zebra” photo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CycleGAN instead learns from two SEPARATE, UNPAIRED collections</a:t>
            </a:r>
            <a:endParaRPr lang="en-US" sz="1400" dirty="0"/>
          </a:p>
          <a:p>
            <a:pPr lvl="1" marL="685800" indent="-3429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horse photos, and a completely unrelated set of zebra photos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3931920"/>
            <a:ext cx="5120640" cy="457200"/>
          </a:xfrm>
          <a:prstGeom prst="rect">
            <a:avLst/>
          </a:prstGeom>
          <a:solidFill>
            <a:srgbClr val="B23A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87552" y="3931920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(needs matched scenes)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61772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A  ↔  Photo A, different domain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 scene, aligned)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0" y="4526280"/>
            <a:ext cx="4572000" cy="0"/>
          </a:xfrm>
          <a:prstGeom prst="line">
            <a:avLst/>
          </a:prstGeom>
          <a:noFill/>
          <a:ln w="25400">
            <a:solidFill>
              <a:srgbClr val="B2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4297680"/>
            <a:ext cx="0" cy="457200"/>
          </a:xfrm>
          <a:prstGeom prst="line">
            <a:avLst/>
          </a:prstGeom>
          <a:noFill/>
          <a:ln w="25400">
            <a:solidFill>
              <a:srgbClr val="B23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3931920"/>
            <a:ext cx="5120640" cy="457200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73952" y="3931920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UNPAIRED (CycleGAN's approach)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46177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 photos (collection A)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Zebra photos (collection B) — unrelated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12 · LECTURE 2  |  HOUR 24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CYCLEGAN · THE KEY IDEA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Cycle Consistency Loss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generators:</a:t>
            </a:r>
            <a:endParaRPr lang="en-US" sz="135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maps domain A → B, F maps domain B → A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discriminators, one per domain</a:t>
            </a:r>
            <a:endParaRPr lang="en-US" sz="135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trained adversarially as usual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added constraint — cycle consistency:</a:t>
            </a:r>
            <a:endParaRPr lang="en-US" sz="135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there and back should approximately recover the original: F(G(x)) ≈ x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forces G and F to preserve content while only changing domain-specific style — without ever seeing matched pairs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0" y="2103120"/>
            <a:ext cx="1371600" cy="822960"/>
          </a:xfrm>
          <a:prstGeom prst="roundRect">
            <a:avLst>
              <a:gd name="adj" fmla="val 7778"/>
            </a:avLst>
          </a:prstGeom>
          <a:solidFill>
            <a:srgbClr val="EEF3F6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0" y="21031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(horse)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01000" y="2432304"/>
            <a:ext cx="365760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01000" y="18105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412480" y="2103120"/>
            <a:ext cx="1371600" cy="822960"/>
          </a:xfrm>
          <a:prstGeom prst="roundRect">
            <a:avLst>
              <a:gd name="adj" fmla="val 7778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0" y="21031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(zebra)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829800" y="2432304"/>
            <a:ext cx="365760" cy="164592"/>
          </a:xfrm>
          <a:prstGeom prst="rightArrow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829800" y="18105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241280" y="2103120"/>
            <a:ext cx="1371600" cy="822960"/>
          </a:xfrm>
          <a:prstGeom prst="roundRect">
            <a:avLst>
              <a:gd name="adj" fmla="val 7778"/>
            </a:avLst>
          </a:prstGeom>
          <a:solidFill>
            <a:srgbClr val="FF6B3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241280" y="21031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(horse)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269480" y="3063240"/>
            <a:ext cx="3657600" cy="0"/>
          </a:xfrm>
          <a:prstGeom prst="line">
            <a:avLst/>
          </a:prstGeom>
          <a:noFill/>
          <a:ln w="19050">
            <a:solidFill>
              <a:srgbClr val="5C6B78"/>
            </a:solidFill>
            <a:prstDash val="dash"/>
            <a:headEnd type="triangle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6583680" y="3154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consistency loss: should match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83680" y="3749040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EEF3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20840" y="37490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logic runs in reverse too: real B → F → fake A → G → reconstructed B, compared back to real B.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12 · LECTURE 2  |  HOUR 24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CYCLEGAN · PUTTING IT TOGETHER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CycleGAN Setup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directions train simultaneously, sharing the same G and F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loss = adversarial loss (A→B) + adversarial loss (B→A) + cycle consistency loss (both directions)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D_A and D_B never see each other's domain</a:t>
            </a:r>
            <a:endParaRPr lang="en-US" sz="1250" dirty="0"/>
          </a:p>
          <a:p>
            <a:pPr lvl="1" marL="6858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just judges real vs. fake within its own domain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style transfers between domains while content is preserved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103120" y="370332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103120" y="37033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20440" y="3986784"/>
            <a:ext cx="411480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20440" y="341071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977640" y="370332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6E86A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977640" y="37033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94960" y="3986784"/>
            <a:ext cx="411480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394960" y="341071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52160" y="370332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1C7293"/>
          </a:solidFill>
          <a:ln w="15875">
            <a:solidFill>
              <a:srgbClr val="0F2A4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52160" y="37033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Recon. 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88920" y="4544568"/>
            <a:ext cx="3749040" cy="0"/>
          </a:xfrm>
          <a:prstGeom prst="line">
            <a:avLst/>
          </a:prstGeom>
          <a:noFill/>
          <a:ln w="15875">
            <a:solidFill>
              <a:srgbClr val="5C6B78"/>
            </a:solidFill>
            <a:prstDash val="dash"/>
            <a:headEnd type="triangle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2103120" y="4599432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loss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03120" y="512064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FF6B3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03120" y="51206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20440" y="5404104"/>
            <a:ext cx="411480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520440" y="48280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977640" y="512064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6E86A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977640" y="51206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94960" y="5404104"/>
            <a:ext cx="411480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394960" y="482803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852160" y="512064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FF6B35"/>
          </a:solidFill>
          <a:ln w="15875">
            <a:solidFill>
              <a:srgbClr val="0F2A4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52160" y="51206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Recon. B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88920" y="5961888"/>
            <a:ext cx="3749040" cy="0"/>
          </a:xfrm>
          <a:prstGeom prst="line">
            <a:avLst/>
          </a:prstGeom>
          <a:noFill/>
          <a:ln w="15875">
            <a:solidFill>
              <a:srgbClr val="5C6B78"/>
            </a:solidFill>
            <a:prstDash val="dash"/>
            <a:headEnd type="triangle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2103120" y="6016752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loss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12 · LECTURE 2  |  HOUR 24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PHOTOREALISM &amp; CONTROL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219456" cy="41148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417320"/>
            <a:ext cx="41148" cy="219456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5" name="Shape 3"/>
          <p:cNvSpPr/>
          <p:nvPr/>
        </p:nvSpPr>
        <p:spPr>
          <a:xfrm>
            <a:off x="1289304" y="1417320"/>
            <a:ext cx="219456" cy="41148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6" name="Shape 4"/>
          <p:cNvSpPr/>
          <p:nvPr/>
        </p:nvSpPr>
        <p:spPr>
          <a:xfrm>
            <a:off x="1467612" y="1417320"/>
            <a:ext cx="41148" cy="219456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382012"/>
            <a:ext cx="219456" cy="41148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203704"/>
            <a:ext cx="41148" cy="219456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9" name="Shape 7"/>
          <p:cNvSpPr/>
          <p:nvPr/>
        </p:nvSpPr>
        <p:spPr>
          <a:xfrm>
            <a:off x="1289304" y="2382012"/>
            <a:ext cx="219456" cy="41148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0" name="Shape 8"/>
          <p:cNvSpPr/>
          <p:nvPr/>
        </p:nvSpPr>
        <p:spPr>
          <a:xfrm>
            <a:off x="1467612" y="2203704"/>
            <a:ext cx="41148" cy="219456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463040"/>
            <a:ext cx="914400" cy="91440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1417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StyleGAN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Karras, Laine &amp; Aila (NVIDIA), 2019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880360"/>
            <a:ext cx="10881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Style-Based Generator Architecture for Generative Adversarial Networks”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major leap in image quality (especially faces) and in CONTROL over generated attributes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 redesigned generator architecture</a:t>
            </a:r>
            <a:endParaRPr lang="en-US" sz="1400" dirty="0"/>
          </a:p>
          <a:p>
            <a:pPr lvl="1" marL="685800" indent="-3429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bigger or deeper version of what came before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12 · LECTURE 2  |  HOUR 24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STYLEGAN · ARCHITECTURE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StyleGAN's Key Innovations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network:</a:t>
            </a:r>
            <a:endParaRPr lang="en-US" sz="140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8-layer MLP transforms input latent z into an intermediate latent w — this “disentangles” the space, making individual factors easier to control independently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Style-based generator:</a:t>
            </a:r>
            <a:endParaRPr lang="en-US" sz="140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is injected at EVERY resolution level of the generator, not just the start — controlling “style” at each scale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noise injection:</a:t>
            </a:r>
            <a:endParaRPr lang="en-US" sz="140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random noise added at each layer generates fine detail (hair strands, skin pores) independent of overall identity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4251960"/>
            <a:ext cx="1371600" cy="777240"/>
          </a:xfrm>
          <a:prstGeom prst="roundRect">
            <a:avLst>
              <a:gd name="adj" fmla="val 8235"/>
            </a:avLst>
          </a:prstGeom>
          <a:solidFill>
            <a:srgbClr val="0F2A4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42519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31720" y="4558284"/>
            <a:ext cx="320040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8" name="Shape 6"/>
          <p:cNvSpPr/>
          <p:nvPr/>
        </p:nvSpPr>
        <p:spPr>
          <a:xfrm>
            <a:off x="2651760" y="4251960"/>
            <a:ext cx="1737360" cy="777240"/>
          </a:xfrm>
          <a:prstGeom prst="roundRect">
            <a:avLst>
              <a:gd name="adj" fmla="val 8235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51760" y="42519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4558284"/>
            <a:ext cx="320040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4251960"/>
            <a:ext cx="822960" cy="777240"/>
          </a:xfrm>
          <a:prstGeom prst="roundRect">
            <a:avLst>
              <a:gd name="adj" fmla="val 8235"/>
            </a:avLst>
          </a:prstGeom>
          <a:solidFill>
            <a:srgbClr val="FF6B3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54880" y="425196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23560" y="4640580"/>
            <a:ext cx="182880" cy="0"/>
          </a:xfrm>
          <a:prstGeom prst="line">
            <a:avLst/>
          </a:prstGeom>
          <a:noFill/>
          <a:ln w="12700">
            <a:solidFill>
              <a:srgbClr val="5C6B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4640580"/>
            <a:ext cx="0" cy="-845820"/>
          </a:xfrm>
          <a:prstGeom prst="line">
            <a:avLst/>
          </a:prstGeom>
          <a:noFill/>
          <a:ln w="12700">
            <a:solidFill>
              <a:srgbClr val="5C6B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06440" y="3794760"/>
            <a:ext cx="411480" cy="0"/>
          </a:xfrm>
          <a:prstGeom prst="line">
            <a:avLst/>
          </a:prstGeom>
          <a:noFill/>
          <a:ln w="15875">
            <a:solidFill>
              <a:srgbClr val="FF6B35"/>
            </a:solidFill>
            <a:prstDash val="dash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17920" y="3566160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6E86A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0" y="356616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4×4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23560" y="4640580"/>
            <a:ext cx="182880" cy="0"/>
          </a:xfrm>
          <a:prstGeom prst="line">
            <a:avLst/>
          </a:prstGeom>
          <a:noFill/>
          <a:ln w="12700">
            <a:solidFill>
              <a:srgbClr val="5C6B7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06440" y="4640580"/>
            <a:ext cx="0" cy="-278892"/>
          </a:xfrm>
          <a:prstGeom prst="line">
            <a:avLst/>
          </a:prstGeom>
          <a:noFill/>
          <a:ln w="12700">
            <a:solidFill>
              <a:srgbClr val="5C6B7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06440" y="4361688"/>
            <a:ext cx="411480" cy="0"/>
          </a:xfrm>
          <a:prstGeom prst="line">
            <a:avLst/>
          </a:prstGeom>
          <a:noFill/>
          <a:ln w="15875">
            <a:solidFill>
              <a:srgbClr val="FF6B35"/>
            </a:solidFill>
            <a:prstDash val="dash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217920" y="4133088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6E86A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17920" y="413308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8×8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623560" y="4640580"/>
            <a:ext cx="182880" cy="0"/>
          </a:xfrm>
          <a:prstGeom prst="line">
            <a:avLst/>
          </a:prstGeom>
          <a:noFill/>
          <a:ln w="12700">
            <a:solidFill>
              <a:srgbClr val="5C6B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06440" y="4640580"/>
            <a:ext cx="0" cy="288036"/>
          </a:xfrm>
          <a:prstGeom prst="line">
            <a:avLst/>
          </a:prstGeom>
          <a:noFill/>
          <a:ln w="12700">
            <a:solidFill>
              <a:srgbClr val="5C6B7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06440" y="4928616"/>
            <a:ext cx="411480" cy="0"/>
          </a:xfrm>
          <a:prstGeom prst="line">
            <a:avLst/>
          </a:prstGeom>
          <a:noFill/>
          <a:ln w="15875">
            <a:solidFill>
              <a:srgbClr val="FF6B35"/>
            </a:solidFill>
            <a:prstDash val="dash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217920" y="4700016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6E86A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217920" y="4700016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16×16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623560" y="4640580"/>
            <a:ext cx="182880" cy="0"/>
          </a:xfrm>
          <a:prstGeom prst="line">
            <a:avLst/>
          </a:prstGeom>
          <a:noFill/>
          <a:ln w="12700">
            <a:solidFill>
              <a:srgbClr val="5C6B7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06440" y="4640580"/>
            <a:ext cx="0" cy="854964"/>
          </a:xfrm>
          <a:prstGeom prst="line">
            <a:avLst/>
          </a:prstGeom>
          <a:noFill/>
          <a:ln w="12700">
            <a:solidFill>
              <a:srgbClr val="5C6B7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06440" y="5495544"/>
            <a:ext cx="411480" cy="0"/>
          </a:xfrm>
          <a:prstGeom prst="line">
            <a:avLst/>
          </a:prstGeom>
          <a:noFill/>
          <a:ln w="15875">
            <a:solidFill>
              <a:srgbClr val="FF6B35"/>
            </a:solidFill>
            <a:prstDash val="dash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217920" y="5266944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6E86A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217920" y="5266944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32×32…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5943600" y="58795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injected at every resolution level of the generator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12 · LECTURE 2  |  HOUR 24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STYLEGAN · WHAT IT ENABLES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 Mixing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style is injected separately at each resolution, StyleGAN can perform “style mixing”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layers (low resolution)</a:t>
            </a:r>
            <a:endParaRPr lang="en-US" sz="140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high-level attributes: pose, face shape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layers (high resolution)</a:t>
            </a:r>
            <a:endParaRPr lang="en-US" sz="140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color scheme and micro-detail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4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coarse style from one latent code and fine style from another, and combine them in a single generated image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gives an unprecedented, interpretable level of control over what changes in a generated image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88720" y="420624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42062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(coarse style: pose)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526280" y="4206240"/>
            <a:ext cx="365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937760" y="420624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FF6B3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937760" y="42062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B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(fine style: color)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75320" y="4206240"/>
            <a:ext cx="365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686800" y="420624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1E7A4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0" y="42062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Result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(A's pose, B's color)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12 · LECTURE 2  |  HOUR 24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DCGAN vs. CycleGAN vs. StyleGAN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331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82880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880360" y="1828800"/>
            <a:ext cx="2971800" cy="457200"/>
          </a:xfrm>
          <a:prstGeom prst="rect">
            <a:avLst/>
          </a:prstGeom>
          <a:solidFill>
            <a:srgbClr val="1C7293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90088" y="1828800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DCGAN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852160" y="1828800"/>
            <a:ext cx="2971800" cy="457200"/>
          </a:xfrm>
          <a:prstGeom prst="rect">
            <a:avLst/>
          </a:prstGeom>
          <a:solidFill>
            <a:srgbClr val="FF6B35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61888" y="1828800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CycleGAN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823960" y="1828800"/>
            <a:ext cx="2834640" cy="457200"/>
          </a:xfrm>
          <a:prstGeom prst="rect">
            <a:avLst/>
          </a:prstGeom>
          <a:solidFill>
            <a:srgbClr val="1E7A4C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33688" y="182880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StyleGAN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2331720" cy="777240"/>
          </a:xfrm>
          <a:prstGeom prst="rect">
            <a:avLst/>
          </a:prstGeom>
          <a:solidFill>
            <a:srgbClr val="EEF3F6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286000"/>
            <a:ext cx="2112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contribution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80360" y="2286000"/>
            <a:ext cx="2971800" cy="777240"/>
          </a:xfrm>
          <a:prstGeom prst="rect">
            <a:avLst/>
          </a:prstGeom>
          <a:solidFill>
            <a:srgbClr val="F8FAFB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90088" y="2286000"/>
            <a:ext cx="2752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architecture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 for stable training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52160" y="2286000"/>
            <a:ext cx="2971800" cy="777240"/>
          </a:xfrm>
          <a:prstGeom prst="rect">
            <a:avLst/>
          </a:prstGeom>
          <a:solidFill>
            <a:srgbClr val="F8FAFB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61888" y="2286000"/>
            <a:ext cx="2752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Cycle-consistency loss for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unpaired translation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823960" y="2286000"/>
            <a:ext cx="2834640" cy="777240"/>
          </a:xfrm>
          <a:prstGeom prst="rect">
            <a:avLst/>
          </a:prstGeom>
          <a:solidFill>
            <a:srgbClr val="F8FAFB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33688" y="2286000"/>
            <a:ext cx="2615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Style-based generator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network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063240"/>
            <a:ext cx="2331720" cy="777240"/>
          </a:xfrm>
          <a:prstGeom prst="rect">
            <a:avLst/>
          </a:prstGeom>
          <a:solidFill>
            <a:srgbClr val="EEF3F6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3063240"/>
            <a:ext cx="2112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880360" y="3063240"/>
            <a:ext cx="29718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990088" y="3063240"/>
            <a:ext cx="2752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image collection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52160" y="3063240"/>
            <a:ext cx="29718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61888" y="3063240"/>
            <a:ext cx="2752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unpaired image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(domains)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823960" y="3063240"/>
            <a:ext cx="28346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933688" y="3063240"/>
            <a:ext cx="2615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high-quality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collections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840480"/>
            <a:ext cx="2331720" cy="777240"/>
          </a:xfrm>
          <a:prstGeom prst="rect">
            <a:avLst/>
          </a:prstGeom>
          <a:solidFill>
            <a:srgbClr val="EEF3F6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8368" y="3840480"/>
            <a:ext cx="2112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880360" y="3840480"/>
            <a:ext cx="2971800" cy="777240"/>
          </a:xfrm>
          <a:prstGeom prst="rect">
            <a:avLst/>
          </a:prstGeom>
          <a:solidFill>
            <a:srgbClr val="F8FAFB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990088" y="3840480"/>
            <a:ext cx="2752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image generation,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stable baseline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852160" y="3840480"/>
            <a:ext cx="2971800" cy="777240"/>
          </a:xfrm>
          <a:prstGeom prst="rect">
            <a:avLst/>
          </a:prstGeom>
          <a:solidFill>
            <a:srgbClr val="F8FAFB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961888" y="3840480"/>
            <a:ext cx="2752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Domain-to-domain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(no pairs needed)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823960" y="3840480"/>
            <a:ext cx="2834640" cy="777240"/>
          </a:xfrm>
          <a:prstGeom prst="rect">
            <a:avLst/>
          </a:prstGeom>
          <a:solidFill>
            <a:srgbClr val="F8FAFB"/>
          </a:solidFill>
          <a:ln w="9525">
            <a:solidFill>
              <a:srgbClr val="D7E0E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933688" y="3840480"/>
            <a:ext cx="2615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Photorealistic, controllable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(esp. faces)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12 · LECTURE 2  |  HOUR 24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0876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GANs pit a generator against a discriminator in an adversarial game, rather than optimizing an explicit likelihood like VAEs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04288"/>
            <a:ext cx="502920" cy="50292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04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2585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adversarial setup produces sharper images, but is notoriously harder and less stable to train — mode collapse and instability are real risks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054096"/>
            <a:ext cx="502920" cy="50292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0540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008376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DCGAN's convolutional architecture guidelines made GAN training reliable and became the standard starting point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03904"/>
            <a:ext cx="502920" cy="50292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039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758184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CycleGAN's cycle-consistency loss enables image-to-image translation without any paired training data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553712"/>
            <a:ext cx="502920" cy="50292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553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50799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StyleGAN's style-based generator delivers state-of-the-art photorealism with fine-grained, interpretable control via style mixing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6385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55321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models — the modern state of the art in generative vision, and a very different generation process once again.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12 · LECTURE 2  |  HOUR 24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Week 12 · Lecture 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GANs: DCGAN, CycleGAN, StyleGAN</dc:title>
  <dc:subject>PptxGenJS Presentation</dc:subject>
  <dc:creator>Deep Learning for Computer Vision</dc:creator>
  <cp:lastModifiedBy>Deep Learning for Computer Vision</cp:lastModifiedBy>
  <cp:revision>1</cp:revision>
  <dcterms:created xsi:type="dcterms:W3CDTF">2026-09-05T19:06:47Z</dcterms:created>
  <dcterms:modified xsi:type="dcterms:W3CDTF">2026-09-05T19:06:47Z</dcterms:modified>
</cp:coreProperties>
</file>