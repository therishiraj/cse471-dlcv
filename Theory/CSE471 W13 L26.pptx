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5898" y="0"/>
            <a:ext cx="0" cy="6858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31797" y="0"/>
            <a:ext cx="0" cy="6858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47695" y="0"/>
            <a:ext cx="0" cy="6858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63594" y="0"/>
            <a:ext cx="0" cy="6858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79492" y="0"/>
            <a:ext cx="0" cy="6858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95390" y="0"/>
            <a:ext cx="0" cy="6858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11289" y="0"/>
            <a:ext cx="0" cy="6858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27187" y="0"/>
            <a:ext cx="0" cy="6858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3086" y="0"/>
            <a:ext cx="0" cy="6858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158984" y="0"/>
            <a:ext cx="0" cy="6858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174882" y="0"/>
            <a:ext cx="0" cy="6858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979322"/>
            <a:ext cx="12191695" cy="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958645"/>
            <a:ext cx="12191695" cy="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2937967"/>
            <a:ext cx="12191695" cy="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917290"/>
            <a:ext cx="12191695" cy="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896612"/>
            <a:ext cx="12191695" cy="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5875934"/>
            <a:ext cx="12191695" cy="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1417320"/>
            <a:ext cx="365760" cy="411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1417320"/>
            <a:ext cx="41148" cy="3657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1" name="Shape 19"/>
          <p:cNvSpPr/>
          <p:nvPr/>
        </p:nvSpPr>
        <p:spPr>
          <a:xfrm>
            <a:off x="9235440" y="1417320"/>
            <a:ext cx="365760" cy="411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2" name="Shape 20"/>
          <p:cNvSpPr/>
          <p:nvPr/>
        </p:nvSpPr>
        <p:spPr>
          <a:xfrm>
            <a:off x="9560052" y="1417320"/>
            <a:ext cx="41148" cy="3657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3" name="Shape 21"/>
          <p:cNvSpPr/>
          <p:nvPr/>
        </p:nvSpPr>
        <p:spPr>
          <a:xfrm>
            <a:off x="822960" y="4713732"/>
            <a:ext cx="365760" cy="411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4" name="Shape 22"/>
          <p:cNvSpPr/>
          <p:nvPr/>
        </p:nvSpPr>
        <p:spPr>
          <a:xfrm>
            <a:off x="822960" y="4389120"/>
            <a:ext cx="41148" cy="3657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5" name="Shape 23"/>
          <p:cNvSpPr/>
          <p:nvPr/>
        </p:nvSpPr>
        <p:spPr>
          <a:xfrm>
            <a:off x="9235440" y="4713732"/>
            <a:ext cx="365760" cy="411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6" name="Shape 24"/>
          <p:cNvSpPr/>
          <p:nvPr/>
        </p:nvSpPr>
        <p:spPr>
          <a:xfrm>
            <a:off x="9560052" y="4389120"/>
            <a:ext cx="41148" cy="3657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22960" y="1691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LECTURE   ·   WEEK 13  ·  LECTURE 2  ·  HOUR 26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214884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Interpretability</a:t>
            </a:r>
            <a:endParaRPr lang="en-US" sz="40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3154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Grad-CAM</a:t>
            </a:r>
            <a:pPr indent="0" marL="0">
              <a:buNone/>
            </a:pPr>
            <a:r>
              <a:rPr lang="en-US" sz="2200" dirty="0">
                <a:solidFill>
                  <a:srgbClr val="5C7A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·  </a:t>
            </a:r>
            <a:pPr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Saliency Maps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" y="4160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5989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semester we asked “does it work?” In this final lecture, we ask “why?”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LOOK BACK · A NEW QUESTION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Building Models to Understanding Them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0972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4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semester's arc:</a:t>
            </a:r>
            <a:endParaRPr lang="en-US" sz="1400" dirty="0"/>
          </a:p>
          <a:p>
            <a:pPr lvl="1" marL="685800" indent="-342900"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 and training → transfer learning → detection → segmentation → Vision Transformers → generative models → vision-language models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4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those lectures asked the same question:</a:t>
            </a:r>
            <a:endParaRPr lang="en-US" sz="1400" dirty="0"/>
          </a:p>
          <a:p>
            <a:pPr lvl="1" marL="685800" indent="-342900"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do we build a model that performs well?”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our final lecture, asks a different question entirely:</a:t>
            </a:r>
            <a:endParaRPr lang="en-US" sz="1400" dirty="0"/>
          </a:p>
          <a:p>
            <a:pPr lvl="1" marL="685800" indent="-342900"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“once we have a model that performs well, how do we know WHY it works?”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4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interpretability — and it matters more with every model we deploy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547104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13 · LECTURE 2  |  HOUR 26  ·  FINAL LECTURE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ROADMAP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66928" cy="566928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298448" y="1636776"/>
            <a:ext cx="9966960" cy="749808"/>
          </a:xfrm>
          <a:prstGeom prst="roundRect">
            <a:avLst>
              <a:gd name="adj" fmla="val 8537"/>
            </a:avLst>
          </a:prstGeom>
          <a:solidFill>
            <a:srgbClr val="EEF3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508760" y="1636776"/>
            <a:ext cx="9601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why deep networks are considered “black boxes,” and why that's a real problem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587752"/>
            <a:ext cx="566928" cy="566928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5877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98448" y="2532888"/>
            <a:ext cx="9966960" cy="749808"/>
          </a:xfrm>
          <a:prstGeom prst="roundRect">
            <a:avLst>
              <a:gd name="adj" fmla="val 8537"/>
            </a:avLst>
          </a:prstGeom>
          <a:solidFill>
            <a:srgbClr val="EEF3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508760" y="2532888"/>
            <a:ext cx="9601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saliency maps: using gradients to see which pixels mattered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483864"/>
            <a:ext cx="566928" cy="566928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48386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298448" y="3429000"/>
            <a:ext cx="9966960" cy="749808"/>
          </a:xfrm>
          <a:prstGeom prst="roundRect">
            <a:avLst>
              <a:gd name="adj" fmla="val 8537"/>
            </a:avLst>
          </a:prstGeom>
          <a:solidFill>
            <a:srgbClr val="EEF3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508760" y="3429000"/>
            <a:ext cx="9601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Grad-CAM's algorithm for coherent, class-discriminative visual explanations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379976"/>
            <a:ext cx="566928" cy="566928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3799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298448" y="4325112"/>
            <a:ext cx="9966960" cy="749808"/>
          </a:xfrm>
          <a:prstGeom prst="roundRect">
            <a:avLst>
              <a:gd name="adj" fmla="val 8537"/>
            </a:avLst>
          </a:prstGeom>
          <a:solidFill>
            <a:srgbClr val="EEF3F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508760" y="4325112"/>
            <a:ext cx="9601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Grad-CAM to simpler saliency methods, and know their limits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5276088"/>
            <a:ext cx="566928" cy="566928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52760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298448" y="5221224"/>
            <a:ext cx="9966960" cy="749808"/>
          </a:xfrm>
          <a:prstGeom prst="roundRect">
            <a:avLst>
              <a:gd name="adj" fmla="val 8537"/>
            </a:avLst>
          </a:prstGeom>
          <a:solidFill>
            <a:srgbClr val="EEF3F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508760" y="5221224"/>
            <a:ext cx="9601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how interpretability connects back across everything we've studied this semester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47104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13 · LECTURE 2  |  HOUR 26  ·  FINAL LECTURE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“Black Box” Problem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deep networks have millions to billions of parameters, spread across dozens of nonlinear layers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obvious way to point to “this is why it predicted cat”</a:t>
            </a:r>
            <a:endParaRPr lang="en-US" sz="1300" dirty="0"/>
          </a:p>
          <a:p>
            <a:pPr lvl="1" marL="685800" indent="-342900"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way you could read a simple rule-based system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observe inputs and outputs — the internal reasoning stays opaque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opacity becomes a real problem the moment these models make consequential decisions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92240" y="2377440"/>
            <a:ext cx="1188720" cy="914400"/>
          </a:xfrm>
          <a:prstGeom prst="roundRect">
            <a:avLst>
              <a:gd name="adj" fmla="val 7000"/>
            </a:avLst>
          </a:prstGeom>
          <a:solidFill>
            <a:srgbClr val="EEF3F6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92240" y="237744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726680" y="2752344"/>
            <a:ext cx="228600" cy="164592"/>
          </a:xfrm>
          <a:prstGeom prst="rightArrow">
            <a:avLst/>
          </a:prstGeom>
          <a:solidFill>
            <a:srgbClr val="5C6B78"/>
          </a:solidFill>
          <a:ln/>
        </p:spPr>
      </p:sp>
      <p:sp>
        <p:nvSpPr>
          <p:cNvPr id="8" name="Shape 6"/>
          <p:cNvSpPr/>
          <p:nvPr/>
        </p:nvSpPr>
        <p:spPr>
          <a:xfrm>
            <a:off x="8001000" y="2103120"/>
            <a:ext cx="2011680" cy="1463040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01000" y="2103120"/>
            <a:ext cx="2011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 ?  ?</a:t>
            </a:r>
            <a:endParaRPr lang="en-US" sz="1250" dirty="0"/>
          </a:p>
          <a:p>
            <a:pPr algn="ctr" indent="0" marL="0">
              <a:buNone/>
            </a:pP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Network</a:t>
            </a:r>
            <a:endParaRPr lang="en-US" sz="1250" dirty="0"/>
          </a:p>
          <a:p>
            <a:pPr algn="ctr" indent="0" marL="0">
              <a:buNone/>
            </a:pP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 ?  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058400" y="2752344"/>
            <a:ext cx="228600" cy="164592"/>
          </a:xfrm>
          <a:prstGeom prst="rightArrow">
            <a:avLst/>
          </a:prstGeom>
          <a:solidFill>
            <a:srgbClr val="5C6B78"/>
          </a:solidFill>
          <a:ln/>
        </p:spPr>
      </p:sp>
      <p:sp>
        <p:nvSpPr>
          <p:cNvPr id="11" name="Shape 9"/>
          <p:cNvSpPr/>
          <p:nvPr/>
        </p:nvSpPr>
        <p:spPr>
          <a:xfrm>
            <a:off x="10332720" y="2377440"/>
            <a:ext cx="1188720" cy="914400"/>
          </a:xfrm>
          <a:prstGeom prst="roundRect">
            <a:avLst>
              <a:gd name="adj" fmla="val 7000"/>
            </a:avLst>
          </a:prstGeom>
          <a:solidFill>
            <a:srgbClr val="EEF3F6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332720" y="237744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“Cat”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(0.97)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92240" y="3977640"/>
            <a:ext cx="5029200" cy="777240"/>
          </a:xfrm>
          <a:prstGeom prst="roundRect">
            <a:avLst>
              <a:gd name="adj" fmla="val 9412"/>
            </a:avLst>
          </a:prstGeom>
          <a:solidFill>
            <a:srgbClr val="EEF3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75120" y="39776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see the input and the output. What happens in between is, by default, a mystery.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47104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13 · LECTURE 2  |  HOUR 26  ·  FINAL LECTURE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Interpretability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0352" cy="530352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234440" y="1673352"/>
            <a:ext cx="10424160" cy="768096"/>
          </a:xfrm>
          <a:prstGeom prst="roundRect">
            <a:avLst>
              <a:gd name="adj" fmla="val 8333"/>
            </a:avLst>
          </a:prstGeom>
          <a:solidFill>
            <a:srgbClr val="EEF3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17320" y="1673352"/>
            <a:ext cx="2651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1673352"/>
            <a:ext cx="7406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model learn the right thing, or a shortcut? A classic case: a “wolf vs. husky” classifier that actually learned to detect snowy backgrounds.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548640" y="2587752"/>
            <a:ext cx="530352" cy="530352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58775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234440" y="2569464"/>
            <a:ext cx="10424160" cy="768096"/>
          </a:xfrm>
          <a:prstGeom prst="roundRect">
            <a:avLst>
              <a:gd name="adj" fmla="val 8333"/>
            </a:avLst>
          </a:prstGeom>
          <a:solidFill>
            <a:srgbClr val="EEF3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417320" y="2569464"/>
            <a:ext cx="2651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Adoption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2569464"/>
            <a:ext cx="7406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doctor won't act on a diagnosis they can't understand or verify — explanation is part of clinical adoption.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48640" y="3483864"/>
            <a:ext cx="530352" cy="530352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48386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234440" y="3465576"/>
            <a:ext cx="10424160" cy="768096"/>
          </a:xfrm>
          <a:prstGeom prst="roundRect">
            <a:avLst>
              <a:gd name="adj" fmla="val 8333"/>
            </a:avLst>
          </a:prstGeom>
          <a:solidFill>
            <a:srgbClr val="EEF3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417320" y="3465576"/>
            <a:ext cx="2651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&amp; Bias Auditing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114800" y="3465576"/>
            <a:ext cx="7406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model relying on protected attributes, or proxies for them, that it shouldn't be using?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548640" y="4379976"/>
            <a:ext cx="530352" cy="530352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37997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234440" y="4361688"/>
            <a:ext cx="10424160" cy="768096"/>
          </a:xfrm>
          <a:prstGeom prst="roundRect">
            <a:avLst>
              <a:gd name="adj" fmla="val 8333"/>
            </a:avLst>
          </a:prstGeom>
          <a:solidFill>
            <a:srgbClr val="EEF3F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417320" y="4361688"/>
            <a:ext cx="2651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 &amp; Law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114800" y="4361688"/>
            <a:ext cx="7406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domains require a documented explanation for automated decisions.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548640" y="5276088"/>
            <a:ext cx="530352" cy="530352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527608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234440" y="5257800"/>
            <a:ext cx="10424160" cy="768096"/>
          </a:xfrm>
          <a:prstGeom prst="roundRect">
            <a:avLst>
              <a:gd name="adj" fmla="val 8333"/>
            </a:avLst>
          </a:prstGeom>
          <a:solidFill>
            <a:srgbClr val="EEF3F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417320" y="5257800"/>
            <a:ext cx="2651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Discovery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114800" y="5257800"/>
            <a:ext cx="7406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what patterns a model found can itself be valuable new knowledge.</a:t>
            </a:r>
            <a:endParaRPr lang="en-US" sz="108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547104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13 · LECTURE 2  |  HOUR 26  ·  FINAL LECTURE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ORIENTING OURSELVES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Quick Taxonomy of Interpretability Methods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0972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 vs. post-hoc:</a:t>
            </a:r>
            <a:endParaRPr lang="en-US" sz="1500" dirty="0"/>
          </a:p>
          <a:p>
            <a:pPr lvl="1" marL="685800" indent="-342900"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interpretable-by-design models (e.g. small decision trees) vs. explaining an already-trained black-box model after the fact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vs. local:</a:t>
            </a:r>
            <a:endParaRPr lang="en-US" sz="1500" dirty="0"/>
          </a:p>
          <a:p>
            <a:pPr lvl="1" marL="685800" indent="-342900"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OVERALL model behavior vs. explaining ONE specific prediction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focus:</a:t>
            </a:r>
            <a:endParaRPr lang="en-US" sz="1500" dirty="0"/>
          </a:p>
          <a:p>
            <a:pPr lvl="1" marL="685800" indent="-342900"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post-hoc, local, visual explanation methods for CNNs — saliency maps and Grad-CAM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80760" y="3977640"/>
            <a:ext cx="0" cy="2331720"/>
          </a:xfrm>
          <a:prstGeom prst="line">
            <a:avLst/>
          </a:prstGeom>
          <a:noFill/>
          <a:ln w="19050">
            <a:solidFill>
              <a:srgbClr val="CBD8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03120" y="5143500"/>
            <a:ext cx="7955280" cy="0"/>
          </a:xfrm>
          <a:prstGeom prst="line">
            <a:avLst/>
          </a:prstGeom>
          <a:noFill/>
          <a:ln w="19050">
            <a:solidFill>
              <a:srgbClr val="CBD8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03120" y="368503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POST-HOC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080760" y="368503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442341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58927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40280" y="4114800"/>
            <a:ext cx="3703320" cy="891540"/>
          </a:xfrm>
          <a:prstGeom prst="roundRect">
            <a:avLst>
              <a:gd name="adj" fmla="val 6154"/>
            </a:avLst>
          </a:prstGeom>
          <a:solidFill>
            <a:srgbClr val="FF6B3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240280" y="4114800"/>
            <a:ext cx="3703320" cy="8915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saliency maps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(today)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4114800"/>
            <a:ext cx="3703320" cy="891540"/>
          </a:xfrm>
          <a:prstGeom prst="roundRect">
            <a:avLst>
              <a:gd name="adj" fmla="val 6154"/>
            </a:avLst>
          </a:prstGeom>
          <a:solidFill>
            <a:srgbClr val="EEF3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17920" y="4114800"/>
            <a:ext cx="3703320" cy="8915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weights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(one prediction)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40280" y="5280660"/>
            <a:ext cx="3703320" cy="891540"/>
          </a:xfrm>
          <a:prstGeom prst="roundRect">
            <a:avLst>
              <a:gd name="adj" fmla="val 6154"/>
            </a:avLst>
          </a:prstGeom>
          <a:solidFill>
            <a:srgbClr val="EEF3F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240280" y="5280660"/>
            <a:ext cx="3703320" cy="8915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/ LIME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(overall behavior)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17920" y="5280660"/>
            <a:ext cx="3703320" cy="891540"/>
          </a:xfrm>
          <a:prstGeom prst="roundRect">
            <a:avLst>
              <a:gd name="adj" fmla="val 6154"/>
            </a:avLst>
          </a:prstGeom>
          <a:solidFill>
            <a:srgbClr val="EEF3F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17920" y="5280660"/>
            <a:ext cx="3703320" cy="8915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decision trees,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models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47104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13 · LECTURE 2  |  HOUR 26  ·  FINAL LECTURE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 1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Saliency Maps: The Basic Idea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0972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4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question:</a:t>
            </a:r>
            <a:endParaRPr lang="en-US" sz="1450" dirty="0"/>
          </a:p>
          <a:p>
            <a:pPr lvl="1" marL="685800" indent="-342900">
              <a:spcAft>
                <a:spcPts val="1100"/>
              </a:spcAft>
              <a:buSzPct val="100000"/>
              <a:buChar char="–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pixels in the input most influenced this specific prediction?</a:t>
            </a:r>
            <a:endParaRPr lang="en-US" sz="145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4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simplest approach:</a:t>
            </a:r>
            <a:endParaRPr lang="en-US" sz="1450" dirty="0"/>
          </a:p>
          <a:p>
            <a:pPr lvl="1" marL="685800" indent="-342900">
              <a:spcAft>
                <a:spcPts val="1100"/>
              </a:spcAft>
              <a:buSzPct val="100000"/>
              <a:buChar char="–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gradient of the predicted class's score with respect to every input pixel</a:t>
            </a:r>
            <a:endParaRPr lang="en-US" sz="145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4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gradient magnitude at a pixel</a:t>
            </a:r>
            <a:endParaRPr lang="en-US" sz="1450" dirty="0"/>
          </a:p>
          <a:p>
            <a:pPr lvl="1" marL="685800" indent="-342900">
              <a:spcAft>
                <a:spcPts val="1100"/>
              </a:spcAft>
              <a:buSzPct val="100000"/>
              <a:buChar char="–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 small change there would meaningfully change the prediction = that pixel matters</a:t>
            </a:r>
            <a:endParaRPr lang="en-US" sz="145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heatmap the same size as the input image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463040" y="411480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463040" y="41148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886200" y="4489704"/>
            <a:ext cx="274320" cy="164592"/>
          </a:xfrm>
          <a:prstGeom prst="rightArrow">
            <a:avLst/>
          </a:prstGeom>
          <a:solidFill>
            <a:srgbClr val="5C6B78"/>
          </a:solidFill>
          <a:ln/>
        </p:spPr>
      </p:sp>
      <p:sp>
        <p:nvSpPr>
          <p:cNvPr id="8" name="Shape 6"/>
          <p:cNvSpPr/>
          <p:nvPr/>
        </p:nvSpPr>
        <p:spPr>
          <a:xfrm>
            <a:off x="4206240" y="411480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206240" y="41148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∂(class score)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∂(pixels)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29400" y="4489704"/>
            <a:ext cx="274320" cy="164592"/>
          </a:xfrm>
          <a:prstGeom prst="rightArrow">
            <a:avLst/>
          </a:prstGeom>
          <a:solidFill>
            <a:srgbClr val="5C6B78"/>
          </a:solidFill>
          <a:ln/>
        </p:spPr>
      </p:sp>
      <p:sp>
        <p:nvSpPr>
          <p:cNvPr id="11" name="Shape 9"/>
          <p:cNvSpPr/>
          <p:nvPr/>
        </p:nvSpPr>
        <p:spPr>
          <a:xfrm>
            <a:off x="6949440" y="411480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F6B3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949440" y="41148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Saliency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547104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13 · LECTURE 2  |  HOUR 26  ·  FINAL LECTURE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 1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Vanilla Gradient Saliency Maps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Simonyan, Vedaldi &amp; Zisserman, 2013</a:t>
            </a:r>
            <a:endParaRPr lang="en-US" sz="1400" dirty="0"/>
          </a:p>
          <a:p>
            <a:pPr lvl="1" marL="685800" indent="-342900"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earliest CNN visualization techniques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</a:t>
            </a:r>
            <a:endParaRPr lang="en-US" sz="1400" dirty="0"/>
          </a:p>
          <a:p>
            <a:pPr lvl="1" marL="685800" indent="-342900"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forward pass to get the class score, one backward pass all the way back to the input image, take the gradient magnitude per pixel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400" dirty="0"/>
          </a:p>
          <a:p>
            <a:pPr lvl="1" marL="685800" indent="-342900"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 single backward pass — no extra training or model modification needed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675120" y="2011680"/>
            <a:ext cx="777240" cy="1463040"/>
          </a:xfrm>
          <a:prstGeom prst="rect">
            <a:avLst/>
          </a:prstGeom>
          <a:solidFill>
            <a:srgbClr val="EEF3F6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0" y="2011680"/>
            <a:ext cx="777240" cy="1463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0" y="2011680"/>
            <a:ext cx="777240" cy="1463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0" y="2011680"/>
            <a:ext cx="777240" cy="1463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10698480" y="2011680"/>
            <a:ext cx="777240" cy="1463040"/>
          </a:xfrm>
          <a:prstGeom prst="rect">
            <a:avLst/>
          </a:prstGeom>
          <a:solidFill>
            <a:srgbClr val="6E86A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75120" y="356616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7680960" y="356616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layers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698480" y="356616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1475720" y="1691640"/>
            <a:ext cx="-4800600" cy="0"/>
          </a:xfrm>
          <a:prstGeom prst="line">
            <a:avLst/>
          </a:prstGeom>
          <a:noFill/>
          <a:ln w="31750">
            <a:solidFill>
              <a:srgbClr val="FF6B35"/>
            </a:solidFill>
            <a:prstDash val="dash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6675120" y="137160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backpropagated ALL THE WAY to input pixels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75120" y="3931920"/>
            <a:ext cx="4800600" cy="91440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0" y="3931920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gradient runs all the way to the input, the resulting map is pixel-precise — but that precision comes at a cost, next slide.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47104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13 · LECTURE 2  |  HOUR 26  ·  FINAL LECTURE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PROBLEM TO SOLVE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of Vanilla Saliency Maps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0972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5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noisy</a:t>
            </a:r>
            <a:endParaRPr lang="en-US" sz="1450" dirty="0"/>
          </a:p>
          <a:p>
            <a:pPr lvl="1" marL="685800" indent="-3429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scattered individual pixels rather than coherent object regions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5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small, imperceptible input perturbations</a:t>
            </a:r>
            <a:endParaRPr lang="en-US" sz="1450" dirty="0"/>
          </a:p>
          <a:p>
            <a:pPr lvl="1" marL="685800" indent="-3429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 can change dramatically with barely-visible noise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always align with human intuition</a:t>
            </a:r>
            <a:endParaRPr lang="en-US" sz="1450" dirty="0"/>
          </a:p>
          <a:p>
            <a:pPr lvl="1" marL="685800" indent="-3429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what's semantically important in the image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motivated a search for cleaner, more class-discriminative explanations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2743200" y="39776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SALIENCY (noisy)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743200" y="4297680"/>
            <a:ext cx="3291840" cy="1188720"/>
          </a:xfrm>
          <a:prstGeom prst="rect">
            <a:avLst/>
          </a:prstGeom>
          <a:solidFill>
            <a:srgbClr val="F7FAFB"/>
          </a:solidFill>
          <a:ln w="12700">
            <a:solidFill>
              <a:srgbClr val="CBD8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29243" y="4433983"/>
            <a:ext cx="45720" cy="457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8" name="Shape 6"/>
          <p:cNvSpPr/>
          <p:nvPr/>
        </p:nvSpPr>
        <p:spPr>
          <a:xfrm>
            <a:off x="3985345" y="5363556"/>
            <a:ext cx="45720" cy="457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9" name="Shape 7"/>
          <p:cNvSpPr/>
          <p:nvPr/>
        </p:nvSpPr>
        <p:spPr>
          <a:xfrm>
            <a:off x="4915622" y="5205766"/>
            <a:ext cx="45720" cy="457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0" name="Shape 8"/>
          <p:cNvSpPr/>
          <p:nvPr/>
        </p:nvSpPr>
        <p:spPr>
          <a:xfrm>
            <a:off x="4033221" y="4637184"/>
            <a:ext cx="45720" cy="457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1" name="Shape 9"/>
          <p:cNvSpPr/>
          <p:nvPr/>
        </p:nvSpPr>
        <p:spPr>
          <a:xfrm>
            <a:off x="5103913" y="5304086"/>
            <a:ext cx="45720" cy="457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2" name="Shape 10"/>
          <p:cNvSpPr/>
          <p:nvPr/>
        </p:nvSpPr>
        <p:spPr>
          <a:xfrm>
            <a:off x="3583751" y="4521545"/>
            <a:ext cx="45720" cy="457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3" name="Shape 11"/>
          <p:cNvSpPr/>
          <p:nvPr/>
        </p:nvSpPr>
        <p:spPr>
          <a:xfrm>
            <a:off x="3735289" y="5228725"/>
            <a:ext cx="45720" cy="457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4" name="Shape 12"/>
          <p:cNvSpPr/>
          <p:nvPr/>
        </p:nvSpPr>
        <p:spPr>
          <a:xfrm>
            <a:off x="5452810" y="5388354"/>
            <a:ext cx="45720" cy="457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5" name="Shape 13"/>
          <p:cNvSpPr/>
          <p:nvPr/>
        </p:nvSpPr>
        <p:spPr>
          <a:xfrm>
            <a:off x="4697706" y="5374244"/>
            <a:ext cx="45720" cy="457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6" name="Shape 14"/>
          <p:cNvSpPr/>
          <p:nvPr/>
        </p:nvSpPr>
        <p:spPr>
          <a:xfrm>
            <a:off x="3313801" y="4687982"/>
            <a:ext cx="45720" cy="457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7" name="Shape 15"/>
          <p:cNvSpPr/>
          <p:nvPr/>
        </p:nvSpPr>
        <p:spPr>
          <a:xfrm>
            <a:off x="3835216" y="4876148"/>
            <a:ext cx="45720" cy="457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8" name="Shape 16"/>
          <p:cNvSpPr/>
          <p:nvPr/>
        </p:nvSpPr>
        <p:spPr>
          <a:xfrm>
            <a:off x="3996796" y="5248453"/>
            <a:ext cx="45720" cy="457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9" name="Shape 17"/>
          <p:cNvSpPr/>
          <p:nvPr/>
        </p:nvSpPr>
        <p:spPr>
          <a:xfrm>
            <a:off x="3239891" y="5146506"/>
            <a:ext cx="45720" cy="457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0" name="Shape 18"/>
          <p:cNvSpPr/>
          <p:nvPr/>
        </p:nvSpPr>
        <p:spPr>
          <a:xfrm>
            <a:off x="5239130" y="5075236"/>
            <a:ext cx="45720" cy="457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1" name="Shape 19"/>
          <p:cNvSpPr/>
          <p:nvPr/>
        </p:nvSpPr>
        <p:spPr>
          <a:xfrm>
            <a:off x="4020285" y="5045398"/>
            <a:ext cx="45720" cy="457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2" name="Shape 20"/>
          <p:cNvSpPr/>
          <p:nvPr/>
        </p:nvSpPr>
        <p:spPr>
          <a:xfrm>
            <a:off x="3318454" y="4460268"/>
            <a:ext cx="45720" cy="457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3" name="Shape 21"/>
          <p:cNvSpPr/>
          <p:nvPr/>
        </p:nvSpPr>
        <p:spPr>
          <a:xfrm>
            <a:off x="3213661" y="4695847"/>
            <a:ext cx="45720" cy="457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4" name="Shape 22"/>
          <p:cNvSpPr/>
          <p:nvPr/>
        </p:nvSpPr>
        <p:spPr>
          <a:xfrm>
            <a:off x="3963047" y="4820577"/>
            <a:ext cx="45720" cy="457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5" name="Shape 23"/>
          <p:cNvSpPr/>
          <p:nvPr/>
        </p:nvSpPr>
        <p:spPr>
          <a:xfrm>
            <a:off x="2873175" y="5084950"/>
            <a:ext cx="45720" cy="457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6" name="Shape 24"/>
          <p:cNvSpPr/>
          <p:nvPr/>
        </p:nvSpPr>
        <p:spPr>
          <a:xfrm>
            <a:off x="5444262" y="4766848"/>
            <a:ext cx="45720" cy="457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7" name="Shape 25"/>
          <p:cNvSpPr/>
          <p:nvPr/>
        </p:nvSpPr>
        <p:spPr>
          <a:xfrm>
            <a:off x="3875020" y="4764024"/>
            <a:ext cx="45720" cy="457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8" name="Shape 26"/>
          <p:cNvSpPr/>
          <p:nvPr/>
        </p:nvSpPr>
        <p:spPr>
          <a:xfrm>
            <a:off x="5266649" y="5194553"/>
            <a:ext cx="45720" cy="457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9" name="Shape 27"/>
          <p:cNvSpPr/>
          <p:nvPr/>
        </p:nvSpPr>
        <p:spPr>
          <a:xfrm>
            <a:off x="2894707" y="4504941"/>
            <a:ext cx="45720" cy="457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0" name="Shape 28"/>
          <p:cNvSpPr/>
          <p:nvPr/>
        </p:nvSpPr>
        <p:spPr>
          <a:xfrm>
            <a:off x="5810167" y="4876203"/>
            <a:ext cx="45720" cy="457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1" name="Shape 29"/>
          <p:cNvSpPr/>
          <p:nvPr/>
        </p:nvSpPr>
        <p:spPr>
          <a:xfrm>
            <a:off x="3805784" y="4484625"/>
            <a:ext cx="45720" cy="457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2" name="Shape 30"/>
          <p:cNvSpPr/>
          <p:nvPr/>
        </p:nvSpPr>
        <p:spPr>
          <a:xfrm>
            <a:off x="4856729" y="4556592"/>
            <a:ext cx="45720" cy="457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3" name="Shape 31"/>
          <p:cNvSpPr/>
          <p:nvPr/>
        </p:nvSpPr>
        <p:spPr>
          <a:xfrm>
            <a:off x="5648095" y="4863039"/>
            <a:ext cx="45720" cy="457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4" name="Shape 32"/>
          <p:cNvSpPr/>
          <p:nvPr/>
        </p:nvSpPr>
        <p:spPr>
          <a:xfrm>
            <a:off x="5343756" y="5362004"/>
            <a:ext cx="45720" cy="457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5" name="Shape 33"/>
          <p:cNvSpPr/>
          <p:nvPr/>
        </p:nvSpPr>
        <p:spPr>
          <a:xfrm>
            <a:off x="3647903" y="4693505"/>
            <a:ext cx="45720" cy="457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6" name="Shape 34"/>
          <p:cNvSpPr/>
          <p:nvPr/>
        </p:nvSpPr>
        <p:spPr>
          <a:xfrm>
            <a:off x="3979156" y="4637891"/>
            <a:ext cx="45720" cy="457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7" name="Shape 35"/>
          <p:cNvSpPr/>
          <p:nvPr/>
        </p:nvSpPr>
        <p:spPr>
          <a:xfrm>
            <a:off x="5544413" y="4472424"/>
            <a:ext cx="45720" cy="457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8" name="Shape 36"/>
          <p:cNvSpPr/>
          <p:nvPr/>
        </p:nvSpPr>
        <p:spPr>
          <a:xfrm>
            <a:off x="4423340" y="5340516"/>
            <a:ext cx="45720" cy="457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9" name="Shape 37"/>
          <p:cNvSpPr/>
          <p:nvPr/>
        </p:nvSpPr>
        <p:spPr>
          <a:xfrm>
            <a:off x="5303603" y="5142667"/>
            <a:ext cx="45720" cy="457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40" name="Shape 38"/>
          <p:cNvSpPr/>
          <p:nvPr/>
        </p:nvSpPr>
        <p:spPr>
          <a:xfrm>
            <a:off x="5417203" y="5071428"/>
            <a:ext cx="45720" cy="457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41" name="Shape 39"/>
          <p:cNvSpPr/>
          <p:nvPr/>
        </p:nvSpPr>
        <p:spPr>
          <a:xfrm>
            <a:off x="4767521" y="4597317"/>
            <a:ext cx="45720" cy="457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42" name="Shape 40"/>
          <p:cNvSpPr/>
          <p:nvPr/>
        </p:nvSpPr>
        <p:spPr>
          <a:xfrm>
            <a:off x="4638827" y="4423596"/>
            <a:ext cx="45720" cy="457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43" name="Shape 41"/>
          <p:cNvSpPr/>
          <p:nvPr/>
        </p:nvSpPr>
        <p:spPr>
          <a:xfrm>
            <a:off x="4302860" y="5033990"/>
            <a:ext cx="45720" cy="457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44" name="Shape 42"/>
          <p:cNvSpPr/>
          <p:nvPr/>
        </p:nvSpPr>
        <p:spPr>
          <a:xfrm>
            <a:off x="4283467" y="4592728"/>
            <a:ext cx="45720" cy="457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45" name="Shape 43"/>
          <p:cNvSpPr/>
          <p:nvPr/>
        </p:nvSpPr>
        <p:spPr>
          <a:xfrm>
            <a:off x="4681327" y="5027899"/>
            <a:ext cx="45720" cy="457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46" name="Shape 44"/>
          <p:cNvSpPr/>
          <p:nvPr/>
        </p:nvSpPr>
        <p:spPr>
          <a:xfrm>
            <a:off x="3192169" y="4571253"/>
            <a:ext cx="45720" cy="457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583680" y="39776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(coherent) — next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583680" y="4297680"/>
            <a:ext cx="3291840" cy="1188720"/>
          </a:xfrm>
          <a:prstGeom prst="rect">
            <a:avLst/>
          </a:prstGeom>
          <a:solidFill>
            <a:srgbClr val="F7FAFB"/>
          </a:solidFill>
          <a:ln w="12700">
            <a:solidFill>
              <a:srgbClr val="CBD8E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406640" y="4434840"/>
            <a:ext cx="1645920" cy="914400"/>
          </a:xfrm>
          <a:prstGeom prst="ellipse">
            <a:avLst/>
          </a:prstGeom>
          <a:solidFill>
            <a:srgbClr val="D8EEDF"/>
          </a:solidFill>
          <a:ln w="19050">
            <a:solidFill>
              <a:srgbClr val="1E7A4C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57200" y="6547104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13 · LECTURE 2  |  HOUR 26  ·  FINAL LECTURE</a:t>
            </a:r>
            <a:endParaRPr lang="en-US" sz="800" dirty="0"/>
          </a:p>
        </p:txBody>
      </p:sp>
      <p:sp>
        <p:nvSpPr>
          <p:cNvPr id="51" name="Text 49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 2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02920" y="1417320"/>
            <a:ext cx="219456" cy="411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417320"/>
            <a:ext cx="41148" cy="21945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1289304" y="1417320"/>
            <a:ext cx="219456" cy="411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1467612" y="1417320"/>
            <a:ext cx="41148" cy="21945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2382012"/>
            <a:ext cx="219456" cy="411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2203704"/>
            <a:ext cx="41148" cy="21945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1289304" y="2382012"/>
            <a:ext cx="219456" cy="411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1467612" y="2203704"/>
            <a:ext cx="41148" cy="21945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1463040"/>
            <a:ext cx="914400" cy="914400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14630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1737360" y="14173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Grad-CAM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1783080" y="2286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Selvaraju et al., 2017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880360"/>
            <a:ext cx="10881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“Grad-CAM: Visual Explanations from Deep Networks via Gradient-based Localization”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</a:t>
            </a:r>
            <a:endParaRPr lang="en-US" sz="1400" dirty="0"/>
          </a:p>
          <a:p>
            <a:pPr lvl="1" marL="685800" indent="-342900"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backpropagating all the way to input pixels, stop at the LAST convolutional layer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 coarser, but far more semantically coherent and class-discriminative localization map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47104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13 · LECTURE 2  |  HOUR 26  ·  FINAL LECTURE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· WHY IT WORKS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Last Convolutional Layer?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611880" cy="4114800"/>
          </a:xfrm>
          <a:prstGeom prst="roundRect">
            <a:avLst>
              <a:gd name="adj" fmla="val 2025"/>
            </a:avLst>
          </a:prstGeom>
          <a:solidFill>
            <a:srgbClr val="EEF3F6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920240"/>
            <a:ext cx="3611880" cy="640080"/>
          </a:xfrm>
          <a:prstGeom prst="rect">
            <a:avLst/>
          </a:prstGeom>
          <a:solidFill>
            <a:srgbClr val="B23A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92024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Fully-Connected Layers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43200"/>
            <a:ext cx="3154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 spatial structure entirely — there's no meaningful 2D map left to visualize here.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0" y="1920240"/>
            <a:ext cx="3611880" cy="4114800"/>
          </a:xfrm>
          <a:prstGeom prst="roundRect">
            <a:avLst>
              <a:gd name="adj" fmla="val 2025"/>
            </a:avLst>
          </a:prstGeom>
          <a:solidFill>
            <a:srgbClr val="EEF3F6"/>
          </a:solidFill>
          <a:ln/>
        </p:spPr>
      </p:sp>
      <p:sp>
        <p:nvSpPr>
          <p:cNvPr id="9" name="Shape 7"/>
          <p:cNvSpPr/>
          <p:nvPr/>
        </p:nvSpPr>
        <p:spPr>
          <a:xfrm>
            <a:off x="4297680" y="1920240"/>
            <a:ext cx="3611880" cy="640080"/>
          </a:xfrm>
          <a:prstGeom prst="rect">
            <a:avLst/>
          </a:prstGeom>
          <a:solidFill>
            <a:srgbClr val="8A4A1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297680" y="192024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Conv Layers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743200"/>
            <a:ext cx="3154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spatial structure, but capture only low-level features — edges, textures, not object-level semantics.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1920240"/>
            <a:ext cx="3611880" cy="4114800"/>
          </a:xfrm>
          <a:prstGeom prst="roundRect">
            <a:avLst>
              <a:gd name="adj" fmla="val 2025"/>
            </a:avLst>
          </a:prstGeom>
          <a:solidFill>
            <a:srgbClr val="D8EEDF"/>
          </a:solidFill>
          <a:ln w="19050">
            <a:solidFill>
              <a:srgbClr val="1E7A4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1920240"/>
            <a:ext cx="3611880" cy="640080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46720" y="192024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Conv Layer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2743200"/>
            <a:ext cx="3154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sweet spot: high-level semantic features (“has fur,” “has wheels”) that STILL retain a spatial grid mapping back to the image.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47104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13 · LECTURE 2  |  HOUR 26  ·  FINAL LECTURE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· THE RECIPE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Algorithm, Step by Step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09928"/>
            <a:ext cx="457200" cy="457200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09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143000" y="1691640"/>
            <a:ext cx="10515600" cy="640080"/>
          </a:xfrm>
          <a:prstGeom prst="roundRect">
            <a:avLst>
              <a:gd name="adj" fmla="val 10000"/>
            </a:avLst>
          </a:prstGeom>
          <a:solidFill>
            <a:srgbClr val="EEF3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25880" y="169164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 the image:  </a:t>
            </a:r>
            <a:pPr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score for the target class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457200" cy="457200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487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43000" y="2468880"/>
            <a:ext cx="10515600" cy="640080"/>
          </a:xfrm>
          <a:prstGeom prst="roundRect">
            <a:avLst>
              <a:gd name="adj" fmla="val 10000"/>
            </a:avLst>
          </a:prstGeom>
          <a:solidFill>
            <a:srgbClr val="EEF3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325880" y="246888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Backpropagate the gradient:  </a:t>
            </a:r>
            <a:pPr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that class score to the last conv layer's feature maps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264408"/>
            <a:ext cx="457200" cy="457200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264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143000" y="3246120"/>
            <a:ext cx="10515600" cy="640080"/>
          </a:xfrm>
          <a:prstGeom prst="roundRect">
            <a:avLst>
              <a:gd name="adj" fmla="val 10000"/>
            </a:avLst>
          </a:prstGeom>
          <a:solidFill>
            <a:srgbClr val="EEF3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325880" y="32461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Global-average-pool the gradients:  </a:t>
            </a:r>
            <a:pPr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feature map channel → one importance weight per channel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041648"/>
            <a:ext cx="457200" cy="457200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041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143000" y="4023360"/>
            <a:ext cx="10515600" cy="640080"/>
          </a:xfrm>
          <a:prstGeom prst="roundRect">
            <a:avLst>
              <a:gd name="adj" fmla="val 10000"/>
            </a:avLst>
          </a:prstGeom>
          <a:solidFill>
            <a:srgbClr val="EEF3F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325880" y="402336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sum of feature maps:  </a:t>
            </a:r>
            <a:pPr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those importance weights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818888"/>
            <a:ext cx="457200" cy="457200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48188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143000" y="4800600"/>
            <a:ext cx="10515600" cy="640080"/>
          </a:xfrm>
          <a:prstGeom prst="roundRect">
            <a:avLst>
              <a:gd name="adj" fmla="val 10000"/>
            </a:avLst>
          </a:prstGeom>
          <a:solidFill>
            <a:srgbClr val="EEF3F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325880" y="480060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ReLU:  </a:t>
            </a:r>
            <a:pPr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only positive influence → the localization map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596128"/>
            <a:ext cx="457200" cy="457200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5596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143000" y="5577840"/>
            <a:ext cx="10515600" cy="640080"/>
          </a:xfrm>
          <a:prstGeom prst="roundRect">
            <a:avLst>
              <a:gd name="adj" fmla="val 10000"/>
            </a:avLst>
          </a:prstGeom>
          <a:solidFill>
            <a:srgbClr val="EEF3F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325880" y="557784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Upsample &amp; overlay:  </a:t>
            </a:r>
            <a:pPr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to the input image and overlay as a heatmap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47104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13 · LECTURE 2  |  HOUR 26  ·  FINAL LECTURE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· THE MATH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Grad-CAM Formula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88720" y="1737360"/>
            <a:ext cx="9784080" cy="914400"/>
          </a:xfrm>
          <a:prstGeom prst="roundRect">
            <a:avLst>
              <a:gd name="adj" fmla="val 8000"/>
            </a:avLst>
          </a:prstGeom>
          <a:solidFill>
            <a:srgbClr val="0F2A4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88720" y="1737360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α</a:t>
            </a:r>
            <a:pPr algn="ctr" indent="0" marL="0">
              <a:buNone/>
            </a:pPr>
            <a:r>
              <a:rPr lang="en-US" sz="100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GlobalAvgPool( ∂y</a:t>
            </a:r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∂A</a:t>
            </a:r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188720" y="2834640"/>
            <a:ext cx="9784080" cy="914400"/>
          </a:xfrm>
          <a:prstGeom prst="roundRect">
            <a:avLst>
              <a:gd name="adj" fmla="val 8000"/>
            </a:avLst>
          </a:prstGeom>
          <a:solidFill>
            <a:srgbClr val="0F2A4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88720" y="2834640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ReLU( Σ</a:t>
            </a:r>
            <a:pPr algn="ctr" indent="0" marL="0">
              <a:buNone/>
            </a:pPr>
            <a:r>
              <a:rPr lang="en-US" sz="100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algn="ctr" indent="0" marL="0">
              <a:buNone/>
            </a:pPr>
            <a:r>
              <a:rPr lang="en-US" sz="180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α</a:t>
            </a:r>
            <a:pPr algn="ctr" indent="0" marL="0">
              <a:buNone/>
            </a:pPr>
            <a:r>
              <a:rPr lang="en-US" sz="100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</a:t>
            </a:r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)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0"/>
            <a:ext cx="10972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αₖ (the weight):</a:t>
            </a:r>
            <a:endParaRPr lang="en-US" sz="1400" dirty="0"/>
          </a:p>
          <a:p>
            <a:pPr lvl="1" marL="685800" indent="-342900"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importance weight for feature map channel k, specific to class c — how much that channel matters for THIS class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Aₖ (the feature map):</a:t>
            </a:r>
            <a:endParaRPr lang="en-US" sz="1400" dirty="0"/>
          </a:p>
          <a:p>
            <a:pPr lvl="1" marL="685800" indent="-342900"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feature map for channel k from the last convolutional layer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4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matters here:</a:t>
            </a:r>
            <a:endParaRPr lang="en-US" sz="1400" dirty="0"/>
          </a:p>
          <a:p>
            <a:pPr lvl="1" marL="685800" indent="-342900"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only care about features with a POSITIVE influence on the class of interest, not features arguing against it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547104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13 · LECTURE 2  |  HOUR 26  ·  FINAL LECTURE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· IN ACTION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Class-Discriminative by Design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0972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resulting heatmap: warm colors (red/orange) over the region driving the prediction, cool colors elsewhere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Class-discriminative:</a:t>
            </a:r>
            <a:endParaRPr lang="en-US" sz="1400" dirty="0"/>
          </a:p>
          <a:p>
            <a:pPr lvl="1" marL="685800" indent="-342900"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pointing Grad-CAM at “dog” vs. “cat” on the SAME image (if both are present) produces two DIFFERENT heatmaps, each correctly localizing its own class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something vanilla saliency maps struggle to do cleanly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33832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CLASS: “DOG”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97280" y="3749040"/>
            <a:ext cx="4937760" cy="1828800"/>
          </a:xfrm>
          <a:prstGeom prst="rect">
            <a:avLst/>
          </a:prstGeom>
          <a:solidFill>
            <a:srgbClr val="EFEAE3"/>
          </a:solidFill>
          <a:ln w="12700">
            <a:solidFill>
              <a:srgbClr val="CBD8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0" y="4023360"/>
            <a:ext cx="1828800" cy="1371600"/>
          </a:xfrm>
          <a:prstGeom prst="ellipse">
            <a:avLst/>
          </a:prstGeom>
          <a:solidFill>
            <a:srgbClr val="FF6B35">
              <a:alpha val="7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023360" y="4206240"/>
            <a:ext cx="1280160" cy="1005840"/>
          </a:xfrm>
          <a:prstGeom prst="ellipse">
            <a:avLst/>
          </a:prstGeom>
          <a:solidFill>
            <a:srgbClr val="9DB4C4">
              <a:alpha val="45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0" y="33832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CLASS: “CAT”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83680" y="3749040"/>
            <a:ext cx="4937760" cy="1828800"/>
          </a:xfrm>
          <a:prstGeom prst="rect">
            <a:avLst/>
          </a:prstGeom>
          <a:solidFill>
            <a:srgbClr val="EFEAE3"/>
          </a:solidFill>
          <a:ln w="12700">
            <a:solidFill>
              <a:srgbClr val="CBD8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4023360"/>
            <a:ext cx="1828800" cy="1371600"/>
          </a:xfrm>
          <a:prstGeom prst="ellipse">
            <a:avLst/>
          </a:prstGeom>
          <a:solidFill>
            <a:srgbClr val="9DB4C4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509760" y="4206240"/>
            <a:ext cx="1280160" cy="1005840"/>
          </a:xfrm>
          <a:prstGeom prst="ellipse">
            <a:avLst/>
          </a:prstGeom>
          <a:solidFill>
            <a:srgbClr val="FF6B35">
              <a:alpha val="75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97280" y="571500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image, same network — the heatmap moves to whichever object matches the requested class.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547104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13 · LECTURE 2  |  HOUR 26  ·  FINAL LECTURE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Grad-CAM vs. Vanilla Saliency Maps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30175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" y="1783080"/>
            <a:ext cx="2798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840480" y="1783080"/>
            <a:ext cx="4023360" cy="502920"/>
          </a:xfrm>
          <a:prstGeom prst="rect">
            <a:avLst/>
          </a:prstGeom>
          <a:solidFill>
            <a:srgbClr val="8A4A1E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950208" y="1783080"/>
            <a:ext cx="3803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Saliency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863840" y="1783080"/>
            <a:ext cx="4023360" cy="502920"/>
          </a:xfrm>
          <a:prstGeom prst="rect">
            <a:avLst/>
          </a:prstGeom>
          <a:solidFill>
            <a:srgbClr val="1E7A4C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973568" y="1783080"/>
            <a:ext cx="3803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2286000"/>
            <a:ext cx="3017520" cy="502920"/>
          </a:xfrm>
          <a:prstGeom prst="rect">
            <a:avLst/>
          </a:prstGeom>
          <a:solidFill>
            <a:srgbClr val="EEF3F6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32688" y="2286000"/>
            <a:ext cx="2798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840480" y="2286000"/>
            <a:ext cx="4023360" cy="502920"/>
          </a:xfrm>
          <a:prstGeom prst="rect">
            <a:avLst/>
          </a:prstGeom>
          <a:solidFill>
            <a:srgbClr val="F8FAFB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950208" y="2286000"/>
            <a:ext cx="3803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Pixel-precise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863840" y="2286000"/>
            <a:ext cx="4023360" cy="502920"/>
          </a:xfrm>
          <a:prstGeom prst="rect">
            <a:avLst/>
          </a:prstGeom>
          <a:solidFill>
            <a:srgbClr val="F8FAFB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973568" y="2286000"/>
            <a:ext cx="3803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 (conv feature-map size)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2788920"/>
            <a:ext cx="3017520" cy="502920"/>
          </a:xfrm>
          <a:prstGeom prst="rect">
            <a:avLst/>
          </a:prstGeom>
          <a:solidFill>
            <a:srgbClr val="EEF3F6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2688" y="2788920"/>
            <a:ext cx="2798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level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840480" y="2788920"/>
            <a:ext cx="40233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950208" y="2788920"/>
            <a:ext cx="3803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Noisy, scattered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863840" y="2788920"/>
            <a:ext cx="40233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973568" y="2788920"/>
            <a:ext cx="3803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Smooth, coherent regions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960" y="3291840"/>
            <a:ext cx="3017520" cy="502920"/>
          </a:xfrm>
          <a:prstGeom prst="rect">
            <a:avLst/>
          </a:prstGeom>
          <a:solidFill>
            <a:srgbClr val="EEF3F6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32688" y="3291840"/>
            <a:ext cx="2798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Class-discriminative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840480" y="3291840"/>
            <a:ext cx="4023360" cy="502920"/>
          </a:xfrm>
          <a:prstGeom prst="rect">
            <a:avLst/>
          </a:prstGeom>
          <a:solidFill>
            <a:srgbClr val="F8FAFB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950208" y="3291840"/>
            <a:ext cx="3803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863840" y="3291840"/>
            <a:ext cx="4023360" cy="502920"/>
          </a:xfrm>
          <a:prstGeom prst="rect">
            <a:avLst/>
          </a:prstGeom>
          <a:solidFill>
            <a:srgbClr val="F8FAFB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973568" y="3291840"/>
            <a:ext cx="3803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— by design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22960" y="3794760"/>
            <a:ext cx="3017520" cy="502920"/>
          </a:xfrm>
          <a:prstGeom prst="rect">
            <a:avLst/>
          </a:prstGeom>
          <a:solidFill>
            <a:srgbClr val="EEF3F6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32688" y="3794760"/>
            <a:ext cx="2798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cost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840480" y="3794760"/>
            <a:ext cx="40233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950208" y="3794760"/>
            <a:ext cx="3803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backward pass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863840" y="3794760"/>
            <a:ext cx="40233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973568" y="3794760"/>
            <a:ext cx="3803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backward pass (similar)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2960" y="4572000"/>
            <a:ext cx="10561320" cy="1005840"/>
          </a:xfrm>
          <a:prstGeom prst="roundRect">
            <a:avLst>
              <a:gd name="adj" fmla="val 7273"/>
            </a:avLst>
          </a:prstGeom>
          <a:solidFill>
            <a:srgbClr val="0F2A47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005840" y="4572000"/>
            <a:ext cx="10195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Grad-CAM: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guided backpropagation's fine pixel detail with Grad-CAM's class-discriminative localization — getting both at once.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547104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13 · LECTURE 2  |  HOUR 26  ·  FINAL LECTURE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Applications of Grad-CAM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10512"/>
            <a:ext cx="530352" cy="530352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1051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234440" y="1737360"/>
            <a:ext cx="10424160" cy="868680"/>
          </a:xfrm>
          <a:prstGeom prst="roundRect">
            <a:avLst>
              <a:gd name="adj" fmla="val 7368"/>
            </a:avLst>
          </a:prstGeom>
          <a:solidFill>
            <a:srgbClr val="EEF3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63040" y="182880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Model Failures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14884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whether the model is looking at the actual object, or a spurious cue it picked up by accident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862072"/>
            <a:ext cx="530352" cy="530352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86207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234440" y="2788920"/>
            <a:ext cx="10424160" cy="868680"/>
          </a:xfrm>
          <a:prstGeom prst="roundRect">
            <a:avLst>
              <a:gd name="adj" fmla="val 7368"/>
            </a:avLst>
          </a:prstGeom>
          <a:solidFill>
            <a:srgbClr val="EEF3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463040" y="288036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Trust with Domain Experts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20040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radiologist can check whether a model attends to the true lesion, not an unrelated artifact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913632"/>
            <a:ext cx="530352" cy="530352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91363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234440" y="3840480"/>
            <a:ext cx="10424160" cy="868680"/>
          </a:xfrm>
          <a:prstGeom prst="roundRect">
            <a:avLst>
              <a:gd name="adj" fmla="val 7368"/>
            </a:avLst>
          </a:prstGeom>
          <a:solidFill>
            <a:srgbClr val="EEF3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463040" y="393192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Dataset Bias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25196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Catching a model that keys on a watermark, background, or other confound instead of the intended object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965192"/>
            <a:ext cx="530352" cy="530352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96519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234440" y="4892040"/>
            <a:ext cx="10424160" cy="868680"/>
          </a:xfrm>
          <a:prstGeom prst="roundRect">
            <a:avLst>
              <a:gd name="adj" fmla="val 7368"/>
            </a:avLst>
          </a:prstGeom>
          <a:solidFill>
            <a:srgbClr val="EEF3F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463040" y="498348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Weakly-Supervised Localization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530352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a rough “where is the object” signal from a classifier, without ever training on box annotations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47104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13 · LECTURE 2  |  HOUR 26  ·  FINAL LECTURE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 LOOK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Caveats of Grad-CAM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109960" cy="896112"/>
          </a:xfrm>
          <a:prstGeom prst="roundRect">
            <a:avLst>
              <a:gd name="adj" fmla="val 8163"/>
            </a:avLst>
          </a:prstGeom>
          <a:solidFill>
            <a:srgbClr val="EEF3F6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3474720" cy="896112"/>
          </a:xfrm>
          <a:prstGeom prst="rect">
            <a:avLst/>
          </a:prstGeom>
          <a:solidFill>
            <a:srgbClr val="B23A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691640"/>
            <a:ext cx="3154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Hypothesis, Not Proof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1783080"/>
            <a:ext cx="7269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hypothesis about what mattered for this prediction — not a rigorous causal guarantee.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724912"/>
            <a:ext cx="11109960" cy="896112"/>
          </a:xfrm>
          <a:prstGeom prst="roundRect">
            <a:avLst>
              <a:gd name="adj" fmla="val 8163"/>
            </a:avLst>
          </a:prstGeom>
          <a:solidFill>
            <a:srgbClr val="EEF3F6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724912"/>
            <a:ext cx="3474720" cy="896112"/>
          </a:xfrm>
          <a:prstGeom prst="rect">
            <a:avLst/>
          </a:prstGeom>
          <a:solidFill>
            <a:srgbClr val="8A4A1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724912"/>
            <a:ext cx="3154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Resolution-Limited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2816352"/>
            <a:ext cx="7269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by the spatial size of the last conv feature map — can't precisely localize very small or fine details.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758184"/>
            <a:ext cx="11109960" cy="896112"/>
          </a:xfrm>
          <a:prstGeom prst="roundRect">
            <a:avLst>
              <a:gd name="adj" fmla="val 8163"/>
            </a:avLst>
          </a:prstGeom>
          <a:solidFill>
            <a:srgbClr val="EEF3F6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758184"/>
            <a:ext cx="3474720" cy="896112"/>
          </a:xfrm>
          <a:prstGeom prst="rect">
            <a:avLst/>
          </a:prstGeom>
          <a:solidFill>
            <a:srgbClr val="4A6B8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3758184"/>
            <a:ext cx="3154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Manipulated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206240" y="3849624"/>
            <a:ext cx="7269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adversarial settings, a model can be crafted to produce a convincing-looking but misleading explanation.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791456"/>
            <a:ext cx="11109960" cy="896112"/>
          </a:xfrm>
          <a:prstGeom prst="roundRect">
            <a:avLst>
              <a:gd name="adj" fmla="val 8163"/>
            </a:avLst>
          </a:prstGeom>
          <a:solidFill>
            <a:srgbClr val="EEF3F6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791456"/>
            <a:ext cx="3474720" cy="896112"/>
          </a:xfrm>
          <a:prstGeom prst="rect">
            <a:avLst/>
          </a:prstGeom>
          <a:solidFill>
            <a:srgbClr val="5C6B7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4791456"/>
            <a:ext cx="3154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Local, Single-Prediction View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206240" y="4882896"/>
            <a:ext cx="7269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explain the model's behavior on OTHER inputs, or non-visual factors.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916168"/>
            <a:ext cx="11109960" cy="502920"/>
          </a:xfrm>
          <a:prstGeom prst="roundRect">
            <a:avLst>
              <a:gd name="adj" fmla="val 12727"/>
            </a:avLst>
          </a:prstGeom>
          <a:solidFill>
            <a:srgbClr val="0F2A4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591616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Grad-CAM as a diagnostic tool that generates hypotheses — not as definitive proof of causality.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47104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13 · LECTURE 2  |  HOUR 26  ·  FINAL LECTURE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WIDER TOOLKIT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Interpretability Beyond Grad-CAM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109960" cy="886968"/>
          </a:xfrm>
          <a:prstGeom prst="roundRect">
            <a:avLst>
              <a:gd name="adj" fmla="val 7216"/>
            </a:avLst>
          </a:prstGeom>
          <a:solidFill>
            <a:srgbClr val="EEF3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27432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Integrated Gradients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3611880" y="1737360"/>
            <a:ext cx="77724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Accumulates gradients along a path from a baseline (e.g. a black image) to the actual input — addresses some of vanilla saliency's noise.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11109960" cy="886968"/>
          </a:xfrm>
          <a:prstGeom prst="roundRect">
            <a:avLst>
              <a:gd name="adj" fmla="val 7216"/>
            </a:avLst>
          </a:prstGeom>
          <a:solidFill>
            <a:srgbClr val="EEF3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788920"/>
            <a:ext cx="27432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 / LIME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2788920"/>
            <a:ext cx="77724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Model-agnostic, perturbation-based methods — explain ANY model by testing how predictions change as inputs are perturbed.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11109960" cy="886968"/>
          </a:xfrm>
          <a:prstGeom prst="roundRect">
            <a:avLst>
              <a:gd name="adj" fmla="val 7216"/>
            </a:avLst>
          </a:prstGeom>
          <a:solidFill>
            <a:srgbClr val="EEF3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840480"/>
            <a:ext cx="27432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Attention Visualization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3840480"/>
            <a:ext cx="77724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Transformer-based models like ViT and CLIP (Weeks 11–13): visualize attention weights directly to see which patches or tokens the model focused 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892040"/>
            <a:ext cx="11109960" cy="886968"/>
          </a:xfrm>
          <a:prstGeom prst="roundRect">
            <a:avLst>
              <a:gd name="adj" fmla="val 7216"/>
            </a:avLst>
          </a:prstGeom>
          <a:solidFill>
            <a:srgbClr val="EEF3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4892040"/>
            <a:ext cx="27432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Counterfactual Explanations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3611880" y="4892040"/>
            <a:ext cx="77724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“What's the smallest change to this input that would flip the prediction?”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47104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13 · LECTURE 2  |  HOUR 26  ·  FINAL LECTURE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CIRCLE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Interpretability Across This Whole Course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0972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tools apply across nearly everything we've built this semester: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</a:t>
            </a:r>
            <a:endParaRPr lang="en-US" sz="1300" dirty="0"/>
          </a:p>
          <a:p>
            <a:pPr lvl="1" marL="685800" indent="-342900"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any CNN classifier from the early weeks of the course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(or similar)</a:t>
            </a:r>
            <a:endParaRPr lang="en-US" sz="1300" dirty="0"/>
          </a:p>
          <a:p>
            <a:pPr lvl="1" marL="685800" indent="-342900"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detector's backbone, to see what drives a specific detection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4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visualization</a:t>
            </a:r>
            <a:endParaRPr lang="en-US" sz="1300" dirty="0"/>
          </a:p>
          <a:p>
            <a:pPr lvl="1" marL="685800" indent="-342900"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ViT and CLIP models from our last few weeks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4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 isn't a separate field bolted onto deep learning — it's a lens you can apply to almost any model you've learned to build this semester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5029200"/>
            <a:ext cx="2057400" cy="777240"/>
          </a:xfrm>
          <a:prstGeom prst="roundRect">
            <a:avLst>
              <a:gd name="adj" fmla="val 8235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02920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98648" y="5029200"/>
            <a:ext cx="2057400" cy="777240"/>
          </a:xfrm>
          <a:prstGeom prst="roundRect">
            <a:avLst>
              <a:gd name="adj" fmla="val 8235"/>
            </a:avLst>
          </a:prstGeom>
          <a:solidFill>
            <a:srgbClr val="FF6B3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898648" y="502920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157216" y="5029200"/>
            <a:ext cx="2057400" cy="777240"/>
          </a:xfrm>
          <a:prstGeom prst="roundRect">
            <a:avLst>
              <a:gd name="adj" fmla="val 8235"/>
            </a:avLst>
          </a:prstGeom>
          <a:solidFill>
            <a:srgbClr val="1E7A4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157216" y="502920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15784" y="5029200"/>
            <a:ext cx="2057400" cy="777240"/>
          </a:xfrm>
          <a:prstGeom prst="roundRect">
            <a:avLst>
              <a:gd name="adj" fmla="val 8235"/>
            </a:avLst>
          </a:prstGeom>
          <a:solidFill>
            <a:srgbClr val="4A6B8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15784" y="502920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674352" y="5029200"/>
            <a:ext cx="2057400" cy="777240"/>
          </a:xfrm>
          <a:prstGeom prst="roundRect">
            <a:avLst>
              <a:gd name="adj" fmla="val 8235"/>
            </a:avLst>
          </a:prstGeom>
          <a:solidFill>
            <a:srgbClr val="8A4A1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74352" y="502920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Vision-Language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89788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 Grad-CAM / attention visualization can be applied at every stage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47104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13 · LECTURE 2  |  HOUR 26  ·  FINAL LECTURE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WRAP-UP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75488" cy="475488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38988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E6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Saliency maps show raw, gradient-based pixel influence — fast, but often noisy and not class-discriminative</a:t>
            </a:r>
            <a:endParaRPr lang="en-US" sz="1230" dirty="0"/>
          </a:p>
        </p:txBody>
      </p:sp>
      <p:sp>
        <p:nvSpPr>
          <p:cNvPr id="7" name="Shape 5"/>
          <p:cNvSpPr/>
          <p:nvPr/>
        </p:nvSpPr>
        <p:spPr>
          <a:xfrm>
            <a:off x="548640" y="2130552"/>
            <a:ext cx="475488" cy="475488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1305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1031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E6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uses gradients at the last conv layer for coherent, class-discriminative localization maps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548640" y="2843784"/>
            <a:ext cx="475488" cy="475488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84378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2816352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E6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diagnostic tools that generate hypotheses about model behavior — not proofs of causality</a:t>
            </a:r>
            <a:endParaRPr lang="en-US" sz="1230" dirty="0"/>
          </a:p>
        </p:txBody>
      </p:sp>
      <p:sp>
        <p:nvSpPr>
          <p:cNvPr id="13" name="Shape 11"/>
          <p:cNvSpPr/>
          <p:nvPr/>
        </p:nvSpPr>
        <p:spPr>
          <a:xfrm>
            <a:off x="548640" y="3557016"/>
            <a:ext cx="475488" cy="475488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55701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529584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E6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semester's arc: CNNs → detection → segmentation → Transformers → generative models → vision-language models → and now, understanding all of it</a:t>
            </a:r>
            <a:endParaRPr lang="en-US" sz="1230" dirty="0"/>
          </a:p>
        </p:txBody>
      </p:sp>
      <p:sp>
        <p:nvSpPr>
          <p:cNvPr id="16" name="Shape 14"/>
          <p:cNvSpPr/>
          <p:nvPr/>
        </p:nvSpPr>
        <p:spPr>
          <a:xfrm>
            <a:off x="548640" y="4270248"/>
            <a:ext cx="475488" cy="475488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2702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242816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E6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vision models get deployed more widely, understanding WHY they work is just as important as making them work</a:t>
            </a:r>
            <a:endParaRPr lang="en-US" sz="1230" dirty="0"/>
          </a:p>
        </p:txBody>
      </p:sp>
      <p:sp>
        <p:nvSpPr>
          <p:cNvPr id="19" name="Shape 17"/>
          <p:cNvSpPr/>
          <p:nvPr/>
        </p:nvSpPr>
        <p:spPr>
          <a:xfrm>
            <a:off x="548640" y="51206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6385A"/>
          </a:solidFill>
          <a:ln w="15875">
            <a:solidFill>
              <a:srgbClr val="FF6B3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512064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a wrap.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Congratulations on completing Deep Learning for Computer Vision — from your first convolution to interpreting the models you've built. Thank you.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47104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13 · LECTURE 2  |  HOUR 26  ·  FINAL LECTURE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Week 13 · Lecture 2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Interpretability — Grad-CAM &amp; Saliency Maps</dc:title>
  <dc:subject>PptxGenJS Presentation</dc:subject>
  <dc:creator>Deep Learning for Computer Vision</dc:creator>
  <cp:lastModifiedBy>Deep Learning for Computer Vision</cp:lastModifiedBy>
  <cp:revision>1</cp:revision>
  <dcterms:created xsi:type="dcterms:W3CDTF">2026-09-06T05:48:08Z</dcterms:created>
  <dcterms:modified xsi:type="dcterms:W3CDTF">2026-09-06T05:48:08Z</dcterms:modified>
</cp:coreProperties>
</file>