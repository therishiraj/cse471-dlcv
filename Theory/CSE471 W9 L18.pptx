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015898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2031797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3047695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4063594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5079492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609539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7111289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8127187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9143086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10158984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11174882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979322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0" y="1958645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0" y="2937967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0" y="391729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0" y="4896612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0" y="5875934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3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8595360" y="1417320"/>
            <a:ext cx="36576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919972" y="1417320"/>
            <a:ext cx="4114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8595360" y="4713732"/>
            <a:ext cx="36576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919972" y="4389120"/>
            <a:ext cx="4114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WEEK 9  ·  LECTURE 2  ·  HOUR 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822960" y="2148840"/>
            <a:ext cx="10058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Evaluating Object Detectors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822960" y="315468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Mean Average Precision</a:t>
            </a:r>
            <a:r>
              <a:rPr b="0" i="0" lang="en-US" sz="2400" u="none" cap="none" strike="noStrike">
                <a:solidFill>
                  <a:srgbClr val="AEC4D8"/>
                </a:solidFill>
                <a:latin typeface="Cambria"/>
                <a:ea typeface="Cambria"/>
                <a:cs typeface="Cambria"/>
                <a:sym typeface="Cambria"/>
              </a:rPr>
              <a:t>  (mAP)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4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C4D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822960" y="5989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AC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FAAC2"/>
                </a:solidFill>
                <a:latin typeface="Calibri"/>
                <a:ea typeface="Calibri"/>
                <a:cs typeface="Calibri"/>
                <a:sym typeface="Calibri"/>
              </a:rPr>
              <a:t>If you can't measure it precisely, you can't compare YOLO, SSD, and RetinaNet fairly.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RECAP · PREVIOUS LECTURE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Why We Need a Rigorous Metric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Last lecture: YOLO, SSD and RetinaNet all output a set of boxes, each with a class label and a confidence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1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But how do we grade a detector's output?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Unlike classification, a detection can be right in class but wrong in location — or find some objects and miss others entirely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“Accuracy” doesn't even make sense here: there's no single right/wrong per image, just a set of boxes to compare against a set of ground-truth boxes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1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We need a metric that jointly captures localization quality AND classification quality, across every class and every confidence 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6720840" y="17830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Today: build up to mAP, step by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720840" y="2286000"/>
            <a:ext cx="859536" cy="1005840"/>
          </a:xfrm>
          <a:prstGeom prst="roundRect">
            <a:avLst>
              <a:gd fmla="val 8511" name="adj"/>
            </a:avLst>
          </a:prstGeom>
          <a:solidFill>
            <a:srgbClr val="EEF3F6"/>
          </a:solidFill>
          <a:ln cap="flat" cmpd="sng" w="12700">
            <a:solidFill>
              <a:srgbClr val="0F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6720840" y="2286000"/>
            <a:ext cx="859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IoU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589520" y="2724912"/>
            <a:ext cx="1051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703820" y="2286000"/>
            <a:ext cx="859536" cy="1005840"/>
          </a:xfrm>
          <a:prstGeom prst="roundRect">
            <a:avLst>
              <a:gd fmla="val 8511" name="adj"/>
            </a:avLst>
          </a:prstGeom>
          <a:solidFill>
            <a:srgbClr val="1C7293"/>
          </a:solidFill>
          <a:ln cap="flat" cmpd="sng" w="12700">
            <a:solidFill>
              <a:srgbClr val="0F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7703820" y="2286000"/>
            <a:ext cx="859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572500" y="2724912"/>
            <a:ext cx="1051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686800" y="2286000"/>
            <a:ext cx="859536" cy="1005840"/>
          </a:xfrm>
          <a:prstGeom prst="roundRect">
            <a:avLst>
              <a:gd fmla="val 8511" name="adj"/>
            </a:avLst>
          </a:prstGeom>
          <a:solidFill>
            <a:srgbClr val="1C7293"/>
          </a:solidFill>
          <a:ln cap="flat" cmpd="sng" w="12700">
            <a:solidFill>
              <a:srgbClr val="0F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8686800" y="2286000"/>
            <a:ext cx="859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555480" y="2724912"/>
            <a:ext cx="1051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669780" y="2286000"/>
            <a:ext cx="859536" cy="1005840"/>
          </a:xfrm>
          <a:prstGeom prst="roundRect">
            <a:avLst>
              <a:gd fmla="val 8511" name="adj"/>
            </a:avLst>
          </a:prstGeom>
          <a:solidFill>
            <a:srgbClr val="1C7293"/>
          </a:solidFill>
          <a:ln cap="flat" cmpd="sng" w="12700">
            <a:solidFill>
              <a:srgbClr val="0F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9669780" y="2286000"/>
            <a:ext cx="859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538460" y="2724912"/>
            <a:ext cx="1051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10652760" y="2286000"/>
            <a:ext cx="859536" cy="1005840"/>
          </a:xfrm>
          <a:prstGeom prst="roundRect">
            <a:avLst>
              <a:gd fmla="val 8511" name="adj"/>
            </a:avLst>
          </a:prstGeom>
          <a:solidFill>
            <a:srgbClr val="FF6B35"/>
          </a:solidFill>
          <a:ln cap="flat" cmpd="sng" w="12700">
            <a:solidFill>
              <a:srgbClr val="0F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10652760" y="2286000"/>
            <a:ext cx="859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(mAP)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720840" y="3566160"/>
            <a:ext cx="4937760" cy="1508760"/>
          </a:xfrm>
          <a:prstGeom prst="roundRect">
            <a:avLst>
              <a:gd fmla="val 4848" name="adj"/>
            </a:avLst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6949440" y="3566160"/>
            <a:ext cx="4480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The gold standard: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 is the metric used to report results in almost every detection paper and benchmark — PASCAL VOC, COCO, Open Images — and it's what lets you say “RetinaNet beats SSD” with a number behind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TODAY'S ROADMAP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Learning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fmla="val 8537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Understand IoU and how it turns a predicted box into a right/wrong verdict against ground truth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fmla="val 8537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Define precision and recall for detection, and see why a single threshold isn't enough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fmla="val 8537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Construct a precision-recall curve and compute Average Precision (AP) from 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fmla="val 8537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Understand how AP is averaged into mAP, and how mAP@0.5 differs from COCO's mAP@[.5:.95]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fmla="val 8537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Know the pitfalls that make mAP numbers hard to compare across papers and datasets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BUILDING BLOCK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Intersection over Union (IoU)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IoU measures how well a predicted box overlaps the ground-truth box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2530"/>
              </a:buClr>
              <a:buSzPts val="1600"/>
              <a:buFont typeface="Calibri"/>
              <a:buChar char="▪"/>
            </a:pPr>
            <a:r>
              <a:rPr b="1" i="0" lang="en-US" sz="16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IoU = Area of Overlap ÷ Area of Union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Ranges from 0 (no overlap) to 1 (perfect match)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This single number turns “how good is this box?” into something we can threshold and count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126480" y="1737360"/>
            <a:ext cx="5394960" cy="288036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CB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680960" y="2606040"/>
            <a:ext cx="1463040" cy="1051560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675120" y="2103120"/>
            <a:ext cx="2468880" cy="1554480"/>
          </a:xfrm>
          <a:prstGeom prst="rect">
            <a:avLst/>
          </a:prstGeom>
          <a:noFill/>
          <a:ln cap="flat" cmpd="sng" w="31750">
            <a:solidFill>
              <a:srgbClr val="1E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680960" y="2606040"/>
            <a:ext cx="2468880" cy="1554480"/>
          </a:xfrm>
          <a:prstGeom prst="rect">
            <a:avLst/>
          </a:prstGeom>
          <a:noFill/>
          <a:ln cap="flat" cmpd="sng" w="3175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7680960" y="29946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overlap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6583680" y="1783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8686800" y="4206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126480" y="4800600"/>
            <a:ext cx="5394960" cy="685800"/>
          </a:xfrm>
          <a:prstGeom prst="roundRect">
            <a:avLst>
              <a:gd fmla="val 9333" name="adj"/>
            </a:avLst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6126480" y="480060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IoU  =  Area(overlap) / Area(union)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BUILDING BLOCK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From IoU to a Verdict: TP, FP, FN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548640" y="1691640"/>
            <a:ext cx="55778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Pick an IoU threshold (commonly 0.5) — this decides what counts as “close enough”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prediction is a True Positive (TP) if: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its class matches a ground-truth object, 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IoU with that ground truth ≥ threshold (and it's the best unclaimed match)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Otherwise it's a False Positive (FP)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Any ground-truth object left unmatched is a False Negative (FN)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Each ground-truth box can be matched at most once — duplicate detections of the same object count as FPs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92240" y="1691640"/>
            <a:ext cx="5029200" cy="1280160"/>
          </a:xfrm>
          <a:prstGeom prst="roundRect">
            <a:avLst>
              <a:gd fmla="val 571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492240" y="1691640"/>
            <a:ext cx="50292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6675120" y="1691640"/>
            <a:ext cx="4663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 Positive (TP)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6675120" y="222199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Predicted box matches a ground-truth object with IoU ≥ 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92240" y="3200400"/>
            <a:ext cx="5029200" cy="1280160"/>
          </a:xfrm>
          <a:prstGeom prst="roundRect">
            <a:avLst>
              <a:gd fmla="val 571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92240" y="3200400"/>
            <a:ext cx="5029200" cy="420624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6675120" y="3200400"/>
            <a:ext cx="4663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False Positive (FP)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6675120" y="373075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Predicted box has no matching ground truth (wrong class, low IoU, or duplicate)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92240" y="4709160"/>
            <a:ext cx="5029200" cy="1280160"/>
          </a:xfrm>
          <a:prstGeom prst="roundRect">
            <a:avLst>
              <a:gd fmla="val 571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492240" y="4709160"/>
            <a:ext cx="5029200" cy="420624"/>
          </a:xfrm>
          <a:prstGeom prst="rect">
            <a:avLst/>
          </a:prstGeom>
          <a:solidFill>
            <a:srgbClr val="8A4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6675120" y="4709160"/>
            <a:ext cx="4663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False Negative (FN)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6675120" y="523951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real object that no prediction matched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BUILDING BLOCK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Precision &amp; Recall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48640" y="1737360"/>
            <a:ext cx="5120640" cy="1051560"/>
          </a:xfrm>
          <a:prstGeom prst="roundRect">
            <a:avLst>
              <a:gd fmla="val 6957" name="adj"/>
            </a:avLst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548640" y="173736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Precision = TP / (TP + FP)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548640" y="2880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“Of the boxes I predicted, how many were actually correct?”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263640" y="173736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6263640" y="1737360"/>
            <a:ext cx="5394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Recall = TP / (TP + FN)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6263640" y="28803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“Of all the real objects out there, how many did I find?”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548640" y="3657600"/>
            <a:ext cx="55778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1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The trade-off: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High precision, low recall — a cautious detector that only fires when very confident, but misses many objects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Low precision, high recall — a trigger-happy detector that finds almost everything, but with lots of false alarms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Neither number alone tells the full story — a good detector needs both to be high across a range of thresholds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492240" y="3657600"/>
            <a:ext cx="5120640" cy="45720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6656832" y="3657600"/>
            <a:ext cx="4791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TOY EXAMPLE  —  ONE IMAGE, ONE 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6675120" y="425196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5 ground-truth objects.  6 predictions → 4 TP, 2 FP, 1 FN</a:t>
            </a:r>
            <a:b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Precision = 4/(4+2) = 0.67        </a:t>
            </a: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Recall = 4/(4+1) = 0.80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BUILDING BLOCK 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The Confidence Threshold Changes Everything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Every detection comes with a confidence score — not just a box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Sort ALL detections (across the whole dataset) by confidence, highest first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Char char="▪"/>
            </a:pPr>
            <a:r>
              <a:rPr b="1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Sweep a threshold down the ranked list: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High threshold → only the most confident boxes counted → high precision, low recall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Low threshold → nearly everything counted → low precision, high recall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This is exactly why we can't report “precision” or “recall” as one number — they depend entirely on where you set the threshold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6492240" y="14173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Detections ranked by confidence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92240" y="1737360"/>
            <a:ext cx="51206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6675120" y="173736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1155680" y="1837944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10698480" y="1737360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492240" y="2121408"/>
            <a:ext cx="5120640" cy="329184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6675120" y="2121408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0.91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1155680" y="2221992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10698480" y="2121408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92240" y="2505456"/>
            <a:ext cx="51206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6675120" y="2505456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0.88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155680" y="2606040"/>
            <a:ext cx="128016" cy="12801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0698480" y="2505456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92240" y="2889504"/>
            <a:ext cx="5120640" cy="329184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6675120" y="2889504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1155680" y="2990088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0698480" y="288950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92240" y="3273552"/>
            <a:ext cx="51206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6675120" y="3273552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1155680" y="3374136"/>
            <a:ext cx="128016" cy="12801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0698480" y="3273552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92240" y="3657600"/>
            <a:ext cx="5120640" cy="329184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6675120" y="365760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155680" y="3758184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10698480" y="3657600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92240" y="4041648"/>
            <a:ext cx="51206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6675120" y="4041648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1155680" y="4142232"/>
            <a:ext cx="128016" cy="12801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10698480" y="4041648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92240" y="4425696"/>
            <a:ext cx="5120640" cy="329184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6675120" y="4425696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1155680" y="4526280"/>
            <a:ext cx="128016" cy="12801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10698480" y="4425696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9"/>
          <p:cNvCxnSpPr/>
          <p:nvPr/>
        </p:nvCxnSpPr>
        <p:spPr>
          <a:xfrm>
            <a:off x="6355080" y="3246120"/>
            <a:ext cx="5394960" cy="0"/>
          </a:xfrm>
          <a:prstGeom prst="straightConnector1">
            <a:avLst/>
          </a:prstGeom>
          <a:noFill/>
          <a:ln cap="flat" cmpd="sng" w="25400">
            <a:solidFill>
              <a:srgbClr val="FF6B3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4" name="Google Shape;204;p9"/>
          <p:cNvSpPr txBox="1"/>
          <p:nvPr/>
        </p:nvSpPr>
        <p:spPr>
          <a:xfrm>
            <a:off x="6492240" y="494690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Dashed line = an example threshold (0.78). Everything above it counts; everything below is discarded.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BUILDING BLOCK 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The Precision-Recall Curve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548640" y="1691640"/>
            <a:ext cx="5303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Slide the confidence threshold from high to low, one detection at a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At each point, compute cumulative precision and recall so far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Plotting these points traces the Precision-Recall (PR) curve for one class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As threshold drops: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Recall only ever increases (we keep adding TPs and FNs become TPs)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Precision tends to fall as more FPs get included, though it can wobble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better detector traces a curve further toward the top-right corner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691640"/>
            <a:ext cx="5257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6309360" y="585216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(illustrative shape, not a specific model's data)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BUILDING BLOCK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Average Precision: Area Under the PR Curve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548640" y="1691640"/>
            <a:ext cx="54864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 = the area under the precision-recall curve for one class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single number that summarizes the whole curve — no need to pick one threshold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Raw PR curves are jagged (precision can go up as well as down), which makes “area under curve” ambiguous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Fix: interpolate precision before integrating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p_interp(r) = the MAXIMUM precision found at any recall ≥ 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This produces a smooth, monotonically non-increasing envelope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Two common conventions: 11-point interpolation (PASCAL VOC, classic) and all-point / 101-point interpolation (modern VOC, COCO)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691640"/>
            <a:ext cx="5257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WORKED EXAMPLE — PART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Ranking Detections &amp; Counting TP / FP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548640" y="1691640"/>
            <a:ext cx="37490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Setting: one class (“car”), 5 ground-truth objects in the test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6 detections total, ranked by confidence, highest 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For each rank, we track the running (cumulative) count of TPs and FPs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Cumulative precision = cumTP / (cumTP + cumFP)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Cumulative recall = cumTP / total ground truth (5)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617720" y="1737360"/>
            <a:ext cx="77724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4617720" y="17373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5394960" y="1737360"/>
            <a:ext cx="86868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5394960" y="17373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263640" y="1737360"/>
            <a:ext cx="86868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6263640" y="17373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TP/FP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132320" y="1737360"/>
            <a:ext cx="91440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7132320" y="17373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cumTP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046720" y="1737360"/>
            <a:ext cx="91440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8046720" y="17373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cumFP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8961120" y="1737360"/>
            <a:ext cx="86868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8961120" y="17373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9829800" y="1737360"/>
            <a:ext cx="914400" cy="457200"/>
          </a:xfrm>
          <a:prstGeom prst="rect">
            <a:avLst/>
          </a:prstGeom>
          <a:solidFill>
            <a:srgbClr val="0F2A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9829800" y="17373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4617720" y="2194560"/>
            <a:ext cx="7772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4617720" y="219456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394960" y="219456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5394960" y="219456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263640" y="219456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6263640" y="219456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132320" y="219456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 txBox="1"/>
          <p:nvPr/>
        </p:nvSpPr>
        <p:spPr>
          <a:xfrm>
            <a:off x="7132320" y="21945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046720" y="219456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8046720" y="21945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961120" y="219456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8961120" y="219456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829800" y="219456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9829800" y="21945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617720" y="2606040"/>
            <a:ext cx="77724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4617720" y="260604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394960" y="260604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5394960" y="26060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0.91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263640" y="260604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6263640" y="26060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132320" y="260604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7132320" y="26060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8046720" y="260604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 txBox="1"/>
          <p:nvPr/>
        </p:nvSpPr>
        <p:spPr>
          <a:xfrm>
            <a:off x="8046720" y="26060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8961120" y="260604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8961120" y="26060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829800" y="260604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9829800" y="26060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617720" y="3017520"/>
            <a:ext cx="7772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4617720" y="3017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394960" y="301752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5394960" y="301752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0.88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263640" y="301752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6263640" y="301752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132320" y="301752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7132320" y="30175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8046720" y="301752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8046720" y="30175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8961120" y="301752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8961120" y="301752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9829800" y="301752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9829800" y="30175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617720" y="3429000"/>
            <a:ext cx="77724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4617720" y="34290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394960" y="342900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5394960" y="342900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263640" y="342900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 txBox="1"/>
          <p:nvPr/>
        </p:nvSpPr>
        <p:spPr>
          <a:xfrm>
            <a:off x="6263640" y="342900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7132320" y="342900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 txBox="1"/>
          <p:nvPr/>
        </p:nvSpPr>
        <p:spPr>
          <a:xfrm>
            <a:off x="7132320" y="34290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046720" y="342900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8046720" y="34290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8961120" y="342900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8961120" y="342900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829800" y="342900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9829800" y="34290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617720" y="3840480"/>
            <a:ext cx="7772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4617720" y="384048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394960" y="384048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5394960" y="384048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263640" y="384048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6263640" y="384048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132320" y="384048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7132320" y="38404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046720" y="384048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 txBox="1"/>
          <p:nvPr/>
        </p:nvSpPr>
        <p:spPr>
          <a:xfrm>
            <a:off x="8046720" y="38404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8961120" y="3840480"/>
            <a:ext cx="868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8961120" y="384048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9829800" y="3840480"/>
            <a:ext cx="914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 txBox="1"/>
          <p:nvPr/>
        </p:nvSpPr>
        <p:spPr>
          <a:xfrm>
            <a:off x="9829800" y="38404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617720" y="4251960"/>
            <a:ext cx="77724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 txBox="1"/>
          <p:nvPr/>
        </p:nvSpPr>
        <p:spPr>
          <a:xfrm>
            <a:off x="4617720" y="425196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394960" y="425196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5394960" y="425196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ourier New"/>
                <a:ea typeface="Courier New"/>
                <a:cs typeface="Courier New"/>
                <a:sym typeface="Courier New"/>
              </a:rPr>
              <a:t>0.60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263640" y="425196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 txBox="1"/>
          <p:nvPr/>
        </p:nvSpPr>
        <p:spPr>
          <a:xfrm>
            <a:off x="6263640" y="425196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7132320" y="425196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 txBox="1"/>
          <p:nvPr/>
        </p:nvSpPr>
        <p:spPr>
          <a:xfrm>
            <a:off x="7132320" y="42519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8046720" y="425196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 txBox="1"/>
          <p:nvPr/>
        </p:nvSpPr>
        <p:spPr>
          <a:xfrm>
            <a:off x="8046720" y="42519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8961120" y="4251960"/>
            <a:ext cx="86868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 txBox="1"/>
          <p:nvPr/>
        </p:nvSpPr>
        <p:spPr>
          <a:xfrm>
            <a:off x="8961120" y="425196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9829800" y="4251960"/>
            <a:ext cx="914400" cy="411480"/>
          </a:xfrm>
          <a:prstGeom prst="rect">
            <a:avLst/>
          </a:prstGeom>
          <a:solidFill>
            <a:srgbClr val="F7FAFB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9829800" y="42519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617720" y="4892040"/>
            <a:ext cx="6126480" cy="548640"/>
          </a:xfrm>
          <a:prstGeom prst="roundRect">
            <a:avLst>
              <a:gd fmla="val 10000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 txBox="1"/>
          <p:nvPr/>
        </p:nvSpPr>
        <p:spPr>
          <a:xfrm>
            <a:off x="4754880" y="489204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Only 4 of 5 ground-truth cars were ever detected → the 5th is a False Negative; recall tops out at 0.80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WORKED EXAMPLE — PART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Interpolating &amp; Computing 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Take the (recall, precision) pairs from the table and interpolate at 11 recall levels (0.0, 0.1, …, 1.0)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At each level, use the max precision seen at that recall or higher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Recall never reached 0.9 or 1.0 in our example → interpolated precision there is 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530"/>
              </a:buClr>
              <a:buSzPts val="1450"/>
              <a:buFont typeface="Calibri"/>
              <a:buChar char="▪"/>
            </a:pPr>
            <a:r>
              <a:rPr b="1" i="0" lang="en-US" sz="14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 = average of the 11 interpolated precision values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1691640"/>
            <a:ext cx="557784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6035040" y="4937760"/>
            <a:ext cx="5577840" cy="1051560"/>
          </a:xfrm>
          <a:prstGeom prst="roundRect">
            <a:avLst>
              <a:gd fmla="val 6957" name="adj"/>
            </a:avLst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>
            <a:off x="6172200" y="4937760"/>
            <a:ext cx="53035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 = (1+1+1+1+1+.75+.75+.667+.667+0+0) / 11  =  </a:t>
            </a:r>
            <a:r>
              <a:rPr b="1" i="0" lang="en-US" sz="1400" u="none" cap="none" strike="noStrike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0.712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PUTTING AP TOGETHER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From AP to mAP: Averaging Across Classes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548640" y="1691640"/>
            <a:ext cx="5303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 is computed separately for every class (car, person, dog, …) — each gets its own precision-recall curve and its own 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500"/>
              <a:buFont typeface="Calibri"/>
              <a:buChar char="▪"/>
            </a:pPr>
            <a:r>
              <a:rPr b="1" i="0" lang="en-US" sz="15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mAP = the mean of the AP values across all classes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This single number summarizes detector performance across the entire label set, not just one object 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detector can have wildly different AP per class (e.g. great at “person”, poor at “umbrella”) — mAP hides that unless you look at the per-class breakdown too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6492240" y="17373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046720" y="1828800"/>
            <a:ext cx="2926080" cy="256032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8046720" y="1828800"/>
            <a:ext cx="2083369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11064240" y="1737360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0.71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6492240" y="2267712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Person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046720" y="2359152"/>
            <a:ext cx="2926080" cy="256032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8046720" y="2359152"/>
            <a:ext cx="2487168" cy="25603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 txBox="1"/>
          <p:nvPr/>
        </p:nvSpPr>
        <p:spPr>
          <a:xfrm>
            <a:off x="11064240" y="2267712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6492240" y="2798064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046720" y="2889504"/>
            <a:ext cx="2926080" cy="256032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8046720" y="2889504"/>
            <a:ext cx="184343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11064240" y="2798064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/>
        </p:nvSpPr>
        <p:spPr>
          <a:xfrm>
            <a:off x="6492240" y="3328416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Bicycle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8046720" y="3419856"/>
            <a:ext cx="2926080" cy="256032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8046720" y="3419856"/>
            <a:ext cx="1697126" cy="256032"/>
          </a:xfrm>
          <a:prstGeom prst="rect">
            <a:avLst/>
          </a:prstGeom>
          <a:solidFill>
            <a:srgbClr val="8A4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11064240" y="3328416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6492240" y="385876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Traffic Light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8046720" y="3950208"/>
            <a:ext cx="2926080" cy="256032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8046720" y="3950208"/>
            <a:ext cx="1199693" cy="256032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 txBox="1"/>
          <p:nvPr/>
        </p:nvSpPr>
        <p:spPr>
          <a:xfrm>
            <a:off x="11064240" y="3858768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0.41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p14"/>
          <p:cNvCxnSpPr/>
          <p:nvPr/>
        </p:nvCxnSpPr>
        <p:spPr>
          <a:xfrm>
            <a:off x="6492240" y="448056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CBD8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4"/>
          <p:cNvSpPr/>
          <p:nvPr/>
        </p:nvSpPr>
        <p:spPr>
          <a:xfrm>
            <a:off x="6492240" y="4663440"/>
            <a:ext cx="5120640" cy="731520"/>
          </a:xfrm>
          <a:prstGeom prst="roundRect">
            <a:avLst>
              <a:gd fmla="val 8750" name="adj"/>
            </a:avLst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 txBox="1"/>
          <p:nvPr/>
        </p:nvSpPr>
        <p:spPr>
          <a:xfrm>
            <a:off x="6675120" y="466344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mAP  = 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average(0.712, 0.85, 0.63, 0.58, 0.41)  =  </a:t>
            </a:r>
            <a:r>
              <a:rPr b="1" i="0" lang="en-US" sz="1250" u="none" cap="none" strike="noStrike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0.636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REFINING THE METRIC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mAP @ IoU Threshold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548640" y="1691640"/>
            <a:ext cx="54864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Everything so far assumed ONE fixed IoU threshold (e.g. 0.5) for deciding TP vs FP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mAP@0.5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lenient; a loosely-placed box still counts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mAP@0.75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strict; demands tight, accurate localization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0F2A47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mAP@[.5:.95]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COCO's primary metric: average mAP over 10 thresholds (0.50, 0.55, …, 0.95)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Averaging over many thresholds rewards detectors that are both correct AND precisely localized — harder to game than a single loose 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691640"/>
            <a:ext cx="53492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5"/>
          <p:cNvSpPr/>
          <p:nvPr/>
        </p:nvSpPr>
        <p:spPr>
          <a:xfrm>
            <a:off x="6309360" y="5440680"/>
            <a:ext cx="5349240" cy="777240"/>
          </a:xfrm>
          <a:prstGeom prst="roundRect">
            <a:avLst>
              <a:gd fmla="val 8235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 txBox="1"/>
          <p:nvPr/>
        </p:nvSpPr>
        <p:spPr>
          <a:xfrm>
            <a:off x="6446520" y="5440680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mAP@[.5:.95] = average of the 10 bars above — a single, harder-to-game headline number.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TWO CONVENTIONS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PASCAL VOC vs. COCO 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48640" y="1783080"/>
            <a:ext cx="2286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 txBox="1"/>
          <p:nvPr/>
        </p:nvSpPr>
        <p:spPr>
          <a:xfrm>
            <a:off x="640080" y="17830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2834640" y="1783080"/>
            <a:ext cx="2880360" cy="457200"/>
          </a:xfrm>
          <a:prstGeom prst="rect">
            <a:avLst/>
          </a:prstGeom>
          <a:solidFill>
            <a:srgbClr val="6B7280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 txBox="1"/>
          <p:nvPr/>
        </p:nvSpPr>
        <p:spPr>
          <a:xfrm>
            <a:off x="2926080" y="17830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PASCAL VOC (2007)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715000" y="1783080"/>
            <a:ext cx="2880360" cy="457200"/>
          </a:xfrm>
          <a:prstGeom prst="rect">
            <a:avLst/>
          </a:prstGeom>
          <a:solidFill>
            <a:srgbClr val="6B7280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5806440" y="17830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PASCAL VOC (2010+)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8595360" y="1783080"/>
            <a:ext cx="3246120" cy="457200"/>
          </a:xfrm>
          <a:prstGeom prst="rect">
            <a:avLst/>
          </a:prstGeom>
          <a:solidFill>
            <a:srgbClr val="1C6B63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 txBox="1"/>
          <p:nvPr/>
        </p:nvSpPr>
        <p:spPr>
          <a:xfrm>
            <a:off x="8686800" y="17830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 COCO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548640" y="2240280"/>
            <a:ext cx="22860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 txBox="1"/>
          <p:nvPr/>
        </p:nvSpPr>
        <p:spPr>
          <a:xfrm>
            <a:off x="640080" y="2240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IoU threshold(s)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2834640" y="2240280"/>
            <a:ext cx="288036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 txBox="1"/>
          <p:nvPr/>
        </p:nvSpPr>
        <p:spPr>
          <a:xfrm>
            <a:off x="2926080" y="22402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0.5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715000" y="2240280"/>
            <a:ext cx="288036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 txBox="1"/>
          <p:nvPr/>
        </p:nvSpPr>
        <p:spPr>
          <a:xfrm>
            <a:off x="5806440" y="22402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0.5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595360" y="2240280"/>
            <a:ext cx="324612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 txBox="1"/>
          <p:nvPr/>
        </p:nvSpPr>
        <p:spPr>
          <a:xfrm>
            <a:off x="8686800" y="22402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0.50–0.95, step 0.05 (10 thresholds)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48640" y="2697480"/>
            <a:ext cx="22860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 txBox="1"/>
          <p:nvPr/>
        </p:nvSpPr>
        <p:spPr>
          <a:xfrm>
            <a:off x="640080" y="26974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Interpolation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2834640" y="2697480"/>
            <a:ext cx="28803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 txBox="1"/>
          <p:nvPr/>
        </p:nvSpPr>
        <p:spPr>
          <a:xfrm>
            <a:off x="2926080" y="26974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11-point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5715000" y="2697480"/>
            <a:ext cx="28803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 txBox="1"/>
          <p:nvPr/>
        </p:nvSpPr>
        <p:spPr>
          <a:xfrm>
            <a:off x="5806440" y="26974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All-point (exact AUC)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8595360" y="2697480"/>
            <a:ext cx="32461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 txBox="1"/>
          <p:nvPr/>
        </p:nvSpPr>
        <p:spPr>
          <a:xfrm>
            <a:off x="8686800" y="2697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101-point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48640" y="3154680"/>
            <a:ext cx="22860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 txBox="1"/>
          <p:nvPr/>
        </p:nvSpPr>
        <p:spPr>
          <a:xfrm>
            <a:off x="640080" y="31546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Headline metric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2834640" y="3154680"/>
            <a:ext cx="288036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 txBox="1"/>
          <p:nvPr/>
        </p:nvSpPr>
        <p:spPr>
          <a:xfrm>
            <a:off x="2926080" y="31546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mAP@0.5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715000" y="3154680"/>
            <a:ext cx="288036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 txBox="1"/>
          <p:nvPr/>
        </p:nvSpPr>
        <p:spPr>
          <a:xfrm>
            <a:off x="5806440" y="31546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mAP@0.5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8595360" y="3154680"/>
            <a:ext cx="324612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"/>
          <p:cNvSpPr txBox="1"/>
          <p:nvPr/>
        </p:nvSpPr>
        <p:spPr>
          <a:xfrm>
            <a:off x="8686800" y="31546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mAP@[.5:.95]  (often just “AP”)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 txBox="1"/>
          <p:nvPr/>
        </p:nvSpPr>
        <p:spPr>
          <a:xfrm>
            <a:off x="640080" y="36118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Object size breakdown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2834640" y="3611880"/>
            <a:ext cx="28803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 txBox="1"/>
          <p:nvPr/>
        </p:nvSpPr>
        <p:spPr>
          <a:xfrm>
            <a:off x="2926080" y="36118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5715000" y="3611880"/>
            <a:ext cx="28803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 txBox="1"/>
          <p:nvPr/>
        </p:nvSpPr>
        <p:spPr>
          <a:xfrm>
            <a:off x="5806440" y="36118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8595360" y="3611880"/>
            <a:ext cx="32461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 txBox="1"/>
          <p:nvPr/>
        </p:nvSpPr>
        <p:spPr>
          <a:xfrm>
            <a:off x="8686800" y="36118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Yes — APS / APM / APL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548640" y="4069080"/>
            <a:ext cx="22860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 txBox="1"/>
          <p:nvPr/>
        </p:nvSpPr>
        <p:spPr>
          <a:xfrm>
            <a:off x="640080" y="40690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Typically reported today?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2834640" y="4069080"/>
            <a:ext cx="288036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 txBox="1"/>
          <p:nvPr/>
        </p:nvSpPr>
        <p:spPr>
          <a:xfrm>
            <a:off x="2926080" y="40690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Rarely (historical)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715000" y="4069080"/>
            <a:ext cx="288036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 txBox="1"/>
          <p:nvPr/>
        </p:nvSpPr>
        <p:spPr>
          <a:xfrm>
            <a:off x="5806440" y="40690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Sometimes, as “mAP@0.5”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8595360" y="4069080"/>
            <a:ext cx="324612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 txBox="1"/>
          <p:nvPr/>
        </p:nvSpPr>
        <p:spPr>
          <a:xfrm>
            <a:off x="8686800" y="40690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Yes — the modern default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548640" y="47091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Rule of thumb: if a paper just says “mAP” with no other context, check which dataset/protocol it's reporting — the numbers are NOT directly comparable across conventions.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REFINING THE METRIC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Beyond mAP: COCO's Extra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548640" y="1691640"/>
            <a:ext cx="41148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single mAP number can't tell you WHERE a detector struggles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COCO's evaluation reports a whole family of metrics alongside the headline 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Useful for diagnosing a detector before you deploy it — e.g. is it specifically weak on small objects?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892040" y="1691640"/>
            <a:ext cx="6766560" cy="914400"/>
          </a:xfrm>
          <a:prstGeom prst="roundRect">
            <a:avLst>
              <a:gd fmla="val 7000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 txBox="1"/>
          <p:nvPr/>
        </p:nvSpPr>
        <p:spPr>
          <a:xfrm>
            <a:off x="5074920" y="17830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2A47"/>
                </a:solidFill>
                <a:latin typeface="Courier New"/>
                <a:ea typeface="Courier New"/>
                <a:cs typeface="Courier New"/>
                <a:sym typeface="Courier New"/>
              </a:rPr>
              <a:t>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5074920" y="21031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Primary metric: mean AP averaged over IoU 0.50–0.95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4892040" y="2743200"/>
            <a:ext cx="6766560" cy="914400"/>
          </a:xfrm>
          <a:prstGeom prst="roundRect">
            <a:avLst>
              <a:gd fmla="val 7000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"/>
          <p:cNvSpPr txBox="1"/>
          <p:nvPr/>
        </p:nvSpPr>
        <p:spPr>
          <a:xfrm>
            <a:off x="5074920" y="2834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2A47"/>
                </a:solidFill>
                <a:latin typeface="Courier New"/>
                <a:ea typeface="Courier New"/>
                <a:cs typeface="Courier New"/>
                <a:sym typeface="Courier New"/>
              </a:rPr>
              <a:t>AP50 / AP75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5074920" y="31546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 at a single fixed IoU threshold (0.5 or 0.75)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892040" y="3794760"/>
            <a:ext cx="6766560" cy="914400"/>
          </a:xfrm>
          <a:prstGeom prst="roundRect">
            <a:avLst>
              <a:gd fmla="val 7000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 txBox="1"/>
          <p:nvPr/>
        </p:nvSpPr>
        <p:spPr>
          <a:xfrm>
            <a:off x="5074920" y="38862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2A47"/>
                </a:solidFill>
                <a:latin typeface="Courier New"/>
                <a:ea typeface="Courier New"/>
                <a:cs typeface="Courier New"/>
                <a:sym typeface="Courier New"/>
              </a:rPr>
              <a:t>AP-small / medium / large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 txBox="1"/>
          <p:nvPr/>
        </p:nvSpPr>
        <p:spPr>
          <a:xfrm>
            <a:off x="5074920" y="42062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 restricted to objects of that pixel-area range — small objects are notoriously hard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892040" y="4846320"/>
            <a:ext cx="6766560" cy="914400"/>
          </a:xfrm>
          <a:prstGeom prst="roundRect">
            <a:avLst>
              <a:gd fmla="val 7000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 txBox="1"/>
          <p:nvPr/>
        </p:nvSpPr>
        <p:spPr>
          <a:xfrm>
            <a:off x="5074920" y="4937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2A47"/>
                </a:solidFill>
                <a:latin typeface="Courier New"/>
                <a:ea typeface="Courier New"/>
                <a:cs typeface="Courier New"/>
                <a:sym typeface="Courier New"/>
              </a:rPr>
              <a:t>AR@1 / @10 / @100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5074920" y="52578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Average Recall given a max number of detections allowed per image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READING MAP CRITICALLY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Common Pitfalls When Comparing 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8"/>
          <p:cNvSpPr txBox="1"/>
          <p:nvPr/>
        </p:nvSpPr>
        <p:spPr>
          <a:xfrm>
            <a:off x="548640" y="16916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1234440" y="1645920"/>
            <a:ext cx="10424160" cy="713232"/>
          </a:xfrm>
          <a:prstGeom prst="roundRect">
            <a:avLst>
              <a:gd fmla="val 897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8"/>
          <p:cNvSpPr txBox="1"/>
          <p:nvPr/>
        </p:nvSpPr>
        <p:spPr>
          <a:xfrm>
            <a:off x="1417320" y="1645920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Different datasets:  </a:t>
            </a: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COCO mAP and VOC mAP are not the same scale — COCO's stricter, multi-threshold protocol always looks lower for the same detector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548640" y="2532888"/>
            <a:ext cx="530352" cy="53035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8"/>
          <p:cNvSpPr txBox="1"/>
          <p:nvPr/>
        </p:nvSpPr>
        <p:spPr>
          <a:xfrm>
            <a:off x="548640" y="253288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1234440" y="2487168"/>
            <a:ext cx="10424160" cy="713232"/>
          </a:xfrm>
          <a:prstGeom prst="roundRect">
            <a:avLst>
              <a:gd fmla="val 897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"/>
          <p:cNvSpPr txBox="1"/>
          <p:nvPr/>
        </p:nvSpPr>
        <p:spPr>
          <a:xfrm>
            <a:off x="1417320" y="2487168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Different input resolution:  </a:t>
            </a: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The same architecture scores higher at 800px input than at 320px — always check what resolution a reported number used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548640" y="3374136"/>
            <a:ext cx="530352" cy="53035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8"/>
          <p:cNvSpPr txBox="1"/>
          <p:nvPr/>
        </p:nvSpPr>
        <p:spPr>
          <a:xfrm>
            <a:off x="548640" y="337413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1234440" y="3328416"/>
            <a:ext cx="10424160" cy="713232"/>
          </a:xfrm>
          <a:prstGeom prst="roundRect">
            <a:avLst>
              <a:gd fmla="val 897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 txBox="1"/>
          <p:nvPr/>
        </p:nvSpPr>
        <p:spPr>
          <a:xfrm>
            <a:off x="1417320" y="3328416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Different backbones:  </a:t>
            </a: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“SSD” with a ResNet-101 backbone and “SSD” with a MobileNet backbone are not comparable, even though both are “SSD”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48640" y="4215384"/>
            <a:ext cx="530352" cy="53035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 txBox="1"/>
          <p:nvPr/>
        </p:nvSpPr>
        <p:spPr>
          <a:xfrm>
            <a:off x="548640" y="421538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1234440" y="4169664"/>
            <a:ext cx="10424160" cy="713232"/>
          </a:xfrm>
          <a:prstGeom prst="roundRect">
            <a:avLst>
              <a:gd fmla="val 897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"/>
          <p:cNvSpPr txBox="1"/>
          <p:nvPr/>
        </p:nvSpPr>
        <p:spPr>
          <a:xfrm>
            <a:off x="1417320" y="4169664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Test set leakage / tuning:  </a:t>
            </a: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Repeatedly tuning on the test set (instead of a held-out validation set) inflates reported 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548640" y="5056632"/>
            <a:ext cx="530352" cy="53035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8"/>
          <p:cNvSpPr txBox="1"/>
          <p:nvPr/>
        </p:nvSpPr>
        <p:spPr>
          <a:xfrm>
            <a:off x="548640" y="505663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1234440" y="5010912"/>
            <a:ext cx="10424160" cy="713232"/>
          </a:xfrm>
          <a:prstGeom prst="roundRect">
            <a:avLst>
              <a:gd fmla="val 8974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8"/>
          <p:cNvSpPr txBox="1"/>
          <p:nvPr/>
        </p:nvSpPr>
        <p:spPr>
          <a:xfrm>
            <a:off x="1417320" y="5010912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Cherry-picked thresholds:  </a:t>
            </a: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paper reporting only mAP@0.5 may be hiding poor localization precision that mAP@0.75 would expose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CONNECTING THE DOTS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mAP Isn't the Whole Story — Report Speed Too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548640" y="1691640"/>
            <a:ext cx="55778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Recall last lecture's speed-accuracy trade-off: a higher-mAP model can be useless if it can't hit your deployment's frame-rate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Always report mAP alongside: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Inference speed (FPS) or latency (ms/image)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Hardware used (GPU model, batch size) — speed numbers aren't portable across hardware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–"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Model size (parameters, FLOPs) — relevant for edge/mobile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Char char="▪"/>
            </a:pPr>
            <a:r>
              <a:rPr b="1" i="0" lang="en-US" sz="14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detector's “best” isn't a single number — it's the best mAP achievable inside YOUR constraints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19"/>
          <p:cNvCxnSpPr/>
          <p:nvPr/>
        </p:nvCxnSpPr>
        <p:spPr>
          <a:xfrm>
            <a:off x="6537960" y="5577840"/>
            <a:ext cx="5029200" cy="0"/>
          </a:xfrm>
          <a:prstGeom prst="straightConnector1">
            <a:avLst/>
          </a:prstGeom>
          <a:noFill/>
          <a:ln cap="flat" cmpd="sng" w="15875">
            <a:solidFill>
              <a:srgbClr val="5C6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19"/>
          <p:cNvCxnSpPr/>
          <p:nvPr/>
        </p:nvCxnSpPr>
        <p:spPr>
          <a:xfrm>
            <a:off x="6537960" y="1920240"/>
            <a:ext cx="0" cy="3657600"/>
          </a:xfrm>
          <a:prstGeom prst="straightConnector1">
            <a:avLst/>
          </a:prstGeom>
          <a:noFill/>
          <a:ln cap="flat" cmpd="sng" w="15875">
            <a:solidFill>
              <a:srgbClr val="5C6B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19"/>
          <p:cNvSpPr txBox="1"/>
          <p:nvPr/>
        </p:nvSpPr>
        <p:spPr>
          <a:xfrm>
            <a:off x="640080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 txBox="1"/>
          <p:nvPr/>
        </p:nvSpPr>
        <p:spPr>
          <a:xfrm>
            <a:off x="9555480" y="56509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Speed (FPS)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7379208" y="2660904"/>
            <a:ext cx="128016" cy="128016"/>
          </a:xfrm>
          <a:prstGeom prst="ellipse">
            <a:avLst/>
          </a:prstGeom>
          <a:solidFill>
            <a:srgbClr val="B23A3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"/>
          <p:cNvSpPr txBox="1"/>
          <p:nvPr/>
        </p:nvSpPr>
        <p:spPr>
          <a:xfrm>
            <a:off x="6711696" y="24048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Faster R-CNN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9240012" y="3392424"/>
            <a:ext cx="128016" cy="128016"/>
          </a:xfrm>
          <a:prstGeom prst="ellipse">
            <a:avLst/>
          </a:prstGeom>
          <a:solidFill>
            <a:srgbClr val="1C7293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"/>
          <p:cNvSpPr txBox="1"/>
          <p:nvPr/>
        </p:nvSpPr>
        <p:spPr>
          <a:xfrm>
            <a:off x="8572500" y="31363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RetinaNet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9893808" y="4123944"/>
            <a:ext cx="128016" cy="128016"/>
          </a:xfrm>
          <a:prstGeom prst="ellipse">
            <a:avLst/>
          </a:prstGeom>
          <a:solidFill>
            <a:srgbClr val="FF6B35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9226296" y="38679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SSD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10396728" y="4709160"/>
            <a:ext cx="128016" cy="128016"/>
          </a:xfrm>
          <a:prstGeom prst="ellipse">
            <a:avLst/>
          </a:prstGeom>
          <a:solidFill>
            <a:srgbClr val="1E7A4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9"/>
          <p:cNvSpPr txBox="1"/>
          <p:nvPr/>
        </p:nvSpPr>
        <p:spPr>
          <a:xfrm>
            <a:off x="9729216" y="445312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A47"/>
                </a:solidFill>
                <a:latin typeface="Calibri"/>
                <a:ea typeface="Calibri"/>
                <a:cs typeface="Calibri"/>
                <a:sym typeface="Calibri"/>
              </a:rPr>
              <a:t>YOLO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8650224" y="1993392"/>
            <a:ext cx="2514600" cy="950976"/>
          </a:xfrm>
          <a:prstGeom prst="roundRect">
            <a:avLst>
              <a:gd fmla="val 7692" name="adj"/>
            </a:avLst>
          </a:prstGeom>
          <a:solidFill>
            <a:srgbClr val="D8EEDF">
              <a:alpha val="74902"/>
            </a:srgbClr>
          </a:solidFill>
          <a:ln cap="flat" cmpd="sng" w="12700">
            <a:solidFill>
              <a:srgbClr val="1E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9"/>
          <p:cNvSpPr txBox="1"/>
          <p:nvPr/>
        </p:nvSpPr>
        <p:spPr>
          <a:xfrm>
            <a:off x="8650224" y="1993392"/>
            <a:ext cx="25146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7A4C"/>
                </a:solidFill>
                <a:latin typeface="Calibri"/>
                <a:ea typeface="Calibri"/>
                <a:cs typeface="Calibri"/>
                <a:sym typeface="Calibri"/>
              </a:rPr>
              <a:t>the sweet spot for most deployments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PUTTING IT TOGETHER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Revisiting YOLO, SSD &amp; RetinaNet — by the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"/>
          <p:cNvSpPr txBox="1"/>
          <p:nvPr/>
        </p:nvSpPr>
        <p:spPr>
          <a:xfrm>
            <a:off x="640080" y="18288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3291840" y="1828800"/>
            <a:ext cx="2697480" cy="502920"/>
          </a:xfrm>
          <a:prstGeom prst="rect">
            <a:avLst/>
          </a:prstGeom>
          <a:solidFill>
            <a:srgbClr val="8A4A1E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0"/>
          <p:cNvSpPr txBox="1"/>
          <p:nvPr/>
        </p:nvSpPr>
        <p:spPr>
          <a:xfrm>
            <a:off x="3383280" y="18288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5989320" y="1828800"/>
            <a:ext cx="2697480" cy="502920"/>
          </a:xfrm>
          <a:prstGeom prst="rect">
            <a:avLst/>
          </a:prstGeom>
          <a:solidFill>
            <a:srgbClr val="1C6B63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 txBox="1"/>
          <p:nvPr/>
        </p:nvSpPr>
        <p:spPr>
          <a:xfrm>
            <a:off x="6080760" y="18288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SSD300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8686800" y="1828800"/>
            <a:ext cx="3200400" cy="502920"/>
          </a:xfrm>
          <a:prstGeom prst="rect">
            <a:avLst/>
          </a:prstGeom>
          <a:solidFill>
            <a:srgbClr val="1F3E75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"/>
          <p:cNvSpPr txBox="1"/>
          <p:nvPr/>
        </p:nvSpPr>
        <p:spPr>
          <a:xfrm>
            <a:off x="877824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RetinaNet (R101-FPN)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548640" y="2331720"/>
            <a:ext cx="27432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Dataset / protocol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3291840" y="2331720"/>
            <a:ext cx="269748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"/>
          <p:cNvSpPr txBox="1"/>
          <p:nvPr/>
        </p:nvSpPr>
        <p:spPr>
          <a:xfrm>
            <a:off x="3383280" y="23317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COCO test-dev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5989320" y="2331720"/>
            <a:ext cx="269748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 txBox="1"/>
          <p:nvPr/>
        </p:nvSpPr>
        <p:spPr>
          <a:xfrm>
            <a:off x="6080760" y="23317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COCO test-dev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8686800" y="2331720"/>
            <a:ext cx="320040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0"/>
          <p:cNvSpPr txBox="1"/>
          <p:nvPr/>
        </p:nvSpPr>
        <p:spPr>
          <a:xfrm>
            <a:off x="8778240" y="23317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COCO test-dev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548640" y="2788920"/>
            <a:ext cx="27432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"/>
          <p:cNvSpPr txBox="1"/>
          <p:nvPr/>
        </p:nvSpPr>
        <p:spPr>
          <a:xfrm>
            <a:off x="640080" y="2788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  (mAP@[.5:.95])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3291840" y="2788920"/>
            <a:ext cx="2697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 txBox="1"/>
          <p:nvPr/>
        </p:nvSpPr>
        <p:spPr>
          <a:xfrm>
            <a:off x="3383280" y="27889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~33.0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989320" y="2788920"/>
            <a:ext cx="2697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6080760" y="27889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~25.1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8686800" y="2788920"/>
            <a:ext cx="32004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 txBox="1"/>
          <p:nvPr/>
        </p:nvSpPr>
        <p:spPr>
          <a:xfrm>
            <a:off x="8778240" y="27889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~39.1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548640" y="3246120"/>
            <a:ext cx="27432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"/>
          <p:cNvSpPr txBox="1"/>
          <p:nvPr/>
        </p:nvSpPr>
        <p:spPr>
          <a:xfrm>
            <a:off x="640080" y="3246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AP50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291840" y="3246120"/>
            <a:ext cx="269748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0"/>
          <p:cNvSpPr txBox="1"/>
          <p:nvPr/>
        </p:nvSpPr>
        <p:spPr>
          <a:xfrm>
            <a:off x="3383280" y="32461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~57.9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5989320" y="3246120"/>
            <a:ext cx="269748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"/>
          <p:cNvSpPr txBox="1"/>
          <p:nvPr/>
        </p:nvSpPr>
        <p:spPr>
          <a:xfrm>
            <a:off x="6080760" y="32461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~43.1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8686800" y="3246120"/>
            <a:ext cx="3200400" cy="4572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 txBox="1"/>
          <p:nvPr/>
        </p:nvSpPr>
        <p:spPr>
          <a:xfrm>
            <a:off x="8778240" y="32461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~59.1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548640" y="3703320"/>
            <a:ext cx="2743200" cy="457200"/>
          </a:xfrm>
          <a:prstGeom prst="rect">
            <a:avLst/>
          </a:prstGeom>
          <a:solidFill>
            <a:srgbClr val="EEF3F6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0"/>
          <p:cNvSpPr txBox="1"/>
          <p:nvPr/>
        </p:nvSpPr>
        <p:spPr>
          <a:xfrm>
            <a:off x="640080" y="37033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Speed (approx.)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3291840" y="3703320"/>
            <a:ext cx="2697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"/>
          <p:cNvSpPr txBox="1"/>
          <p:nvPr/>
        </p:nvSpPr>
        <p:spPr>
          <a:xfrm>
            <a:off x="3383280" y="37033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~20–30 FPS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5989320" y="3703320"/>
            <a:ext cx="2697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"/>
          <p:cNvSpPr txBox="1"/>
          <p:nvPr/>
        </p:nvSpPr>
        <p:spPr>
          <a:xfrm>
            <a:off x="6080760" y="37033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~45–59 FPS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8686800" y="3703320"/>
            <a:ext cx="32004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0"/>
          <p:cNvSpPr txBox="1"/>
          <p:nvPr/>
        </p:nvSpPr>
        <p:spPr>
          <a:xfrm>
            <a:off x="8778240" y="37033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~5 FPS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548640" y="4434840"/>
            <a:ext cx="11109960" cy="1051560"/>
          </a:xfrm>
          <a:prstGeom prst="roundRect">
            <a:avLst>
              <a:gd fmla="val 6957" name="adj"/>
            </a:avLst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0"/>
          <p:cNvSpPr txBox="1"/>
          <p:nvPr/>
        </p:nvSpPr>
        <p:spPr>
          <a:xfrm>
            <a:off x="777240" y="4434840"/>
            <a:ext cx="10607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The pattern holds: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RetinaNet's Focal Loss + FPN buys real accuracy, at a real speed cost. SSD trades accuracy for speed. YOLOv3 sits in between. mAP is what lets us say this precisely instead of by feel.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 txBox="1"/>
          <p:nvPr/>
        </p:nvSpPr>
        <p:spPr>
          <a:xfrm>
            <a:off x="548640" y="557784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Figures are commonly cited approximate values from the original papers / COCO leaderboard history — illustrative, not a live benchmark.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 PRACTICE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2A47"/>
                </a:solidFill>
                <a:latin typeface="Cambria"/>
                <a:ea typeface="Cambria"/>
                <a:cs typeface="Cambria"/>
                <a:sym typeface="Cambria"/>
              </a:rPr>
              <a:t>Computing mAP Without Doing It By Hand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In practice, nobody computes AP by hand — standard tooling exists and should be used for any real evaluation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pycocotools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the reference implementation for COCO-style AP/AR; most detection frameworks wrap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torchmetrics.detection.MeanAveragePrecision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PyTorch-native option for training-loop evaluation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350"/>
              <a:buFont typeface="Calibri"/>
              <a:buChar char="▪"/>
            </a:pPr>
            <a:r>
              <a:rPr b="1" i="0" lang="en-US" sz="13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VOC-style eval scripts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Char char="–"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still used for legacy PASCAL-format benchmarks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What matters is understanding what the number means — today's lecture — so you can sanity-check the tool's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6492240" y="1737360"/>
            <a:ext cx="5120640" cy="777240"/>
          </a:xfrm>
          <a:prstGeom prst="roundRect">
            <a:avLst>
              <a:gd fmla="val 8235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/>
          <p:nvPr/>
        </p:nvSpPr>
        <p:spPr>
          <a:xfrm>
            <a:off x="6629400" y="1906524"/>
            <a:ext cx="438912" cy="43891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1"/>
          <p:cNvSpPr txBox="1"/>
          <p:nvPr/>
        </p:nvSpPr>
        <p:spPr>
          <a:xfrm>
            <a:off x="6629400" y="19065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 txBox="1"/>
          <p:nvPr/>
        </p:nvSpPr>
        <p:spPr>
          <a:xfrm>
            <a:off x="7223760" y="173736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Run the detector on the test set → save all predicted boxes + scores + classes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6492240" y="2606040"/>
            <a:ext cx="5120640" cy="777240"/>
          </a:xfrm>
          <a:prstGeom prst="roundRect">
            <a:avLst>
              <a:gd fmla="val 8235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6629400" y="2775204"/>
            <a:ext cx="438912" cy="43891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1"/>
          <p:cNvSpPr txBox="1"/>
          <p:nvPr/>
        </p:nvSpPr>
        <p:spPr>
          <a:xfrm>
            <a:off x="6629400" y="27752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 txBox="1"/>
          <p:nvPr/>
        </p:nvSpPr>
        <p:spPr>
          <a:xfrm>
            <a:off x="7223760" y="260604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Load ground-truth annotations for the same images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6492240" y="3474720"/>
            <a:ext cx="5120640" cy="777240"/>
          </a:xfrm>
          <a:prstGeom prst="roundRect">
            <a:avLst>
              <a:gd fmla="val 8235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6629400" y="3643884"/>
            <a:ext cx="438912" cy="43891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1"/>
          <p:cNvSpPr txBox="1"/>
          <p:nvPr/>
        </p:nvSpPr>
        <p:spPr>
          <a:xfrm>
            <a:off x="6629400" y="36438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7223760" y="347472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For each class, match predictions to ground truth via IoU, rank by confidence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6492240" y="4343400"/>
            <a:ext cx="5120640" cy="777240"/>
          </a:xfrm>
          <a:prstGeom prst="roundRect">
            <a:avLst>
              <a:gd fmla="val 8235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"/>
          <p:cNvSpPr/>
          <p:nvPr/>
        </p:nvSpPr>
        <p:spPr>
          <a:xfrm>
            <a:off x="6629400" y="4512564"/>
            <a:ext cx="438912" cy="43891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1"/>
          <p:cNvSpPr txBox="1"/>
          <p:nvPr/>
        </p:nvSpPr>
        <p:spPr>
          <a:xfrm>
            <a:off x="6629400" y="45125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 txBox="1"/>
          <p:nvPr/>
        </p:nvSpPr>
        <p:spPr>
          <a:xfrm>
            <a:off x="7223760" y="434340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Compute the precision-recall curve → interpolate → integrate to get 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6492240" y="5212080"/>
            <a:ext cx="5120640" cy="777240"/>
          </a:xfrm>
          <a:prstGeom prst="roundRect">
            <a:avLst>
              <a:gd fmla="val 8235" name="adj"/>
            </a:avLst>
          </a:prstGeom>
          <a:solidFill>
            <a:srgbClr val="EE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6629400" y="5381244"/>
            <a:ext cx="438912" cy="438912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1"/>
          <p:cNvSpPr txBox="1"/>
          <p:nvPr/>
        </p:nvSpPr>
        <p:spPr>
          <a:xfrm>
            <a:off x="6629400" y="53812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 txBox="1"/>
          <p:nvPr/>
        </p:nvSpPr>
        <p:spPr>
          <a:xfrm>
            <a:off x="7223760" y="521208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Average AP across classes (and across IoU thresholds, if using COCO protocol) → mAP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7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2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1234440" y="155448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DF2"/>
                </a:solidFill>
                <a:latin typeface="Calibri"/>
                <a:ea typeface="Calibri"/>
                <a:cs typeface="Calibri"/>
                <a:sym typeface="Calibri"/>
              </a:rPr>
              <a:t>IoU turns box overlap into a number; a threshold turns that number into TP / FP / FN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548640" y="2313432"/>
            <a:ext cx="502920" cy="502920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/>
          <p:cNvSpPr txBox="1"/>
          <p:nvPr/>
        </p:nvSpPr>
        <p:spPr>
          <a:xfrm>
            <a:off x="548640" y="23134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1234440" y="226771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DF2"/>
                </a:solidFill>
                <a:latin typeface="Calibri"/>
                <a:ea typeface="Calibri"/>
                <a:cs typeface="Calibri"/>
                <a:sym typeface="Calibri"/>
              </a:rPr>
              <a:t>Precision and recall each tell half the story — neither alone grades a detector fairly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548640" y="3026664"/>
            <a:ext cx="502920" cy="502920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2"/>
          <p:cNvSpPr txBox="1"/>
          <p:nvPr/>
        </p:nvSpPr>
        <p:spPr>
          <a:xfrm>
            <a:off x="548640" y="30266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 txBox="1"/>
          <p:nvPr/>
        </p:nvSpPr>
        <p:spPr>
          <a:xfrm>
            <a:off x="1234440" y="2980944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DF2"/>
                </a:solidFill>
                <a:latin typeface="Calibri"/>
                <a:ea typeface="Calibri"/>
                <a:cs typeface="Calibri"/>
                <a:sym typeface="Calibri"/>
              </a:rPr>
              <a:t>AP = area under the interpolated precision-recall curve for one class; mAP = its average across all classes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"/>
          <p:cNvSpPr txBox="1"/>
          <p:nvPr/>
        </p:nvSpPr>
        <p:spPr>
          <a:xfrm>
            <a:off x="548640" y="37398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1234440" y="369417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DF2"/>
                </a:solidFill>
                <a:latin typeface="Calibri"/>
                <a:ea typeface="Calibri"/>
                <a:cs typeface="Calibri"/>
                <a:sym typeface="Calibri"/>
              </a:rPr>
              <a:t>COCO's mAP@[.5:.95] is stricter and more informative than VOC's mAP@0.5 — know which one you're reading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548640" y="4453128"/>
            <a:ext cx="502920" cy="502920"/>
          </a:xfrm>
          <a:prstGeom prst="ellipse">
            <a:avLst/>
          </a:prstGeom>
          <a:solidFill>
            <a:srgbClr val="0F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2"/>
          <p:cNvSpPr txBox="1"/>
          <p:nvPr/>
        </p:nvSpPr>
        <p:spPr>
          <a:xfrm>
            <a:off x="548640" y="4453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 txBox="1"/>
          <p:nvPr/>
        </p:nvSpPr>
        <p:spPr>
          <a:xfrm>
            <a:off x="1234440" y="4407408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DF2"/>
                </a:solidFill>
                <a:latin typeface="Calibri"/>
                <a:ea typeface="Calibri"/>
                <a:cs typeface="Calibri"/>
                <a:sym typeface="Calibri"/>
              </a:rPr>
              <a:t>Always read mAP next to speed, resolution, and hardware — a number in isolation can mislead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16385A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Next: Week 10 —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Segmentation — from bounding boxes to pixel-level predictions.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DEEP LEARNING FOR COMPUTER VISION  |  WEEK 9 · LECTURE 2  |  HOUR 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