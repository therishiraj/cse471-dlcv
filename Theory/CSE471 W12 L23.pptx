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6005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56005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  ·   WEEK 12  ·  LECTURE 1  ·  HOUR 23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148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Generative Models?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Variational Autoencoders (VAEs)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so far has looked at an image and answered a question. Today, models that create the image in the first place.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UNIT · A NEW DIRECTION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Discriminative to Generative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this course has covered is DISCRIMINATIVE: given an image, predict something ABOUT it — a class, a box, a mask, a segmentation map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Formally, these models all learn p(y | x)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 label y given an input x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flip the direction entirely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predicting FROM an image, we build models that CREATE images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GENERATIVE models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 p(x) — the distribution of the data itself — well enough to draw brand-new samples from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63040" y="42062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4206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46725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42062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4206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discriminative and generative models, and why generative models matter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autoencoders, and why their latent space isn't good enough for generation on its own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VAEs fix this by encoding to a distribution, not a point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reparameterization trick and the two-part VAE loss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a trained VAE's latent space looks like, and where VAEs are used in practice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DIFFERENCE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Discriminative vs. Generative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1206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Learns p(y | x)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2608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is this?”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decision boundary between classes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this course has covered until today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labels to train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737360"/>
            <a:ext cx="51206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737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95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Learns p(x)  (or p(x, y))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2608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do realistic examples look like?”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full data distribution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synthesize brand-new, never-seen examples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often train with just unlabeled data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Generative Models?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73352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6733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Synthesis &amp; Augmentation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73352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additional realistic training examples, especially for rare classes or scenarios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569464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256946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Structure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69464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can generate realistic samples has learned the underlying structure, not just a shortcut rule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4655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465576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inputs that don't fit the learned data distribution well — poor reconstruction signals “out of distribution”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79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361688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436168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Learning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361688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 internal code often captures meaningful, reusable features for other tasks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760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5257800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17320" y="525780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Creative Use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257800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rare, expensive, or dangerous scenarios; art, design, and content generation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“Generating” an Image Mean?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model learns a probability distribution over the space of all possible images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treated as samples FROM that (unknown) true distribution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we can SAMPLE from the model's learned distribution to produce brand-new images that share the statistical structure of the training data — without being exact copies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fundamentally different from memorization or retrieval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48272" y="1920240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(samples)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3383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29260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3657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0" y="3474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0" y="38404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3474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38404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3200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2514600"/>
            <a:ext cx="3749040" cy="1554480"/>
          </a:xfrm>
          <a:prstGeom prst="ellipse">
            <a:avLst/>
          </a:prstGeom>
          <a:ln w="19050">
            <a:solidFill>
              <a:srgbClr val="5C6B7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961120" y="4206240"/>
            <a:ext cx="274320" cy="320040"/>
          </a:xfrm>
          <a:prstGeom prst="downArrow">
            <a:avLst/>
          </a:prstGeom>
          <a:solidFill>
            <a:srgbClr val="5C6B7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4663440"/>
            <a:ext cx="5029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4663440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SAMPLES (generated)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0" y="603504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630936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594360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576072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621792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Manifold of Realistic Images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live in an enormous, high-dimensional pixel space — a modest 64×64 RGB image alone has 12,288 dimensions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overwhelming majority of points in that space are just noise</a:t>
            </a:r>
            <a:endParaRPr lang="en-US" sz="12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realistic images at all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images form a comparatively tiny, structured region within that huge space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model's real job:</a:t>
            </a:r>
            <a:endParaRPr lang="en-US" sz="12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model — and sample from — that tiny region, not the whole space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0" y="1920240"/>
            <a:ext cx="5029200" cy="3931920"/>
          </a:xfrm>
          <a:prstGeom prst="rect">
            <a:avLst/>
          </a:prstGeom>
          <a:solidFill>
            <a:srgbClr val="F7FAFB"/>
          </a:solidFill>
          <a:ln w="15875">
            <a:solidFill>
              <a:srgbClr val="CBD8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of all possible pixel arrangements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0" y="3108960"/>
            <a:ext cx="2743200" cy="1828800"/>
          </a:xfrm>
          <a:prstGeom prst="octagon">
            <a:avLst/>
          </a:prstGeom>
          <a:solidFill>
            <a:srgbClr val="D8EEDF"/>
          </a:solidFill>
          <a:ln w="25400">
            <a:solidFill>
              <a:srgbClr val="1E7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94576" y="241401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0826496" y="250545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497433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35056" y="506577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03136" y="369417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9376" y="387705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0496" y="3602736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0576" y="3968496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9729216" y="3602736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8" name="Shape 16"/>
          <p:cNvSpPr/>
          <p:nvPr/>
        </p:nvSpPr>
        <p:spPr>
          <a:xfrm>
            <a:off x="8814816" y="4334256"/>
            <a:ext cx="109728" cy="10972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random noise (not an image)   ·   green = realistic images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STEPPING STONE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Autoencoders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autoencoder = an encoder + a decoder, trained together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an input image into a small latent code — a vector far smaller than the image itself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the image from that latent code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purely to minimize reconstruction error — how different is the output from the input?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forces the network to find a compact, information-dense representation of the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4114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45536" y="4535424"/>
            <a:ext cx="29260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4114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48656" y="4535424"/>
            <a:ext cx="29260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5577840" y="411480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4114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(z)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0256" y="4535424"/>
            <a:ext cx="29260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4114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23376" y="4535424"/>
            <a:ext cx="292608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4114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TO SOLVE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Plain Autoencoders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forces the latent space to be organized, smooth, or continuous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images can land far apart; very different images can land near each other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 RANDOM point that wasn't produced by encoding a real image usually decodes to garbage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“holes” in the space with no meaningful mapping to a realistic image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compression and reconstruction — poor as a generator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1920240"/>
            <a:ext cx="5029200" cy="3657600"/>
          </a:xfrm>
          <a:prstGeom prst="rect">
            <a:avLst/>
          </a:prstGeom>
          <a:solidFill>
            <a:srgbClr val="F7FAFB"/>
          </a:solidFill>
          <a:ln w="15875">
            <a:solidFill>
              <a:srgbClr val="CBD8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0" y="28346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31089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32918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0" y="274320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301752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320040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484632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51206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0" y="521208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49377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0" y="51206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530352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40233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42062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8592" y="2816352"/>
            <a:ext cx="219456" cy="219456"/>
          </a:xfrm>
          <a:prstGeom prst="line">
            <a:avLst/>
          </a:prstGeom>
          <a:noFill/>
          <a:ln w="31750">
            <a:solidFill>
              <a:srgbClr val="B2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08592" y="3035808"/>
            <a:ext cx="219456" cy="-219456"/>
          </a:xfrm>
          <a:prstGeom prst="line">
            <a:avLst/>
          </a:prstGeom>
          <a:noFill/>
          <a:ln w="31750">
            <a:solidFill>
              <a:srgbClr val="B2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2468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 → garbage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56875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of encoded real images, with empty gaps between them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VAEs: A Probabilistic Twist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encoding an image to a single point, encode it to a PROBABILITY DISTRIBUTION over latent space — a Gaussian, described by a mean μ and variance σ²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we sample a random point FROM that distribution to decode — not just its mean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change forces the latent space to be smooth and continuous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points must decode similarly, because they're overlapping samples from nearby distributions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51206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384048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AUTOENCODER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0128" y="48463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212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to a single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384048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66760" y="4526280"/>
            <a:ext cx="1005840" cy="822960"/>
          </a:xfrm>
          <a:prstGeom prst="ellipse">
            <a:avLst/>
          </a:prstGeom>
          <a:solidFill>
            <a:srgbClr val="FBE4D6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5486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to a distribution (μ, σ²)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VAE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84832" y="2523744"/>
            <a:ext cx="23774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7" name="Shape 5"/>
          <p:cNvSpPr/>
          <p:nvPr/>
        </p:nvSpPr>
        <p:spPr>
          <a:xfrm>
            <a:off x="2350008" y="21031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50008" y="21031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523744"/>
            <a:ext cx="23774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4059936" y="20574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59936" y="20574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59936" y="269748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C257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59936" y="26974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38928" y="2523744"/>
            <a:ext cx="23774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04104" y="21031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04104" y="21031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N(μ,σ²)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2523744"/>
            <a:ext cx="23774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4032" y="21031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1031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58784" y="2523744"/>
            <a:ext cx="237744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23960" y="21031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0" y="21031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4904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doesn't output a code — it outputs the PARAMETERS of a distribution: a mean μ and variance σ², one pair per latent dimension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latent vector z is then sampled from N(μ, σ²)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reconstructs an image from that sampled z, exactly like a regular autoencoder from here 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randomness in sampling is exactly what smooths out the latent space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TRAINABLE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Reparameterization Trick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z ~ N(μ, σ²) directly is a random operation — gradients can't flow back through it to train the encoder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rewrite the sample 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μ + σ ⊙ ε,   where ε ~ N(0, 1)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 drawn from a fixed distribution OUTSIDE the learnable parameters — it carries the randomness but no gradient needs to flow through it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and σ are produced by ordinary, differentiable layers — gradients flow through them normally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rewrite is what makes training a VAE with standard backpropagation possible at all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4572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1168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45720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26280" y="4572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45720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4572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6E8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~ N(0,1)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4572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z  (differentiable in μ, σ; random only via ε)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VAE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VAE Loss: Two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691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=  </a:t>
            </a:r>
            <a:pPr algn="ctr"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Loss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Loss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EEF3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926080"/>
            <a:ext cx="512064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Loss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decoded image match the original input? Typically pixel-wise MSE or binary cross-entropy.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model toward accurate, faithful reconstructions.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9260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EEF3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2926080"/>
            <a:ext cx="51206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Loss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is the encoder's output distribution N(μ, σ²) from a standard normal prior N(0, 1)?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every encoded distribution toward a shared, smooth, well-organized region of latent space.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VAE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KL Term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model could “cheat”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σ → 0 for every input, effectively collapsing back into a plain, deterministic autoencoder that just memorizes points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KL term penalizes distributions that stray too far from a standard normal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every encoded distribution overlapping with its neighbors, centered near the origin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whole latent space becomes smooth, continuous, and “filled in”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property needed for sampling brand-new points later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12064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KL TERM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530352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534924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94360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598932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539496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5440680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6217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isolated clumps — gaps between them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12064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39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KL TERM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4572000"/>
            <a:ext cx="1371600" cy="1188720"/>
          </a:xfrm>
          <a:prstGeom prst="ellipse">
            <a:avLst/>
          </a:prstGeom>
          <a:solidFill>
            <a:srgbClr val="D8EEDF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754880"/>
            <a:ext cx="1371600" cy="1188720"/>
          </a:xfrm>
          <a:prstGeom prst="ellipse">
            <a:avLst/>
          </a:prstGeom>
          <a:solidFill>
            <a:srgbClr val="D8EEDF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4617720"/>
            <a:ext cx="1371600" cy="1188720"/>
          </a:xfrm>
          <a:prstGeom prst="ellipse">
            <a:avLst/>
          </a:prstGeom>
          <a:solidFill>
            <a:srgbClr val="D8EEDF">
              <a:alpha val="7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6217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overlapping distributions — no gaps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VAE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Reconstruction vs. Regularization Trade-off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loss terms pull in opposite directions — balancing them is central to getting a VAE that both reconstructs AND generates well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VAE variants (e.g. β-VAE) add a tunable weight on the KL term to control this balance explicitly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017520"/>
            <a:ext cx="3657600" cy="13716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weight on Reconstruction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3108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distributions shrink toward single points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3657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organized latent space → bad samples when generating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572000"/>
            <a:ext cx="3657600" cy="1371600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572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weight on KL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663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distributions all collapse toward the same N(0,1), ignoring the input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52120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“Posterior collapse” — blurry, generic reconstructions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TRAINED VAE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New Images from a Trained VAE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discard the encoder entirely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 brand-new image: sample a random vector z directly from the standard normal prior N(0, 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z straight into the decoder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training aligned the whole latent space with this prior, almost any sampled z decodes into something that looks like a plausible member of the training distribution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40233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N(0,1)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44439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40233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44439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40233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52578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image needed — just noise in, a new image out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VAE Latent Space Looks Like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Interpolating linearly between the latent codes of two real images, and decoding each intermediate point, produces a smooth, semantically meaningful transition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datasets like faces, specific directions in latent space often correspond to interpretable attributes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“smile” direction, a “rotate head” direction, and so 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smooth, structured space is the direct payoff of the KL regularization from earlier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866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9868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497180"/>
          </a:solidFill>
          <a:ln/>
        </p:spPr>
      </p:sp>
      <p:sp>
        <p:nvSpPr>
          <p:cNvPr id="7" name="Shape 5"/>
          <p:cNvSpPr/>
          <p:nvPr/>
        </p:nvSpPr>
        <p:spPr>
          <a:xfrm>
            <a:off x="45870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776F6D"/>
          </a:solidFill>
          <a:ln/>
        </p:spPr>
      </p:sp>
      <p:sp>
        <p:nvSpPr>
          <p:cNvPr id="8" name="Shape 6"/>
          <p:cNvSpPr/>
          <p:nvPr/>
        </p:nvSpPr>
        <p:spPr>
          <a:xfrm>
            <a:off x="61872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A46E5B"/>
          </a:solidFill>
          <a:ln/>
        </p:spPr>
      </p:sp>
      <p:sp>
        <p:nvSpPr>
          <p:cNvPr id="9" name="Shape 7"/>
          <p:cNvSpPr/>
          <p:nvPr/>
        </p:nvSpPr>
        <p:spPr>
          <a:xfrm>
            <a:off x="77874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D26C48"/>
          </a:solidFill>
          <a:ln/>
        </p:spPr>
      </p:sp>
      <p:sp>
        <p:nvSpPr>
          <p:cNvPr id="10" name="Shape 8"/>
          <p:cNvSpPr/>
          <p:nvPr/>
        </p:nvSpPr>
        <p:spPr>
          <a:xfrm>
            <a:off x="9387688" y="393192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86688" y="52120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  (real image A)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387688" y="52120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  (real image B)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86688" y="35661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interpolated steps in between — each decodes to a plausible, smoothly-changing image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VAES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VAE: Strengths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well-understood training — a principled probabilistic objective, not an adversarial game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genuinely continuous, meaningful, interpretable latent space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supports smooth interpolation and structured exploration of the latent space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is directly useful on its own — a general-purpose learned feature extractor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30352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images tend to be blurrier than GAN-generated ones — the reconstruction loss hedges over uncertainty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reconstruction vs. KL terms can be delicate to tune well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naturally suited to extremely high-resolution, sharp image synthesis on its 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846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preview: </a:t>
            </a:r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(next up) trade VAE's stability for sharper images via an adversarial game between two networks — a very different set of trade-offs.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VAEs Are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73352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67335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&amp; Interpolation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673352"/>
            <a:ext cx="6446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transitions between examples, structured exploration of a learned latent space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569464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256946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569464"/>
            <a:ext cx="6446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reconstruction of an input signals it doesn't fit the learned data distribution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46557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Learning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465576"/>
            <a:ext cx="6446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 latent code is often a useful general-purpose feature for other downstream tasks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79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361688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436168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Compression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4361688"/>
            <a:ext cx="6446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encoder-decoder pair is, structurally, a learned lossy compressor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760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5257800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17320" y="525780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Modern Systems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5257800"/>
            <a:ext cx="6446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 Models (the basis of Stable Diffusion) use a VAE to compress images before running diffusion on the compressed representation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learn the data distribution p(x) itself, not just a decision rule — enabling brand-new samples, not just predictions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58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autoencoders compress well but leave gaps in latent space — not a reliable source of new, realistic samples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 fix this by encoding to a distribution, not a point, and regularizing it toward a standard normal prior via KL divergence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reparameterization trick (z = μ + σ⊙ε) is what makes this trainable with ordinary backpropagation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 smooth, continuous, interpretable latent space you can sample and interpolate through directly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 (GANs) — a completely different, adversarial approach to generating sharper images.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1  |  HOUR 23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12 · Lecture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Generative Models &amp; VAEs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2026-09-05T18:47:30Z</dcterms:created>
  <dcterms:modified xsi:type="dcterms:W3CDTF">2026-09-05T18:47:30Z</dcterms:modified>
</cp:coreProperties>
</file>