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50" b="0" i="0" u="none" strike="noStrike">
                <a:solidFill>
                  <a:srgbClr val="0F2A47"/>
                </a:solidFill>
                <a:latin typeface="Arial"/>
              </a:defRPr>
            </a:pPr>
            <a:r>
              <a:rPr sz="1150" b="0" i="0" u="none" strike="noStrike">
                <a:solidFill>
                  <a:srgbClr val="0F2A47"/>
                </a:solidFill>
                <a:latin typeface="Arial"/>
              </a:rPr>
              <a:t>Class Balance Before vs. After Synthetic Augmentation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Before</c:v>
                </c:pt>
              </c:strCache>
            </c:strRef>
          </c:tx>
          <c:spPr>
            <a:solidFill>
              <a:srgbClr val="5C6B7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Common
Class</c:v>
                  </c:pt>
                  <c:pt idx="1">
                    <c:v>Rare
Class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1000</c:v>
                </c:pt>
                <c:pt idx="1">
                  <c:v>40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After synthetic augmentation</c:v>
                </c:pt>
              </c:strCache>
            </c:strRef>
          </c:tx>
          <c:spPr>
            <a:solidFill>
              <a:srgbClr val="1E7A4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Common
Class</c:v>
                  </c:pt>
                  <c:pt idx="1">
                    <c:v>Rare
Class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1000</c:v>
                </c:pt>
                <c:pt idx="1">
                  <c:v>600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A253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4E9E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C6B7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5898" y="0"/>
            <a:ext cx="0" cy="6858000"/>
          </a:xfrm>
          <a:prstGeom prst="line">
            <a:avLst/>
          </a:prstGeom>
          <a:noFill/>
          <a:ln w="9525">
            <a:solidFill>
              <a:srgbClr val="1A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31797" y="0"/>
            <a:ext cx="0" cy="6858000"/>
          </a:xfrm>
          <a:prstGeom prst="line">
            <a:avLst/>
          </a:prstGeom>
          <a:noFill/>
          <a:ln w="9525">
            <a:solidFill>
              <a:srgbClr val="1A3A5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047695" y="0"/>
            <a:ext cx="0" cy="6858000"/>
          </a:xfrm>
          <a:prstGeom prst="line">
            <a:avLst/>
          </a:prstGeom>
          <a:noFill/>
          <a:ln w="9525">
            <a:solidFill>
              <a:srgbClr val="1A3A5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063594" y="0"/>
            <a:ext cx="0" cy="6858000"/>
          </a:xfrm>
          <a:prstGeom prst="line">
            <a:avLst/>
          </a:prstGeom>
          <a:noFill/>
          <a:ln w="9525">
            <a:solidFill>
              <a:srgbClr val="1A3A5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79492" y="0"/>
            <a:ext cx="0" cy="6858000"/>
          </a:xfrm>
          <a:prstGeom prst="line">
            <a:avLst/>
          </a:prstGeom>
          <a:noFill/>
          <a:ln w="9525">
            <a:solidFill>
              <a:srgbClr val="1A3A5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095390" y="0"/>
            <a:ext cx="0" cy="6858000"/>
          </a:xfrm>
          <a:prstGeom prst="line">
            <a:avLst/>
          </a:prstGeom>
          <a:noFill/>
          <a:ln w="9525">
            <a:solidFill>
              <a:srgbClr val="1A3A5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111289" y="0"/>
            <a:ext cx="0" cy="6858000"/>
          </a:xfrm>
          <a:prstGeom prst="line">
            <a:avLst/>
          </a:prstGeom>
          <a:noFill/>
          <a:ln w="9525">
            <a:solidFill>
              <a:srgbClr val="1A3A5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127187" y="0"/>
            <a:ext cx="0" cy="6858000"/>
          </a:xfrm>
          <a:prstGeom prst="line">
            <a:avLst/>
          </a:prstGeom>
          <a:noFill/>
          <a:ln w="9525">
            <a:solidFill>
              <a:srgbClr val="1A3A5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3086" y="0"/>
            <a:ext cx="0" cy="6858000"/>
          </a:xfrm>
          <a:prstGeom prst="line">
            <a:avLst/>
          </a:prstGeom>
          <a:noFill/>
          <a:ln w="9525">
            <a:solidFill>
              <a:srgbClr val="1A3A5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158984" y="0"/>
            <a:ext cx="0" cy="6858000"/>
          </a:xfrm>
          <a:prstGeom prst="line">
            <a:avLst/>
          </a:prstGeom>
          <a:noFill/>
          <a:ln w="9525">
            <a:solidFill>
              <a:srgbClr val="1A3A5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174882" y="0"/>
            <a:ext cx="0" cy="6858000"/>
          </a:xfrm>
          <a:prstGeom prst="line">
            <a:avLst/>
          </a:prstGeom>
          <a:noFill/>
          <a:ln w="9525">
            <a:solidFill>
              <a:srgbClr val="1A3A5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979322"/>
            <a:ext cx="12191695" cy="0"/>
          </a:xfrm>
          <a:prstGeom prst="line">
            <a:avLst/>
          </a:prstGeom>
          <a:noFill/>
          <a:ln w="9525">
            <a:solidFill>
              <a:srgbClr val="1A3A5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0" y="1958645"/>
            <a:ext cx="12191695" cy="0"/>
          </a:xfrm>
          <a:prstGeom prst="line">
            <a:avLst/>
          </a:prstGeom>
          <a:noFill/>
          <a:ln w="9525">
            <a:solidFill>
              <a:srgbClr val="1A3A5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0" y="2937967"/>
            <a:ext cx="12191695" cy="0"/>
          </a:xfrm>
          <a:prstGeom prst="line">
            <a:avLst/>
          </a:prstGeom>
          <a:noFill/>
          <a:ln w="9525">
            <a:solidFill>
              <a:srgbClr val="1A3A5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3917290"/>
            <a:ext cx="12191695" cy="0"/>
          </a:xfrm>
          <a:prstGeom prst="line">
            <a:avLst/>
          </a:prstGeom>
          <a:noFill/>
          <a:ln w="9525">
            <a:solidFill>
              <a:srgbClr val="1A3A5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0" y="4896612"/>
            <a:ext cx="12191695" cy="0"/>
          </a:xfrm>
          <a:prstGeom prst="line">
            <a:avLst/>
          </a:prstGeom>
          <a:noFill/>
          <a:ln w="9525">
            <a:solidFill>
              <a:srgbClr val="1A3A5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0" y="5875934"/>
            <a:ext cx="12191695" cy="0"/>
          </a:xfrm>
          <a:prstGeom prst="line">
            <a:avLst/>
          </a:prstGeom>
          <a:noFill/>
          <a:ln w="9525">
            <a:solidFill>
              <a:srgbClr val="1A3A5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22960" y="1371600"/>
            <a:ext cx="365760" cy="41148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20" name="Shape 18"/>
          <p:cNvSpPr/>
          <p:nvPr/>
        </p:nvSpPr>
        <p:spPr>
          <a:xfrm>
            <a:off x="822960" y="1371600"/>
            <a:ext cx="41148" cy="36576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21" name="Shape 19"/>
          <p:cNvSpPr/>
          <p:nvPr/>
        </p:nvSpPr>
        <p:spPr>
          <a:xfrm>
            <a:off x="9418320" y="1371600"/>
            <a:ext cx="365760" cy="41148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22" name="Shape 20"/>
          <p:cNvSpPr/>
          <p:nvPr/>
        </p:nvSpPr>
        <p:spPr>
          <a:xfrm>
            <a:off x="9742932" y="1371600"/>
            <a:ext cx="41148" cy="36576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23" name="Shape 21"/>
          <p:cNvSpPr/>
          <p:nvPr/>
        </p:nvSpPr>
        <p:spPr>
          <a:xfrm>
            <a:off x="822960" y="4850892"/>
            <a:ext cx="365760" cy="41148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24" name="Shape 22"/>
          <p:cNvSpPr/>
          <p:nvPr/>
        </p:nvSpPr>
        <p:spPr>
          <a:xfrm>
            <a:off x="822960" y="4526280"/>
            <a:ext cx="41148" cy="36576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25" name="Shape 23"/>
          <p:cNvSpPr/>
          <p:nvPr/>
        </p:nvSpPr>
        <p:spPr>
          <a:xfrm>
            <a:off x="9418320" y="4850892"/>
            <a:ext cx="365760" cy="41148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26" name="Shape 24"/>
          <p:cNvSpPr/>
          <p:nvPr/>
        </p:nvSpPr>
        <p:spPr>
          <a:xfrm>
            <a:off x="9742932" y="4526280"/>
            <a:ext cx="41148" cy="36576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822960" y="16459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5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VI   ·   WEEK 13  ·  LECTURE 1  ·  HOUR 25</a:t>
            </a:r>
            <a:endParaRPr lang="en-US" sz="1350" dirty="0"/>
          </a:p>
        </p:txBody>
      </p:sp>
      <p:sp>
        <p:nvSpPr>
          <p:cNvPr id="28" name="Text 26"/>
          <p:cNvSpPr txBox="1"/>
          <p:nvPr/>
        </p:nvSpPr>
        <p:spPr>
          <a:xfrm>
            <a:off x="822960" y="21031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Generative Models in Practice</a:t>
            </a:r>
            <a:endParaRPr lang="en-US" sz="3400" dirty="0"/>
          </a:p>
        </p:txBody>
      </p:sp>
      <p:sp>
        <p:nvSpPr>
          <p:cNvPr id="29" name="Text 27"/>
          <p:cNvSpPr txBox="1"/>
          <p:nvPr/>
        </p:nvSpPr>
        <p:spPr>
          <a:xfrm>
            <a:off x="822960" y="269748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&amp; Vision-Language Models</a:t>
            </a:r>
            <a:endParaRPr lang="en-US" sz="3400" dirty="0"/>
          </a:p>
        </p:txBody>
      </p:sp>
      <p:sp>
        <p:nvSpPr>
          <p:cNvPr id="30" name="Text 28"/>
          <p:cNvSpPr txBox="1"/>
          <p:nvPr/>
        </p:nvSpPr>
        <p:spPr>
          <a:xfrm>
            <a:off x="822960" y="352044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6B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Applications</a:t>
            </a:r>
            <a:pPr indent="0" marL="0">
              <a:buNone/>
            </a:pPr>
            <a:r>
              <a:rPr lang="en-US" sz="2100" dirty="0">
                <a:solidFill>
                  <a:srgbClr val="5C7A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·  </a:t>
            </a:r>
            <a:pPr indent="0" marL="0">
              <a:buNone/>
            </a:pPr>
            <a:r>
              <a:rPr lang="en-US" sz="2100" b="1" dirty="0">
                <a:solidFill>
                  <a:srgbClr val="FF6B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CLIP</a:t>
            </a:r>
            <a:endParaRPr lang="en-US" sz="2100" dirty="0"/>
          </a:p>
        </p:txBody>
      </p:sp>
      <p:sp>
        <p:nvSpPr>
          <p:cNvPr id="31" name="Text 29"/>
          <p:cNvSpPr txBox="1"/>
          <p:nvPr/>
        </p:nvSpPr>
        <p:spPr>
          <a:xfrm>
            <a:off x="822960" y="42519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E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for Computer Vision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822960" y="5989320"/>
            <a:ext cx="10241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8FAA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generating pixels to connecting pictures and words in one shared space.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601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 · FROM HOW TO WHERE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How They Work to Where They're Used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37360"/>
            <a:ext cx="1097280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50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two lectures: HOW generative models work</a:t>
            </a:r>
            <a:endParaRPr lang="en-US" sz="1500" dirty="0"/>
          </a:p>
          <a:p>
            <a:pPr lvl="1" marL="685800" indent="-342900">
              <a:spcAft>
                <a:spcPts val="1200"/>
              </a:spcAft>
              <a:buSzPct val="100000"/>
              <a:buChar char="–"/>
            </a:pPr>
            <a:r>
              <a:rPr lang="en-US" sz="13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VAEs (probabilistic, stable, smooth latent space) and the GAN family — DCGAN, CycleGAN, StyleGAN (adversarial, sharper, more specialized)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50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Today, two things:</a:t>
            </a:r>
            <a:endParaRPr lang="en-US" sz="1500" dirty="0"/>
          </a:p>
          <a:p>
            <a:pPr lvl="1" marL="685800" indent="-342900">
              <a:spcAft>
                <a:spcPts val="1200"/>
              </a:spcAft>
              <a:buSzPct val="100000"/>
              <a:buChar char="–"/>
            </a:pPr>
            <a:r>
              <a:rPr lang="en-US" sz="13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back and survey WHERE these models actually get used, across industries</a:t>
            </a:r>
            <a:endParaRPr lang="en-US" sz="1500" dirty="0"/>
          </a:p>
          <a:p>
            <a:pPr lvl="1" marL="685800" indent="-342900">
              <a:spcAft>
                <a:spcPts val="1200"/>
              </a:spcAft>
              <a:buSzPct val="100000"/>
              <a:buChar char="–"/>
            </a:pPr>
            <a:r>
              <a:rPr lang="en-US" sz="13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 a genuinely different kind of model — one that connects vision and language directly: CLIP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FOR COMPUTER VISION  |  WEEK 13 · LECTURE 1  |  HOUR 25</a:t>
            </a:r>
            <a:endParaRPr lang="en-US" sz="850" dirty="0"/>
          </a:p>
        </p:txBody>
      </p:sp>
      <p:sp>
        <p:nvSpPr>
          <p:cNvPr id="6" name="Text 4"/>
          <p:cNvSpPr txBox="1"/>
          <p:nvPr/>
        </p:nvSpPr>
        <p:spPr>
          <a:xfrm>
            <a:off x="11430000" y="6547104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601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ROADMAP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 Objectives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66928" cy="566928"/>
          </a:xfrm>
          <a:prstGeom prst="ellipse">
            <a:avLst/>
          </a:prstGeom>
          <a:solidFill>
            <a:srgbClr val="0F2A4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69164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298448" y="1636776"/>
            <a:ext cx="9966960" cy="749808"/>
          </a:xfrm>
          <a:prstGeom prst="roundRect">
            <a:avLst>
              <a:gd name="adj" fmla="val 8537"/>
            </a:avLst>
          </a:prstGeom>
          <a:solidFill>
            <a:srgbClr val="EEF3F6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508760" y="1636776"/>
            <a:ext cx="9601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where generative models (VAEs, GANs) are actually applied across industries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48640" y="2587752"/>
            <a:ext cx="566928" cy="566928"/>
          </a:xfrm>
          <a:prstGeom prst="ellipse">
            <a:avLst/>
          </a:prstGeom>
          <a:solidFill>
            <a:srgbClr val="0F2A47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258775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298448" y="2532888"/>
            <a:ext cx="9966960" cy="749808"/>
          </a:xfrm>
          <a:prstGeom prst="roundRect">
            <a:avLst>
              <a:gd name="adj" fmla="val 8537"/>
            </a:avLst>
          </a:prstGeom>
          <a:solidFill>
            <a:srgbClr val="EEF3F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508760" y="2532888"/>
            <a:ext cx="9601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the real risks and responsible-use considerations around generative models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548640" y="3483864"/>
            <a:ext cx="566928" cy="566928"/>
          </a:xfrm>
          <a:prstGeom prst="ellipse">
            <a:avLst/>
          </a:prstGeom>
          <a:solidFill>
            <a:srgbClr val="0F2A47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48640" y="3483864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1298448" y="3429000"/>
            <a:ext cx="9966960" cy="749808"/>
          </a:xfrm>
          <a:prstGeom prst="roundRect">
            <a:avLst>
              <a:gd name="adj" fmla="val 8537"/>
            </a:avLst>
          </a:prstGeom>
          <a:solidFill>
            <a:srgbClr val="EEF3F6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1508760" y="3429000"/>
            <a:ext cx="9601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CLIP's contrastive pretraining approach connecting images and text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548640" y="4379976"/>
            <a:ext cx="566928" cy="566928"/>
          </a:xfrm>
          <a:prstGeom prst="ellipse">
            <a:avLst/>
          </a:prstGeom>
          <a:solidFill>
            <a:srgbClr val="0F2A47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48640" y="437997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1298448" y="4325112"/>
            <a:ext cx="9966960" cy="749808"/>
          </a:xfrm>
          <a:prstGeom prst="roundRect">
            <a:avLst>
              <a:gd name="adj" fmla="val 8537"/>
            </a:avLst>
          </a:prstGeom>
          <a:solidFill>
            <a:srgbClr val="EEF3F6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1508760" y="4325112"/>
            <a:ext cx="9601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how CLIP enables zero-shot classification with no task-specific training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548640" y="5276088"/>
            <a:ext cx="566928" cy="566928"/>
          </a:xfrm>
          <a:prstGeom prst="ellipse">
            <a:avLst/>
          </a:prstGeom>
          <a:solidFill>
            <a:srgbClr val="0F2A47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548640" y="527608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1298448" y="5221224"/>
            <a:ext cx="9966960" cy="749808"/>
          </a:xfrm>
          <a:prstGeom prst="roundRect">
            <a:avLst>
              <a:gd name="adj" fmla="val 8537"/>
            </a:avLst>
          </a:prstGeom>
          <a:solidFill>
            <a:srgbClr val="EEF3F6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1508760" y="5221224"/>
            <a:ext cx="9601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why CLIP became foundational to modern multimodal AI systems</a:t>
            </a:r>
            <a:endParaRPr lang="en-US" sz="145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FOR COMPUTER VISION  |  WEEK 13 · LECTURE 1  |  HOUR 25</a:t>
            </a:r>
            <a:endParaRPr lang="en-US" sz="850" dirty="0"/>
          </a:p>
        </p:txBody>
      </p:sp>
      <p:sp>
        <p:nvSpPr>
          <p:cNvPr id="25" name="Text 23"/>
          <p:cNvSpPr txBox="1"/>
          <p:nvPr/>
        </p:nvSpPr>
        <p:spPr>
          <a:xfrm>
            <a:off x="11430000" y="6547104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601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REFRESHER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Generative Toolkit So Far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697480" cy="3291840"/>
          </a:xfrm>
          <a:prstGeom prst="roundRect">
            <a:avLst>
              <a:gd name="adj" fmla="val 2712"/>
            </a:avLst>
          </a:prstGeom>
          <a:solidFill>
            <a:srgbClr val="EEF3F6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2011680"/>
            <a:ext cx="2697480" cy="54864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2011680"/>
            <a:ext cx="2697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VAE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743200"/>
            <a:ext cx="2331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Probabilistic, stable training, smooth latent space — outputs tend to be softer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383280" y="2011680"/>
            <a:ext cx="2697480" cy="3291840"/>
          </a:xfrm>
          <a:prstGeom prst="roundRect">
            <a:avLst>
              <a:gd name="adj" fmla="val 2712"/>
            </a:avLst>
          </a:prstGeom>
          <a:solidFill>
            <a:srgbClr val="EEF3F6"/>
          </a:solidFill>
          <a:ln/>
        </p:spPr>
      </p:sp>
      <p:sp>
        <p:nvSpPr>
          <p:cNvPr id="9" name="Shape 7"/>
          <p:cNvSpPr/>
          <p:nvPr/>
        </p:nvSpPr>
        <p:spPr>
          <a:xfrm>
            <a:off x="3383280" y="2011680"/>
            <a:ext cx="2697480" cy="548640"/>
          </a:xfrm>
          <a:prstGeom prst="rect">
            <a:avLst/>
          </a:prstGeom>
          <a:solidFill>
            <a:srgbClr val="6E86A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383280" y="2011680"/>
            <a:ext cx="2697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DCGAN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3566160" y="2743200"/>
            <a:ext cx="2331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Convolutional GAN architecture — a stable, general-purpose baseline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217920" y="2011680"/>
            <a:ext cx="2697480" cy="3291840"/>
          </a:xfrm>
          <a:prstGeom prst="roundRect">
            <a:avLst>
              <a:gd name="adj" fmla="val 2712"/>
            </a:avLst>
          </a:prstGeom>
          <a:solidFill>
            <a:srgbClr val="EEF3F6"/>
          </a:solidFill>
          <a:ln/>
        </p:spPr>
      </p:sp>
      <p:sp>
        <p:nvSpPr>
          <p:cNvPr id="13" name="Shape 11"/>
          <p:cNvSpPr/>
          <p:nvPr/>
        </p:nvSpPr>
        <p:spPr>
          <a:xfrm>
            <a:off x="6217920" y="2011680"/>
            <a:ext cx="2697480" cy="54864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217920" y="2011680"/>
            <a:ext cx="2697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CycleGAN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0" y="2743200"/>
            <a:ext cx="2331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Translates between domains with NO paired training data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9052560" y="2011680"/>
            <a:ext cx="2697480" cy="3291840"/>
          </a:xfrm>
          <a:prstGeom prst="roundRect">
            <a:avLst>
              <a:gd name="adj" fmla="val 2712"/>
            </a:avLst>
          </a:prstGeom>
          <a:solidFill>
            <a:srgbClr val="EEF3F6"/>
          </a:solidFill>
          <a:ln/>
        </p:spPr>
      </p:sp>
      <p:sp>
        <p:nvSpPr>
          <p:cNvPr id="17" name="Shape 15"/>
          <p:cNvSpPr/>
          <p:nvPr/>
        </p:nvSpPr>
        <p:spPr>
          <a:xfrm>
            <a:off x="9052560" y="2011680"/>
            <a:ext cx="2697480" cy="548640"/>
          </a:xfrm>
          <a:prstGeom prst="rect">
            <a:avLst/>
          </a:prstGeom>
          <a:solidFill>
            <a:srgbClr val="1E7A4C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9052560" y="2011680"/>
            <a:ext cx="2697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StyleGAN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9235440" y="2743200"/>
            <a:ext cx="2331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Photorealistic, fine-grained, controllable generation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5577840"/>
            <a:ext cx="11109960" cy="685800"/>
          </a:xfrm>
          <a:prstGeom prst="roundRect">
            <a:avLst>
              <a:gd name="adj" fmla="val 10667"/>
            </a:avLst>
          </a:prstGeom>
          <a:solidFill>
            <a:srgbClr val="0F2A47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77240" y="5577840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Now: </a:t>
            </a:r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does this toolkit actually get used?</a:t>
            </a:r>
            <a:endParaRPr lang="en-US" sz="1350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FOR COMPUTER VISION  |  WEEK 13 · LECTURE 1  |  HOUR 25</a:t>
            </a:r>
            <a:endParaRPr lang="en-US" sz="850" dirty="0"/>
          </a:p>
        </p:txBody>
      </p:sp>
      <p:sp>
        <p:nvSpPr>
          <p:cNvPr id="23" name="Text 21"/>
          <p:cNvSpPr txBox="1"/>
          <p:nvPr/>
        </p:nvSpPr>
        <p:spPr>
          <a:xfrm>
            <a:off x="11430000" y="6547104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601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1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Content Creation &amp; Media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91640"/>
            <a:ext cx="1097280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▪"/>
            </a:pPr>
            <a:r>
              <a:rPr lang="en-US" sz="135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 &amp; design generation</a:t>
            </a:r>
            <a:endParaRPr lang="en-US" sz="1350" dirty="0"/>
          </a:p>
          <a:p>
            <a:pPr lvl="1" marL="685800" indent="-342900">
              <a:spcAft>
                <a:spcPts val="700"/>
              </a:spcAft>
              <a:buSzPct val="100000"/>
              <a:buChar char="–"/>
            </a:pPr>
            <a:r>
              <a:rPr lang="en-US" sz="11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visual content generated from text prompts or rough sketches</a:t>
            </a:r>
            <a:endParaRPr lang="en-US" sz="1350" dirty="0"/>
          </a:p>
          <a:p>
            <a:pPr marL="342900" indent="-342900">
              <a:spcAft>
                <a:spcPts val="700"/>
              </a:spcAft>
              <a:buSzPct val="100000"/>
              <a:buChar char="▪"/>
            </a:pPr>
            <a:r>
              <a:rPr lang="en-US" sz="135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 asset &amp; texture generation</a:t>
            </a:r>
            <a:endParaRPr lang="en-US" sz="1350" dirty="0"/>
          </a:p>
          <a:p>
            <a:pPr lvl="1" marL="685800" indent="-342900">
              <a:spcAft>
                <a:spcPts val="700"/>
              </a:spcAft>
              <a:buSzPct val="100000"/>
              <a:buChar char="–"/>
            </a:pPr>
            <a:r>
              <a:rPr lang="en-US" sz="11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procedurally generating textures, characters, and environments</a:t>
            </a:r>
            <a:endParaRPr lang="en-US" sz="1350" dirty="0"/>
          </a:p>
          <a:p>
            <a:pPr marL="342900" indent="-342900">
              <a:spcAft>
                <a:spcPts val="700"/>
              </a:spcAft>
              <a:buSzPct val="100000"/>
              <a:buChar char="▪"/>
            </a:pPr>
            <a:r>
              <a:rPr lang="en-US" sz="135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 editing: inpainting &amp; outpainting</a:t>
            </a:r>
            <a:endParaRPr lang="en-US" sz="1350" dirty="0"/>
          </a:p>
          <a:p>
            <a:pPr lvl="1" marL="685800" indent="-342900">
              <a:spcAft>
                <a:spcPts val="700"/>
              </a:spcAft>
              <a:buSzPct val="100000"/>
              <a:buChar char="–"/>
            </a:pPr>
            <a:r>
              <a:rPr lang="en-US" sz="11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filling in removed regions, or extending an image beyond its original borders</a:t>
            </a:r>
            <a:endParaRPr lang="en-US" sz="1350" dirty="0"/>
          </a:p>
          <a:p>
            <a:pPr marL="342900" indent="-342900">
              <a:spcAft>
                <a:spcPts val="700"/>
              </a:spcAft>
              <a:buSzPct val="100000"/>
              <a:buChar char="▪"/>
            </a:pPr>
            <a:r>
              <a:rPr lang="en-US" sz="135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media &amp; visual effects</a:t>
            </a:r>
            <a:endParaRPr lang="en-US" sz="1350" dirty="0"/>
          </a:p>
          <a:p>
            <a:pPr lvl="1" marL="685800" indent="-342900">
              <a:spcAft>
                <a:spcPts val="700"/>
              </a:spcAft>
              <a:buSzPct val="100000"/>
              <a:buChar char="–"/>
            </a:pPr>
            <a:r>
              <a:rPr lang="en-US" sz="11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film, video, and advertising production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1005840" y="4572000"/>
            <a:ext cx="2377440" cy="1097280"/>
          </a:xfrm>
          <a:prstGeom prst="roundRect">
            <a:avLst>
              <a:gd name="adj" fmla="val 6667"/>
            </a:avLst>
          </a:prstGeom>
          <a:solidFill>
            <a:srgbClr val="1C7293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05840" y="4572000"/>
            <a:ext cx="2377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 &amp; Design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657600" y="4572000"/>
            <a:ext cx="2377440" cy="1097280"/>
          </a:xfrm>
          <a:prstGeom prst="roundRect">
            <a:avLst>
              <a:gd name="adj" fmla="val 6667"/>
            </a:avLst>
          </a:prstGeom>
          <a:solidFill>
            <a:srgbClr val="FF6B35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3657600" y="4572000"/>
            <a:ext cx="2377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 Assets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309360" y="4572000"/>
            <a:ext cx="2377440" cy="1097280"/>
          </a:xfrm>
          <a:prstGeom prst="roundRect">
            <a:avLst>
              <a:gd name="adj" fmla="val 6667"/>
            </a:avLst>
          </a:prstGeom>
          <a:solidFill>
            <a:srgbClr val="1E7A4C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309360" y="4572000"/>
            <a:ext cx="2377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Inpainting /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Outpainting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961120" y="4572000"/>
            <a:ext cx="2377440" cy="1097280"/>
          </a:xfrm>
          <a:prstGeom prst="roundRect">
            <a:avLst>
              <a:gd name="adj" fmla="val 6667"/>
            </a:avLst>
          </a:prstGeom>
          <a:solidFill>
            <a:srgbClr val="8A4A1E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961120" y="4572000"/>
            <a:ext cx="2377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Film &amp; VFX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FOR COMPUTER VISION  |  WEEK 13 · LECTURE 1  |  HOUR 25</a:t>
            </a:r>
            <a:endParaRPr lang="en-US" sz="850" dirty="0"/>
          </a:p>
        </p:txBody>
      </p:sp>
      <p:sp>
        <p:nvSpPr>
          <p:cNvPr id="14" name="Text 12"/>
          <p:cNvSpPr txBox="1"/>
          <p:nvPr/>
        </p:nvSpPr>
        <p:spPr>
          <a:xfrm>
            <a:off x="11430000" y="6547104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601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2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Augmentation &amp; Synthetic Data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37360"/>
            <a:ext cx="539496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40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additional realistic examples for rare or underrepresented classes</a:t>
            </a:r>
            <a:endParaRPr lang="en-US" sz="1400" dirty="0"/>
          </a:p>
          <a:p>
            <a:pPr lvl="1" marL="685800" indent="-342900">
              <a:spcAft>
                <a:spcPts val="1000"/>
              </a:spcAft>
              <a:buSzPct val="100000"/>
              <a:buChar char="–"/>
            </a:pPr>
            <a:r>
              <a:rPr lang="en-US" sz="12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balance a dataset before training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4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medical imaging</a:t>
            </a:r>
            <a:endParaRPr lang="en-US" sz="1400" dirty="0"/>
          </a:p>
          <a:p>
            <a:pPr lvl="1" marL="685800" indent="-342900">
              <a:spcAft>
                <a:spcPts val="1000"/>
              </a:spcAft>
              <a:buSzPct val="100000"/>
              <a:buChar char="–"/>
            </a:pPr>
            <a:r>
              <a:rPr lang="en-US" sz="12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realistic-but-fake patient scans to train diagnostic models without exposing real patient data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40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Especially valuable when real data is expensive, rare, or sensitive to collect</a:t>
            </a:r>
            <a:endParaRPr lang="en-US" sz="14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6309360" y="1828800"/>
          <a:ext cx="539496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 txBox="1"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FOR COMPUTER VISION  |  WEEK 13 · LECTURE 1  |  HOUR 25</a:t>
            </a:r>
            <a:endParaRPr lang="en-US" sz="850" dirty="0"/>
          </a:p>
        </p:txBody>
      </p:sp>
      <p:sp>
        <p:nvSpPr>
          <p:cNvPr id="7" name="Text 4"/>
          <p:cNvSpPr txBox="1"/>
          <p:nvPr/>
        </p:nvSpPr>
        <p:spPr>
          <a:xfrm>
            <a:off x="11430000" y="6547104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601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3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Super-Resolution &amp; Restoration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37360"/>
            <a:ext cx="1097280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5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Super-resolution:</a:t>
            </a:r>
            <a:endParaRPr lang="en-US" sz="1500" dirty="0"/>
          </a:p>
          <a:p>
            <a:pPr lvl="1" marL="685800" indent="-342900">
              <a:spcAft>
                <a:spcPts val="1200"/>
              </a:spcAft>
              <a:buSzPct val="100000"/>
              <a:buChar char="–"/>
            </a:pPr>
            <a:r>
              <a:rPr lang="en-US" sz="13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upscale a low-resolution image into a higher-resolution one, hallucinating plausible fine detail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5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Restoration:</a:t>
            </a:r>
            <a:endParaRPr lang="en-US" sz="1500" dirty="0"/>
          </a:p>
          <a:p>
            <a:pPr lvl="1" marL="685800" indent="-342900">
              <a:spcAft>
                <a:spcPts val="1200"/>
              </a:spcAft>
              <a:buSzPct val="100000"/>
              <a:buChar char="–"/>
            </a:pPr>
            <a:r>
              <a:rPr lang="en-US" sz="13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repair old, damaged, or degraded photographs — denoising, scratch removal, colorization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50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is trained to produce a plausible HIGH-quality output conditioned on a low-quality input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1463040" y="4023360"/>
            <a:ext cx="365760" cy="365760"/>
          </a:xfrm>
          <a:prstGeom prst="rect">
            <a:avLst/>
          </a:prstGeom>
          <a:solidFill>
            <a:srgbClr val="C7CDD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0" y="4023360"/>
            <a:ext cx="365760" cy="365760"/>
          </a:xfrm>
          <a:prstGeom prst="rect">
            <a:avLst/>
          </a:prstGeom>
          <a:solidFill>
            <a:srgbClr val="DCE2E6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194560" y="4023360"/>
            <a:ext cx="365760" cy="365760"/>
          </a:xfrm>
          <a:prstGeom prst="rect">
            <a:avLst/>
          </a:prstGeom>
          <a:solidFill>
            <a:srgbClr val="C7CDD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560320" y="4023360"/>
            <a:ext cx="365760" cy="365760"/>
          </a:xfrm>
          <a:prstGeom prst="rect">
            <a:avLst/>
          </a:prstGeom>
          <a:solidFill>
            <a:srgbClr val="DCE2E6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463040" y="4389120"/>
            <a:ext cx="365760" cy="365760"/>
          </a:xfrm>
          <a:prstGeom prst="rect">
            <a:avLst/>
          </a:prstGeom>
          <a:solidFill>
            <a:srgbClr val="DCE2E6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828800" y="4389120"/>
            <a:ext cx="365760" cy="365760"/>
          </a:xfrm>
          <a:prstGeom prst="rect">
            <a:avLst/>
          </a:prstGeom>
          <a:solidFill>
            <a:srgbClr val="C7CDD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194560" y="4389120"/>
            <a:ext cx="365760" cy="365760"/>
          </a:xfrm>
          <a:prstGeom prst="rect">
            <a:avLst/>
          </a:prstGeom>
          <a:solidFill>
            <a:srgbClr val="DCE2E6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560320" y="4389120"/>
            <a:ext cx="365760" cy="365760"/>
          </a:xfrm>
          <a:prstGeom prst="rect">
            <a:avLst/>
          </a:prstGeom>
          <a:solidFill>
            <a:srgbClr val="C7CDD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463040" y="4754880"/>
            <a:ext cx="365760" cy="365760"/>
          </a:xfrm>
          <a:prstGeom prst="rect">
            <a:avLst/>
          </a:prstGeom>
          <a:solidFill>
            <a:srgbClr val="C7CDD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828800" y="4754880"/>
            <a:ext cx="365760" cy="365760"/>
          </a:xfrm>
          <a:prstGeom prst="rect">
            <a:avLst/>
          </a:prstGeom>
          <a:solidFill>
            <a:srgbClr val="DCE2E6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194560" y="4754880"/>
            <a:ext cx="365760" cy="365760"/>
          </a:xfrm>
          <a:prstGeom prst="rect">
            <a:avLst/>
          </a:prstGeom>
          <a:solidFill>
            <a:srgbClr val="C7CDD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560320" y="4754880"/>
            <a:ext cx="365760" cy="365760"/>
          </a:xfrm>
          <a:prstGeom prst="rect">
            <a:avLst/>
          </a:prstGeom>
          <a:solidFill>
            <a:srgbClr val="DCE2E6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63040" y="5120640"/>
            <a:ext cx="365760" cy="365760"/>
          </a:xfrm>
          <a:prstGeom prst="rect">
            <a:avLst/>
          </a:prstGeom>
          <a:solidFill>
            <a:srgbClr val="DCE2E6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828800" y="5120640"/>
            <a:ext cx="365760" cy="365760"/>
          </a:xfrm>
          <a:prstGeom prst="rect">
            <a:avLst/>
          </a:prstGeom>
          <a:solidFill>
            <a:srgbClr val="C7CDD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194560" y="5120640"/>
            <a:ext cx="365760" cy="365760"/>
          </a:xfrm>
          <a:prstGeom prst="rect">
            <a:avLst/>
          </a:prstGeom>
          <a:solidFill>
            <a:srgbClr val="DCE2E6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560320" y="5120640"/>
            <a:ext cx="365760" cy="365760"/>
          </a:xfrm>
          <a:prstGeom prst="rect">
            <a:avLst/>
          </a:prstGeom>
          <a:solidFill>
            <a:srgbClr val="C7CDD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097280" y="562356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low-resolution input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200400" y="4626864"/>
            <a:ext cx="822960" cy="164592"/>
          </a:xfrm>
          <a:prstGeom prst="rightArrow">
            <a:avLst/>
          </a:prstGeom>
          <a:solidFill>
            <a:srgbClr val="5C6B78"/>
          </a:solidFill>
          <a:ln/>
        </p:spPr>
      </p:sp>
      <p:sp>
        <p:nvSpPr>
          <p:cNvPr id="23" name="Shape 21"/>
          <p:cNvSpPr/>
          <p:nvPr/>
        </p:nvSpPr>
        <p:spPr>
          <a:xfrm>
            <a:off x="3200400" y="4297680"/>
            <a:ext cx="822960" cy="32004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3063240" y="352044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</a:t>
            </a:r>
            <a:endParaRPr lang="en-US" sz="900" dirty="0"/>
          </a:p>
          <a:p>
            <a:pPr algn="ctr" indent="0" marL="0">
              <a:buNone/>
            </a:pPr>
            <a:r>
              <a:rPr lang="en-US" sz="9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206240" y="3383280"/>
            <a:ext cx="342900" cy="342900"/>
          </a:xfrm>
          <a:prstGeom prst="rect">
            <a:avLst/>
          </a:prstGeom>
          <a:solidFill>
            <a:srgbClr val="BFDCEE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49140" y="3383280"/>
            <a:ext cx="342900" cy="342900"/>
          </a:xfrm>
          <a:prstGeom prst="rect">
            <a:avLst/>
          </a:prstGeom>
          <a:solidFill>
            <a:srgbClr val="BFDCEE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892040" y="3383280"/>
            <a:ext cx="342900" cy="342900"/>
          </a:xfrm>
          <a:prstGeom prst="rect">
            <a:avLst/>
          </a:prstGeom>
          <a:solidFill>
            <a:srgbClr val="D9E8D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234940" y="3383280"/>
            <a:ext cx="342900" cy="342900"/>
          </a:xfrm>
          <a:prstGeom prst="rect">
            <a:avLst/>
          </a:prstGeom>
          <a:solidFill>
            <a:srgbClr val="D9E8D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577840" y="3383280"/>
            <a:ext cx="342900" cy="342900"/>
          </a:xfrm>
          <a:prstGeom prst="rect">
            <a:avLst/>
          </a:prstGeom>
          <a:solidFill>
            <a:srgbClr val="BFDCEE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920740" y="3383280"/>
            <a:ext cx="342900" cy="342900"/>
          </a:xfrm>
          <a:prstGeom prst="rect">
            <a:avLst/>
          </a:prstGeom>
          <a:solidFill>
            <a:srgbClr val="BFDCEE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263640" y="3383280"/>
            <a:ext cx="342900" cy="342900"/>
          </a:xfrm>
          <a:prstGeom prst="rect">
            <a:avLst/>
          </a:prstGeom>
          <a:solidFill>
            <a:srgbClr val="D9E8D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606540" y="3383280"/>
            <a:ext cx="342900" cy="342900"/>
          </a:xfrm>
          <a:prstGeom prst="rect">
            <a:avLst/>
          </a:prstGeom>
          <a:solidFill>
            <a:srgbClr val="D9E8D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206240" y="3726180"/>
            <a:ext cx="342900" cy="342900"/>
          </a:xfrm>
          <a:prstGeom prst="rect">
            <a:avLst/>
          </a:prstGeom>
          <a:solidFill>
            <a:srgbClr val="BFDCEE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549140" y="3726180"/>
            <a:ext cx="342900" cy="342900"/>
          </a:xfrm>
          <a:prstGeom prst="rect">
            <a:avLst/>
          </a:prstGeom>
          <a:solidFill>
            <a:srgbClr val="BFDCEE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892040" y="3726180"/>
            <a:ext cx="342900" cy="342900"/>
          </a:xfrm>
          <a:prstGeom prst="rect">
            <a:avLst/>
          </a:prstGeom>
          <a:solidFill>
            <a:srgbClr val="D9E8D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234940" y="3726180"/>
            <a:ext cx="342900" cy="342900"/>
          </a:xfrm>
          <a:prstGeom prst="rect">
            <a:avLst/>
          </a:prstGeom>
          <a:solidFill>
            <a:srgbClr val="D9E8D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577840" y="3726180"/>
            <a:ext cx="342900" cy="342900"/>
          </a:xfrm>
          <a:prstGeom prst="rect">
            <a:avLst/>
          </a:prstGeom>
          <a:solidFill>
            <a:srgbClr val="BFDCEE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920740" y="3726180"/>
            <a:ext cx="342900" cy="342900"/>
          </a:xfrm>
          <a:prstGeom prst="rect">
            <a:avLst/>
          </a:prstGeom>
          <a:solidFill>
            <a:srgbClr val="BFDCEE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263640" y="3726180"/>
            <a:ext cx="342900" cy="342900"/>
          </a:xfrm>
          <a:prstGeom prst="rect">
            <a:avLst/>
          </a:prstGeom>
          <a:solidFill>
            <a:srgbClr val="D9E8D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606540" y="3726180"/>
            <a:ext cx="342900" cy="342900"/>
          </a:xfrm>
          <a:prstGeom prst="rect">
            <a:avLst/>
          </a:prstGeom>
          <a:solidFill>
            <a:srgbClr val="D9E8D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206240" y="4069080"/>
            <a:ext cx="342900" cy="342900"/>
          </a:xfrm>
          <a:prstGeom prst="rect">
            <a:avLst/>
          </a:prstGeom>
          <a:solidFill>
            <a:srgbClr val="D9E8D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549140" y="4069080"/>
            <a:ext cx="342900" cy="342900"/>
          </a:xfrm>
          <a:prstGeom prst="rect">
            <a:avLst/>
          </a:prstGeom>
          <a:solidFill>
            <a:srgbClr val="D9E8D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892040" y="4069080"/>
            <a:ext cx="342900" cy="342900"/>
          </a:xfrm>
          <a:prstGeom prst="rect">
            <a:avLst/>
          </a:prstGeom>
          <a:solidFill>
            <a:srgbClr val="BFDCEE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5234940" y="4069080"/>
            <a:ext cx="342900" cy="342900"/>
          </a:xfrm>
          <a:prstGeom prst="rect">
            <a:avLst/>
          </a:prstGeom>
          <a:solidFill>
            <a:srgbClr val="BFDCEE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5577840" y="4069080"/>
            <a:ext cx="342900" cy="342900"/>
          </a:xfrm>
          <a:prstGeom prst="rect">
            <a:avLst/>
          </a:prstGeom>
          <a:solidFill>
            <a:srgbClr val="D9E8D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5920740" y="4069080"/>
            <a:ext cx="342900" cy="342900"/>
          </a:xfrm>
          <a:prstGeom prst="rect">
            <a:avLst/>
          </a:prstGeom>
          <a:solidFill>
            <a:srgbClr val="D9E8D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263640" y="4069080"/>
            <a:ext cx="342900" cy="342900"/>
          </a:xfrm>
          <a:prstGeom prst="rect">
            <a:avLst/>
          </a:prstGeom>
          <a:solidFill>
            <a:srgbClr val="BFDCEE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606540" y="4069080"/>
            <a:ext cx="342900" cy="342900"/>
          </a:xfrm>
          <a:prstGeom prst="rect">
            <a:avLst/>
          </a:prstGeom>
          <a:solidFill>
            <a:srgbClr val="BFDCEE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4206240" y="4411980"/>
            <a:ext cx="342900" cy="342900"/>
          </a:xfrm>
          <a:prstGeom prst="rect">
            <a:avLst/>
          </a:prstGeom>
          <a:solidFill>
            <a:srgbClr val="D9E8D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4549140" y="4411980"/>
            <a:ext cx="342900" cy="342900"/>
          </a:xfrm>
          <a:prstGeom prst="rect">
            <a:avLst/>
          </a:prstGeom>
          <a:solidFill>
            <a:srgbClr val="D9E8D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892040" y="4411980"/>
            <a:ext cx="342900" cy="342900"/>
          </a:xfrm>
          <a:prstGeom prst="rect">
            <a:avLst/>
          </a:prstGeom>
          <a:solidFill>
            <a:srgbClr val="BFDCEE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234940" y="4411980"/>
            <a:ext cx="342900" cy="342900"/>
          </a:xfrm>
          <a:prstGeom prst="rect">
            <a:avLst/>
          </a:prstGeom>
          <a:solidFill>
            <a:srgbClr val="BFDCEE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5577840" y="4411980"/>
            <a:ext cx="342900" cy="342900"/>
          </a:xfrm>
          <a:prstGeom prst="rect">
            <a:avLst/>
          </a:prstGeom>
          <a:solidFill>
            <a:srgbClr val="D9E8D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5920740" y="4411980"/>
            <a:ext cx="342900" cy="342900"/>
          </a:xfrm>
          <a:prstGeom prst="rect">
            <a:avLst/>
          </a:prstGeom>
          <a:solidFill>
            <a:srgbClr val="D9E8D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6263640" y="4411980"/>
            <a:ext cx="342900" cy="342900"/>
          </a:xfrm>
          <a:prstGeom prst="rect">
            <a:avLst/>
          </a:prstGeom>
          <a:solidFill>
            <a:srgbClr val="BFDCEE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6606540" y="4411980"/>
            <a:ext cx="342900" cy="342900"/>
          </a:xfrm>
          <a:prstGeom prst="rect">
            <a:avLst/>
          </a:prstGeom>
          <a:solidFill>
            <a:srgbClr val="BFDCEE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4206240" y="4754880"/>
            <a:ext cx="342900" cy="342900"/>
          </a:xfrm>
          <a:prstGeom prst="rect">
            <a:avLst/>
          </a:prstGeom>
          <a:solidFill>
            <a:srgbClr val="BFDCEE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4549140" y="4754880"/>
            <a:ext cx="342900" cy="342900"/>
          </a:xfrm>
          <a:prstGeom prst="rect">
            <a:avLst/>
          </a:prstGeom>
          <a:solidFill>
            <a:srgbClr val="BFDCEE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4892040" y="4754880"/>
            <a:ext cx="342900" cy="342900"/>
          </a:xfrm>
          <a:prstGeom prst="rect">
            <a:avLst/>
          </a:prstGeom>
          <a:solidFill>
            <a:srgbClr val="D9E8D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5234940" y="4754880"/>
            <a:ext cx="342900" cy="342900"/>
          </a:xfrm>
          <a:prstGeom prst="rect">
            <a:avLst/>
          </a:prstGeom>
          <a:solidFill>
            <a:srgbClr val="D9E8D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577840" y="4754880"/>
            <a:ext cx="342900" cy="342900"/>
          </a:xfrm>
          <a:prstGeom prst="rect">
            <a:avLst/>
          </a:prstGeom>
          <a:solidFill>
            <a:srgbClr val="BFDCEE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5920740" y="4754880"/>
            <a:ext cx="342900" cy="342900"/>
          </a:xfrm>
          <a:prstGeom prst="rect">
            <a:avLst/>
          </a:prstGeom>
          <a:solidFill>
            <a:srgbClr val="BFDCEE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6263640" y="4754880"/>
            <a:ext cx="342900" cy="342900"/>
          </a:xfrm>
          <a:prstGeom prst="rect">
            <a:avLst/>
          </a:prstGeom>
          <a:solidFill>
            <a:srgbClr val="D9E8D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6606540" y="4754880"/>
            <a:ext cx="342900" cy="342900"/>
          </a:xfrm>
          <a:prstGeom prst="rect">
            <a:avLst/>
          </a:prstGeom>
          <a:solidFill>
            <a:srgbClr val="D9E8D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4206240" y="5097780"/>
            <a:ext cx="342900" cy="342900"/>
          </a:xfrm>
          <a:prstGeom prst="rect">
            <a:avLst/>
          </a:prstGeom>
          <a:solidFill>
            <a:srgbClr val="BFDCEE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4549140" y="5097780"/>
            <a:ext cx="342900" cy="342900"/>
          </a:xfrm>
          <a:prstGeom prst="rect">
            <a:avLst/>
          </a:prstGeom>
          <a:solidFill>
            <a:srgbClr val="BFDCEE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4892040" y="5097780"/>
            <a:ext cx="342900" cy="342900"/>
          </a:xfrm>
          <a:prstGeom prst="rect">
            <a:avLst/>
          </a:prstGeom>
          <a:solidFill>
            <a:srgbClr val="D9E8D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5234940" y="5097780"/>
            <a:ext cx="342900" cy="342900"/>
          </a:xfrm>
          <a:prstGeom prst="rect">
            <a:avLst/>
          </a:prstGeom>
          <a:solidFill>
            <a:srgbClr val="D9E8D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5577840" y="5097780"/>
            <a:ext cx="342900" cy="342900"/>
          </a:xfrm>
          <a:prstGeom prst="rect">
            <a:avLst/>
          </a:prstGeom>
          <a:solidFill>
            <a:srgbClr val="BFDCEE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5920740" y="5097780"/>
            <a:ext cx="342900" cy="342900"/>
          </a:xfrm>
          <a:prstGeom prst="rect">
            <a:avLst/>
          </a:prstGeom>
          <a:solidFill>
            <a:srgbClr val="BFDCEE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6263640" y="5097780"/>
            <a:ext cx="342900" cy="342900"/>
          </a:xfrm>
          <a:prstGeom prst="rect">
            <a:avLst/>
          </a:prstGeom>
          <a:solidFill>
            <a:srgbClr val="D9E8D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6606540" y="5097780"/>
            <a:ext cx="342900" cy="342900"/>
          </a:xfrm>
          <a:prstGeom prst="rect">
            <a:avLst/>
          </a:prstGeom>
          <a:solidFill>
            <a:srgbClr val="D9E8D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4206240" y="5440680"/>
            <a:ext cx="342900" cy="342900"/>
          </a:xfrm>
          <a:prstGeom prst="rect">
            <a:avLst/>
          </a:prstGeom>
          <a:solidFill>
            <a:srgbClr val="D9E8D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4549140" y="5440680"/>
            <a:ext cx="342900" cy="342900"/>
          </a:xfrm>
          <a:prstGeom prst="rect">
            <a:avLst/>
          </a:prstGeom>
          <a:solidFill>
            <a:srgbClr val="D9E8D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4892040" y="5440680"/>
            <a:ext cx="342900" cy="342900"/>
          </a:xfrm>
          <a:prstGeom prst="rect">
            <a:avLst/>
          </a:prstGeom>
          <a:solidFill>
            <a:srgbClr val="BFDCEE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5234940" y="5440680"/>
            <a:ext cx="342900" cy="342900"/>
          </a:xfrm>
          <a:prstGeom prst="rect">
            <a:avLst/>
          </a:prstGeom>
          <a:solidFill>
            <a:srgbClr val="BFDCEE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5577840" y="5440680"/>
            <a:ext cx="342900" cy="342900"/>
          </a:xfrm>
          <a:prstGeom prst="rect">
            <a:avLst/>
          </a:prstGeom>
          <a:solidFill>
            <a:srgbClr val="D9E8D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5920740" y="5440680"/>
            <a:ext cx="342900" cy="342900"/>
          </a:xfrm>
          <a:prstGeom prst="rect">
            <a:avLst/>
          </a:prstGeom>
          <a:solidFill>
            <a:srgbClr val="D9E8D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6263640" y="5440680"/>
            <a:ext cx="342900" cy="342900"/>
          </a:xfrm>
          <a:prstGeom prst="rect">
            <a:avLst/>
          </a:prstGeom>
          <a:solidFill>
            <a:srgbClr val="BFDCEE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6606540" y="5440680"/>
            <a:ext cx="342900" cy="342900"/>
          </a:xfrm>
          <a:prstGeom prst="rect">
            <a:avLst/>
          </a:prstGeom>
          <a:solidFill>
            <a:srgbClr val="BFDCEE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4206240" y="5783580"/>
            <a:ext cx="342900" cy="342900"/>
          </a:xfrm>
          <a:prstGeom prst="rect">
            <a:avLst/>
          </a:prstGeom>
          <a:solidFill>
            <a:srgbClr val="D9E8D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4549140" y="5783580"/>
            <a:ext cx="342900" cy="342900"/>
          </a:xfrm>
          <a:prstGeom prst="rect">
            <a:avLst/>
          </a:prstGeom>
          <a:solidFill>
            <a:srgbClr val="D9E8D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4892040" y="5783580"/>
            <a:ext cx="342900" cy="342900"/>
          </a:xfrm>
          <a:prstGeom prst="rect">
            <a:avLst/>
          </a:prstGeom>
          <a:solidFill>
            <a:srgbClr val="BFDCEE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5234940" y="5783580"/>
            <a:ext cx="342900" cy="342900"/>
          </a:xfrm>
          <a:prstGeom prst="rect">
            <a:avLst/>
          </a:prstGeom>
          <a:solidFill>
            <a:srgbClr val="BFDCEE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5577840" y="5783580"/>
            <a:ext cx="342900" cy="342900"/>
          </a:xfrm>
          <a:prstGeom prst="rect">
            <a:avLst/>
          </a:prstGeom>
          <a:solidFill>
            <a:srgbClr val="D9E8D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5920740" y="5783580"/>
            <a:ext cx="342900" cy="342900"/>
          </a:xfrm>
          <a:prstGeom prst="rect">
            <a:avLst/>
          </a:prstGeom>
          <a:solidFill>
            <a:srgbClr val="D9E8D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6263640" y="5783580"/>
            <a:ext cx="342900" cy="342900"/>
          </a:xfrm>
          <a:prstGeom prst="rect">
            <a:avLst/>
          </a:prstGeom>
          <a:solidFill>
            <a:srgbClr val="BFDCEE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6606540" y="5783580"/>
            <a:ext cx="342900" cy="342900"/>
          </a:xfrm>
          <a:prstGeom prst="rect">
            <a:avLst/>
          </a:prstGeom>
          <a:solidFill>
            <a:srgbClr val="BFDCEE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89" name="Text 87"/>
          <p:cNvSpPr txBox="1"/>
          <p:nvPr/>
        </p:nvSpPr>
        <p:spPr>
          <a:xfrm>
            <a:off x="3840480" y="626364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high-resolution output</a:t>
            </a:r>
            <a:endParaRPr lang="en-US" sz="1000" dirty="0"/>
          </a:p>
        </p:txBody>
      </p:sp>
      <p:sp>
        <p:nvSpPr>
          <p:cNvPr id="90" name="Text 88"/>
          <p:cNvSpPr txBox="1"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FOR COMPUTER VISION  |  WEEK 13 · LECTURE 1  |  HOUR 25</a:t>
            </a:r>
            <a:endParaRPr lang="en-US" sz="850" dirty="0"/>
          </a:p>
        </p:txBody>
      </p:sp>
      <p:sp>
        <p:nvSpPr>
          <p:cNvPr id="91" name="Text 89"/>
          <p:cNvSpPr txBox="1"/>
          <p:nvPr/>
        </p:nvSpPr>
        <p:spPr>
          <a:xfrm>
            <a:off x="11430000" y="6547104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601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4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Image-to-Image Translation in Practice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37360"/>
            <a:ext cx="1097280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▪"/>
            </a:pPr>
            <a:r>
              <a:rPr lang="en-US" sz="13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on CycleGAN / pix2pix-style models, now used in real creative and design tools: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▪"/>
            </a:pPr>
            <a:r>
              <a:rPr lang="en-US" sz="140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Style transfer</a:t>
            </a:r>
            <a:endParaRPr lang="en-US" sz="1300" dirty="0"/>
          </a:p>
          <a:p>
            <a:pPr lvl="1" marL="685800" indent="-342900">
              <a:spcAft>
                <a:spcPts val="900"/>
              </a:spcAft>
              <a:buSzPct val="100000"/>
              <a:buChar char="–"/>
            </a:pPr>
            <a:r>
              <a:rPr lang="en-US" sz="12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 ↔ painting, sketch ↔ photo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▪"/>
            </a:pPr>
            <a:r>
              <a:rPr lang="en-US" sz="140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 transfer</a:t>
            </a:r>
            <a:endParaRPr lang="en-US" sz="1300" dirty="0"/>
          </a:p>
          <a:p>
            <a:pPr lvl="1" marL="685800" indent="-342900">
              <a:spcAft>
                <a:spcPts val="900"/>
              </a:spcAft>
              <a:buSzPct val="100000"/>
              <a:buChar char="–"/>
            </a:pPr>
            <a:r>
              <a:rPr lang="en-US" sz="12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↔ night, season transfer (summer ↔ winter)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▪"/>
            </a:pPr>
            <a:r>
              <a:rPr lang="en-US" sz="140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Layout-to-image</a:t>
            </a:r>
            <a:endParaRPr lang="en-US" sz="1300" dirty="0"/>
          </a:p>
          <a:p>
            <a:pPr lvl="1" marL="685800" indent="-342900">
              <a:spcAft>
                <a:spcPts val="900"/>
              </a:spcAft>
              <a:buSzPct val="100000"/>
              <a:buChar char="–"/>
            </a:pPr>
            <a:r>
              <a:rPr lang="en-US" sz="12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map → photorealistic rendering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▪"/>
            </a:pPr>
            <a:r>
              <a:rPr lang="en-US" sz="13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in design software, rapid prototyping, and visualization tools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051560" y="4389120"/>
            <a:ext cx="960120" cy="640080"/>
          </a:xfrm>
          <a:prstGeom prst="roundRect">
            <a:avLst>
              <a:gd name="adj" fmla="val 8571"/>
            </a:avLst>
          </a:prstGeom>
          <a:solidFill>
            <a:srgbClr val="1C7293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51560" y="4389120"/>
            <a:ext cx="960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039112" y="4626864"/>
            <a:ext cx="201168" cy="164592"/>
          </a:xfrm>
          <a:prstGeom prst="rightArrow">
            <a:avLst/>
          </a:prstGeom>
          <a:solidFill>
            <a:srgbClr val="5C6B78"/>
          </a:solidFill>
          <a:ln/>
        </p:spPr>
      </p:sp>
      <p:sp>
        <p:nvSpPr>
          <p:cNvPr id="8" name="Shape 6"/>
          <p:cNvSpPr/>
          <p:nvPr/>
        </p:nvSpPr>
        <p:spPr>
          <a:xfrm>
            <a:off x="2267712" y="4389120"/>
            <a:ext cx="960120" cy="640080"/>
          </a:xfrm>
          <a:prstGeom prst="roundRect">
            <a:avLst>
              <a:gd name="adj" fmla="val 8571"/>
            </a:avLst>
          </a:prstGeom>
          <a:solidFill>
            <a:srgbClr val="1C7293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2267712" y="4389120"/>
            <a:ext cx="960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Painting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502152" y="4389120"/>
            <a:ext cx="960120" cy="640080"/>
          </a:xfrm>
          <a:prstGeom prst="roundRect">
            <a:avLst>
              <a:gd name="adj" fmla="val 8571"/>
            </a:avLst>
          </a:prstGeom>
          <a:solidFill>
            <a:srgbClr val="6E86A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502152" y="4389120"/>
            <a:ext cx="960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489704" y="4626864"/>
            <a:ext cx="201168" cy="164592"/>
          </a:xfrm>
          <a:prstGeom prst="rightArrow">
            <a:avLst/>
          </a:prstGeom>
          <a:solidFill>
            <a:srgbClr val="5C6B78"/>
          </a:solidFill>
          <a:ln/>
        </p:spPr>
      </p:sp>
      <p:sp>
        <p:nvSpPr>
          <p:cNvPr id="13" name="Shape 11"/>
          <p:cNvSpPr/>
          <p:nvPr/>
        </p:nvSpPr>
        <p:spPr>
          <a:xfrm>
            <a:off x="4718304" y="4389120"/>
            <a:ext cx="960120" cy="640080"/>
          </a:xfrm>
          <a:prstGeom prst="roundRect">
            <a:avLst>
              <a:gd name="adj" fmla="val 8571"/>
            </a:avLst>
          </a:prstGeom>
          <a:solidFill>
            <a:srgbClr val="6E86A6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718304" y="4389120"/>
            <a:ext cx="960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Night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952744" y="4389120"/>
            <a:ext cx="960120" cy="640080"/>
          </a:xfrm>
          <a:prstGeom prst="roundRect">
            <a:avLst>
              <a:gd name="adj" fmla="val 8571"/>
            </a:avLst>
          </a:prstGeom>
          <a:solidFill>
            <a:srgbClr val="FF6B35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952744" y="4389120"/>
            <a:ext cx="960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Sketch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940296" y="4626864"/>
            <a:ext cx="201168" cy="164592"/>
          </a:xfrm>
          <a:prstGeom prst="rightArrow">
            <a:avLst/>
          </a:prstGeom>
          <a:solidFill>
            <a:srgbClr val="5C6B78"/>
          </a:solidFill>
          <a:ln/>
        </p:spPr>
      </p:sp>
      <p:sp>
        <p:nvSpPr>
          <p:cNvPr id="18" name="Shape 16"/>
          <p:cNvSpPr/>
          <p:nvPr/>
        </p:nvSpPr>
        <p:spPr>
          <a:xfrm>
            <a:off x="7168896" y="4389120"/>
            <a:ext cx="960120" cy="640080"/>
          </a:xfrm>
          <a:prstGeom prst="roundRect">
            <a:avLst>
              <a:gd name="adj" fmla="val 8571"/>
            </a:avLst>
          </a:prstGeom>
          <a:solidFill>
            <a:srgbClr val="FF6B35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168896" y="4389120"/>
            <a:ext cx="960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8403336" y="4389120"/>
            <a:ext cx="960120" cy="640080"/>
          </a:xfrm>
          <a:prstGeom prst="roundRect">
            <a:avLst>
              <a:gd name="adj" fmla="val 8571"/>
            </a:avLst>
          </a:prstGeom>
          <a:solidFill>
            <a:srgbClr val="1E7A4C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403336" y="4389120"/>
            <a:ext cx="960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Summer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9390888" y="4626864"/>
            <a:ext cx="201168" cy="164592"/>
          </a:xfrm>
          <a:prstGeom prst="rightArrow">
            <a:avLst/>
          </a:prstGeom>
          <a:solidFill>
            <a:srgbClr val="5C6B78"/>
          </a:solidFill>
          <a:ln/>
        </p:spPr>
      </p:sp>
      <p:sp>
        <p:nvSpPr>
          <p:cNvPr id="23" name="Shape 21"/>
          <p:cNvSpPr/>
          <p:nvPr/>
        </p:nvSpPr>
        <p:spPr>
          <a:xfrm>
            <a:off x="9619488" y="4389120"/>
            <a:ext cx="960120" cy="640080"/>
          </a:xfrm>
          <a:prstGeom prst="roundRect">
            <a:avLst>
              <a:gd name="adj" fmla="val 8571"/>
            </a:avLst>
          </a:prstGeom>
          <a:solidFill>
            <a:srgbClr val="1E7A4C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9619488" y="4389120"/>
            <a:ext cx="960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Winter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FOR COMPUTER VISION  |  WEEK 13 · LECTURE 1  |  HOUR 25</a:t>
            </a:r>
            <a:endParaRPr lang="en-US" sz="850" dirty="0"/>
          </a:p>
        </p:txBody>
      </p:sp>
      <p:sp>
        <p:nvSpPr>
          <p:cNvPr id="26" name="Text 24"/>
          <p:cNvSpPr txBox="1"/>
          <p:nvPr/>
        </p:nvSpPr>
        <p:spPr>
          <a:xfrm>
            <a:off x="11430000" y="6547104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601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5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Simulation-to-Real &amp; Domain Adaptation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37360"/>
            <a:ext cx="1097280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▪"/>
            </a:pPr>
            <a:r>
              <a:rPr lang="en-US" sz="140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Robotics and autonomous driving rely heavily on SIMULATED training data</a:t>
            </a:r>
            <a:endParaRPr lang="en-US" sz="1400" dirty="0"/>
          </a:p>
          <a:p>
            <a:pPr lvl="1" marL="685800" indent="-342900">
              <a:spcAft>
                <a:spcPts val="900"/>
              </a:spcAft>
              <a:buSzPct val="100000"/>
              <a:buChar char="–"/>
            </a:pPr>
            <a:r>
              <a:rPr lang="en-US" sz="12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cheap, safe, and scalable to generate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▪"/>
            </a:pPr>
            <a:r>
              <a:rPr lang="en-US" sz="1400" b="1" dirty="0">
                <a:solidFill>
                  <a:srgbClr val="B2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problem: the “sim-to-real gap”</a:t>
            </a:r>
            <a:endParaRPr lang="en-US" sz="1400" dirty="0"/>
          </a:p>
          <a:p>
            <a:pPr lvl="1" marL="685800" indent="-342900">
              <a:spcAft>
                <a:spcPts val="900"/>
              </a:spcAft>
              <a:buSzPct val="100000"/>
              <a:buChar char="–"/>
            </a:pPr>
            <a:r>
              <a:rPr lang="en-US" sz="12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simulated images don't look exactly like real camera images, and models trained purely in simulation often struggle in the real world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▪"/>
            </a:pPr>
            <a:r>
              <a:rPr lang="en-US" sz="1400" b="1" dirty="0">
                <a:solidFill>
                  <a:srgbClr val="1E7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models (often GAN-based) translate simulated images to look more photorealistic</a:t>
            </a:r>
            <a:endParaRPr lang="en-US" sz="1400" dirty="0"/>
          </a:p>
          <a:p>
            <a:pPr lvl="1" marL="685800" indent="-342900">
              <a:spcAft>
                <a:spcPts val="900"/>
              </a:spcAft>
              <a:buSzPct val="100000"/>
              <a:buChar char="–"/>
            </a:pPr>
            <a:r>
              <a:rPr lang="en-US" sz="12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helping models generalize better when deployed on real hardware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371600" y="4297680"/>
            <a:ext cx="2286000" cy="914400"/>
          </a:xfrm>
          <a:prstGeom prst="roundRect">
            <a:avLst>
              <a:gd name="adj" fmla="val 8000"/>
            </a:avLst>
          </a:prstGeom>
          <a:solidFill>
            <a:srgbClr val="6E86A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371600" y="429768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Simulated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703320" y="4672584"/>
            <a:ext cx="274320" cy="164592"/>
          </a:xfrm>
          <a:prstGeom prst="rightArrow">
            <a:avLst/>
          </a:prstGeom>
          <a:solidFill>
            <a:srgbClr val="5C6B78"/>
          </a:solidFill>
          <a:ln/>
        </p:spPr>
      </p:sp>
      <p:sp>
        <p:nvSpPr>
          <p:cNvPr id="8" name="Shape 6"/>
          <p:cNvSpPr/>
          <p:nvPr/>
        </p:nvSpPr>
        <p:spPr>
          <a:xfrm>
            <a:off x="4023360" y="4297680"/>
            <a:ext cx="2286000" cy="914400"/>
          </a:xfrm>
          <a:prstGeom prst="roundRect">
            <a:avLst>
              <a:gd name="adj" fmla="val 8000"/>
            </a:avLst>
          </a:prstGeom>
          <a:solidFill>
            <a:srgbClr val="FF6B35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023360" y="429768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Adaptation Model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355080" y="4672584"/>
            <a:ext cx="274320" cy="164592"/>
          </a:xfrm>
          <a:prstGeom prst="rightArrow">
            <a:avLst/>
          </a:prstGeom>
          <a:solidFill>
            <a:srgbClr val="5C6B78"/>
          </a:solidFill>
          <a:ln/>
        </p:spPr>
      </p:sp>
      <p:sp>
        <p:nvSpPr>
          <p:cNvPr id="11" name="Shape 9"/>
          <p:cNvSpPr/>
          <p:nvPr/>
        </p:nvSpPr>
        <p:spPr>
          <a:xfrm>
            <a:off x="6675120" y="4297680"/>
            <a:ext cx="2286000" cy="914400"/>
          </a:xfrm>
          <a:prstGeom prst="roundRect">
            <a:avLst>
              <a:gd name="adj" fmla="val 8000"/>
            </a:avLst>
          </a:prstGeom>
          <a:solidFill>
            <a:srgbClr val="1E7A4C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675120" y="429768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Realistic-Looking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FOR COMPUTER VISION  |  WEEK 13 · LECTURE 1  |  HOUR 25</a:t>
            </a:r>
            <a:endParaRPr lang="en-US" sz="850" dirty="0"/>
          </a:p>
        </p:txBody>
      </p:sp>
      <p:sp>
        <p:nvSpPr>
          <p:cNvPr id="14" name="Text 12"/>
          <p:cNvSpPr txBox="1"/>
          <p:nvPr/>
        </p:nvSpPr>
        <p:spPr>
          <a:xfrm>
            <a:off x="11430000" y="6547104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601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6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Anomaly Detection, Revisited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37360"/>
            <a:ext cx="1097280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4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from the VAE lecture: a model trained only on “normal” examples reconstructs normal inputs well, but struggles with anything unusual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50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Applications:</a:t>
            </a:r>
            <a:endParaRPr lang="en-US" sz="1400" dirty="0"/>
          </a:p>
          <a:p>
            <a:pPr lvl="1" marL="685800" indent="-342900">
              <a:spcAft>
                <a:spcPts val="1200"/>
              </a:spcAft>
              <a:buSzPct val="100000"/>
              <a:buChar char="–"/>
            </a:pPr>
            <a:r>
              <a:rPr lang="en-US" sz="13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manufacturing defect detection, medical imaging anomaly flagging, fraud and network-intrusion detection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5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generative model doesn't need labeled anomalies</a:t>
            </a:r>
            <a:endParaRPr lang="en-US" sz="1400" dirty="0"/>
          </a:p>
          <a:p>
            <a:pPr lvl="1" marL="685800" indent="-342900">
              <a:spcAft>
                <a:spcPts val="1200"/>
              </a:spcAft>
              <a:buSzPct val="100000"/>
              <a:buChar char="–"/>
            </a:pPr>
            <a:r>
              <a:rPr lang="en-US" sz="13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 plenty of normal examples to learn from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22960" y="3931920"/>
            <a:ext cx="5120640" cy="457200"/>
          </a:xfrm>
          <a:prstGeom prst="rect">
            <a:avLst/>
          </a:prstGeom>
          <a:solidFill>
            <a:srgbClr val="1E7A4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87552" y="3931920"/>
            <a:ext cx="47914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INPUT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4572000"/>
            <a:ext cx="4754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Reconstructs cleanly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low reconstruction error → flagged as normal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309360" y="3931920"/>
            <a:ext cx="5120640" cy="457200"/>
          </a:xfrm>
          <a:prstGeom prst="rect">
            <a:avLst/>
          </a:prstGeom>
          <a:solidFill>
            <a:srgbClr val="B23A3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73952" y="3931920"/>
            <a:ext cx="47914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ANOMALOUS INPUT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492240" y="4572000"/>
            <a:ext cx="4754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Doesn't reconstruct well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high reconstruction error → flagged as anomaly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FOR COMPUTER VISION  |  WEEK 13 · LECTURE 1  |  HOUR 25</a:t>
            </a:r>
            <a:endParaRPr lang="en-US" sz="850" dirty="0"/>
          </a:p>
        </p:txBody>
      </p:sp>
      <p:sp>
        <p:nvSpPr>
          <p:cNvPr id="12" name="Text 10"/>
          <p:cNvSpPr txBox="1"/>
          <p:nvPr/>
        </p:nvSpPr>
        <p:spPr>
          <a:xfrm>
            <a:off x="11430000" y="6547104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601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HONEST LOOK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Limits &amp; Risks: Using Generative Models Responsibly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11109960" cy="1161288"/>
          </a:xfrm>
          <a:prstGeom prst="roundRect">
            <a:avLst>
              <a:gd name="adj" fmla="val 6299"/>
            </a:avLst>
          </a:prstGeom>
          <a:solidFill>
            <a:srgbClr val="EEF3F6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737360"/>
            <a:ext cx="3291840" cy="1161288"/>
          </a:xfrm>
          <a:prstGeom prst="rect">
            <a:avLst/>
          </a:prstGeom>
          <a:solidFill>
            <a:srgbClr val="B23A3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1737360"/>
            <a:ext cx="2926080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Deepfakes &amp; Synthetic Media Misuse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4023360" y="1847088"/>
            <a:ext cx="745236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Realistic fake images, video, or audio can be used for misinformation, fraud, or harassment.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3035808"/>
            <a:ext cx="11109960" cy="1161288"/>
          </a:xfrm>
          <a:prstGeom prst="roundRect">
            <a:avLst>
              <a:gd name="adj" fmla="val 6299"/>
            </a:avLst>
          </a:prstGeom>
          <a:solidFill>
            <a:srgbClr val="EEF3F6"/>
          </a:solidFill>
          <a:ln/>
        </p:spPr>
      </p:sp>
      <p:sp>
        <p:nvSpPr>
          <p:cNvPr id="9" name="Shape 7"/>
          <p:cNvSpPr/>
          <p:nvPr/>
        </p:nvSpPr>
        <p:spPr>
          <a:xfrm>
            <a:off x="548640" y="3035808"/>
            <a:ext cx="3291840" cy="1161288"/>
          </a:xfrm>
          <a:prstGeom prst="rect">
            <a:avLst/>
          </a:prstGeom>
          <a:solidFill>
            <a:srgbClr val="8A4A1E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31520" y="3035808"/>
            <a:ext cx="2926080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Copyright &amp; Ownership Questions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4023360" y="3145536"/>
            <a:ext cx="745236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trained on web-scraped images and art raise open questions about attribution and consent — actively being litigated and debated.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4334256"/>
            <a:ext cx="11109960" cy="1161288"/>
          </a:xfrm>
          <a:prstGeom prst="roundRect">
            <a:avLst>
              <a:gd name="adj" fmla="val 6299"/>
            </a:avLst>
          </a:prstGeom>
          <a:solidFill>
            <a:srgbClr val="EEF3F6"/>
          </a:solidFill>
          <a:ln/>
        </p:spPr>
      </p:sp>
      <p:sp>
        <p:nvSpPr>
          <p:cNvPr id="13" name="Shape 11"/>
          <p:cNvSpPr/>
          <p:nvPr/>
        </p:nvSpPr>
        <p:spPr>
          <a:xfrm>
            <a:off x="548640" y="4334256"/>
            <a:ext cx="3291840" cy="1161288"/>
          </a:xfrm>
          <a:prstGeom prst="rect">
            <a:avLst/>
          </a:prstGeom>
          <a:solidFill>
            <a:srgbClr val="4A6B8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31520" y="4334256"/>
            <a:ext cx="2926080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Bias Amplification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4023360" y="4443984"/>
            <a:ext cx="745236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models can reproduce, and sometimes amplify, biases present in their training data.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5724144"/>
            <a:ext cx="11109960" cy="548640"/>
          </a:xfrm>
          <a:prstGeom prst="roundRect">
            <a:avLst>
              <a:gd name="adj" fmla="val 11667"/>
            </a:avLst>
          </a:prstGeom>
          <a:solidFill>
            <a:srgbClr val="0F2A47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77240" y="5724144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are active, evolving areas of policy and research — not solved problems.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FOR COMPUTER VISION  |  WEEK 13 · LECTURE 1  |  HOUR 25</a:t>
            </a:r>
            <a:endParaRPr lang="en-US" sz="850" dirty="0"/>
          </a:p>
        </p:txBody>
      </p:sp>
      <p:sp>
        <p:nvSpPr>
          <p:cNvPr id="19" name="Text 17"/>
          <p:cNvSpPr txBox="1"/>
          <p:nvPr/>
        </p:nvSpPr>
        <p:spPr>
          <a:xfrm>
            <a:off x="11430000" y="6547104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601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· A DIFFERENT KIND OF MODEL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Generating Images to Understanding Them via Language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37360"/>
            <a:ext cx="1097280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▪"/>
            </a:pPr>
            <a:r>
              <a:rPr lang="en-US" sz="15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so far in this unit: models that GENERATE or TRANSFORM images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▪"/>
            </a:pPr>
            <a:r>
              <a:rPr lang="en-US" sz="16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question:</a:t>
            </a:r>
            <a:endParaRPr lang="en-US" sz="1500" dirty="0"/>
          </a:p>
          <a:p>
            <a:pPr lvl="1" marL="685800" indent="-342900">
              <a:spcAft>
                <a:spcPts val="1400"/>
              </a:spcAft>
              <a:buSzPct val="100000"/>
              <a:buChar char="–"/>
            </a:pPr>
            <a:r>
              <a:rPr lang="en-US" sz="14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if a model could also UNDERSTAND an image through the lens of natural language — connecting “what's in this picture” directly to words and sentences?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▪"/>
            </a:pPr>
            <a:r>
              <a:rPr lang="en-US" sz="16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That's the world of vision-language models</a:t>
            </a:r>
            <a:endParaRPr lang="en-US" sz="1500" dirty="0"/>
          </a:p>
          <a:p>
            <a:pPr lvl="1" marL="685800" indent="-342900">
              <a:spcAft>
                <a:spcPts val="1400"/>
              </a:spcAft>
              <a:buSzPct val="100000"/>
              <a:buChar char="–"/>
            </a:pPr>
            <a:r>
              <a:rPr lang="en-US" sz="14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CLIP is the model that started it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FOR COMPUTER VISION  |  WEEK 13 · LECTURE 1  |  HOUR 25</a:t>
            </a:r>
            <a:endParaRPr lang="en-US" sz="850" dirty="0"/>
          </a:p>
        </p:txBody>
      </p:sp>
      <p:sp>
        <p:nvSpPr>
          <p:cNvPr id="6" name="Text 4"/>
          <p:cNvSpPr txBox="1"/>
          <p:nvPr/>
        </p:nvSpPr>
        <p:spPr>
          <a:xfrm>
            <a:off x="11430000" y="6547104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601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VISION-LANGUAGE MODELS</a:t>
            </a:r>
            <a:endParaRPr lang="en-US" sz="1250" dirty="0"/>
          </a:p>
        </p:txBody>
      </p:sp>
      <p:sp>
        <p:nvSpPr>
          <p:cNvPr id="3" name="Shape 1"/>
          <p:cNvSpPr/>
          <p:nvPr/>
        </p:nvSpPr>
        <p:spPr>
          <a:xfrm>
            <a:off x="502920" y="1417320"/>
            <a:ext cx="219456" cy="4114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4" name="Shape 2"/>
          <p:cNvSpPr/>
          <p:nvPr/>
        </p:nvSpPr>
        <p:spPr>
          <a:xfrm>
            <a:off x="502920" y="1417320"/>
            <a:ext cx="41148" cy="219456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5" name="Shape 3"/>
          <p:cNvSpPr/>
          <p:nvPr/>
        </p:nvSpPr>
        <p:spPr>
          <a:xfrm>
            <a:off x="1289304" y="1417320"/>
            <a:ext cx="219456" cy="4114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6" name="Shape 4"/>
          <p:cNvSpPr/>
          <p:nvPr/>
        </p:nvSpPr>
        <p:spPr>
          <a:xfrm>
            <a:off x="1467612" y="1417320"/>
            <a:ext cx="41148" cy="219456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7" name="Shape 5"/>
          <p:cNvSpPr/>
          <p:nvPr/>
        </p:nvSpPr>
        <p:spPr>
          <a:xfrm>
            <a:off x="502920" y="2382012"/>
            <a:ext cx="219456" cy="4114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2203704"/>
            <a:ext cx="41148" cy="219456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9" name="Shape 7"/>
          <p:cNvSpPr/>
          <p:nvPr/>
        </p:nvSpPr>
        <p:spPr>
          <a:xfrm>
            <a:off x="1289304" y="2382012"/>
            <a:ext cx="219456" cy="4114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0" name="Shape 8"/>
          <p:cNvSpPr/>
          <p:nvPr/>
        </p:nvSpPr>
        <p:spPr>
          <a:xfrm>
            <a:off x="1467612" y="2203704"/>
            <a:ext cx="41148" cy="219456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1" name="Shape 9"/>
          <p:cNvSpPr/>
          <p:nvPr/>
        </p:nvSpPr>
        <p:spPr>
          <a:xfrm>
            <a:off x="548640" y="1463040"/>
            <a:ext cx="914400" cy="914400"/>
          </a:xfrm>
          <a:prstGeom prst="ellipse">
            <a:avLst/>
          </a:prstGeom>
          <a:solidFill>
            <a:srgbClr val="0F2A47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48640" y="146304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2600" dirty="0"/>
          </a:p>
        </p:txBody>
      </p:sp>
      <p:sp>
        <p:nvSpPr>
          <p:cNvPr id="13" name="Text 11"/>
          <p:cNvSpPr txBox="1"/>
          <p:nvPr/>
        </p:nvSpPr>
        <p:spPr>
          <a:xfrm>
            <a:off x="1737360" y="141732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CLIP</a:t>
            </a:r>
            <a:endParaRPr lang="en-US" sz="4000" dirty="0"/>
          </a:p>
        </p:txBody>
      </p:sp>
      <p:sp>
        <p:nvSpPr>
          <p:cNvPr id="14" name="Text 12"/>
          <p:cNvSpPr txBox="1"/>
          <p:nvPr/>
        </p:nvSpPr>
        <p:spPr>
          <a:xfrm>
            <a:off x="1783080" y="22860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Radford et al. (OpenAI), 2021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2880360"/>
            <a:ext cx="1088136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4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“Learning Transferable Visual Models From Natural Language Supervision”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50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on 400 MILLION (image, text) pairs scraped from the internet</a:t>
            </a:r>
            <a:endParaRPr lang="en-US" sz="1400" dirty="0"/>
          </a:p>
          <a:p>
            <a:pPr lvl="1" marL="685800" indent="-342900">
              <a:spcAft>
                <a:spcPts val="1200"/>
              </a:spcAft>
              <a:buSzPct val="100000"/>
              <a:buChar char="–"/>
            </a:pPr>
            <a:r>
              <a:rPr lang="en-US" sz="13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manual labeling required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5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</a:t>
            </a:r>
            <a:endParaRPr lang="en-US" sz="1400" dirty="0"/>
          </a:p>
          <a:p>
            <a:pPr lvl="1" marL="685800" indent="-342900">
              <a:spcAft>
                <a:spcPts val="1200"/>
              </a:spcAft>
              <a:buSzPct val="100000"/>
              <a:buChar char="–"/>
            </a:pPr>
            <a:r>
              <a:rPr lang="en-US" sz="13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a general-purpose way to relate images and text, rather than a fixed set of labels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FOR COMPUTER VISION  |  WEEK 13 · LECTURE 1  |  HOUR 25</a:t>
            </a:r>
            <a:endParaRPr lang="en-US" sz="850" dirty="0"/>
          </a:p>
        </p:txBody>
      </p:sp>
      <p:sp>
        <p:nvSpPr>
          <p:cNvPr id="17" name="Text 15"/>
          <p:cNvSpPr txBox="1"/>
          <p:nvPr/>
        </p:nvSpPr>
        <p:spPr>
          <a:xfrm>
            <a:off x="11430000" y="6547104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601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IDEA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Contrastive Pretraining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37360"/>
            <a:ext cx="1097280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50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separate encoders:</a:t>
            </a:r>
            <a:endParaRPr lang="en-US" sz="1500" dirty="0"/>
          </a:p>
          <a:p>
            <a:pPr lvl="1" marL="685800" indent="-342900">
              <a:spcAft>
                <a:spcPts val="1200"/>
              </a:spcAft>
              <a:buSzPct val="100000"/>
              <a:buChar char="–"/>
            </a:pPr>
            <a:r>
              <a:rPr lang="en-US" sz="13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image encoder (e.g. a ViT or ResNet) and a text encoder (a Transformer)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5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map their input into the SAME shared embedding space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50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objective:</a:t>
            </a:r>
            <a:endParaRPr lang="en-US" sz="1500" dirty="0"/>
          </a:p>
          <a:p>
            <a:pPr lvl="1" marL="685800" indent="-342900">
              <a:spcAft>
                <a:spcPts val="1200"/>
              </a:spcAft>
              <a:buSzPct val="100000"/>
              <a:buChar char="–"/>
            </a:pPr>
            <a:r>
              <a:rPr lang="en-US" sz="13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embeddings of a MATCHING (image, text) pair close together, and non-matching pairs far apart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3657600"/>
            <a:ext cx="9692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embedding space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914400" y="4023360"/>
            <a:ext cx="4206240" cy="1005840"/>
          </a:xfrm>
          <a:prstGeom prst="roundRect">
            <a:avLst>
              <a:gd name="adj" fmla="val 7273"/>
            </a:avLst>
          </a:prstGeom>
          <a:solidFill>
            <a:srgbClr val="1C7293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14400" y="4023360"/>
            <a:ext cx="4206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 dog playing in the snow”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(text encoder)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0" y="4023360"/>
            <a:ext cx="4206240" cy="1005840"/>
          </a:xfrm>
          <a:prstGeom prst="roundRect">
            <a:avLst>
              <a:gd name="adj" fmla="val 7273"/>
            </a:avLst>
          </a:prstGeom>
          <a:solidFill>
            <a:srgbClr val="FF6B35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0" y="4023360"/>
            <a:ext cx="4206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[photo of a dog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snow]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(image encoder)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212080" y="4526280"/>
            <a:ext cx="1097280" cy="0"/>
          </a:xfrm>
          <a:prstGeom prst="line">
            <a:avLst/>
          </a:prstGeom>
          <a:noFill/>
          <a:ln w="25400">
            <a:solidFill>
              <a:srgbClr val="1E7A4C"/>
            </a:solidFill>
            <a:prstDash val="dash"/>
            <a:headEnd type="triangl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5349240" y="4315968"/>
            <a:ext cx="822960" cy="420624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5875">
            <a:solidFill>
              <a:srgbClr val="1E7A4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349240" y="4315968"/>
            <a:ext cx="8229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7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FOR COMPUTER VISION  |  WEEK 13 · LECTURE 1  |  HOUR 25</a:t>
            </a:r>
            <a:endParaRPr lang="en-US" sz="850" dirty="0"/>
          </a:p>
        </p:txBody>
      </p:sp>
      <p:sp>
        <p:nvSpPr>
          <p:cNvPr id="14" name="Text 12"/>
          <p:cNvSpPr txBox="1"/>
          <p:nvPr/>
        </p:nvSpPr>
        <p:spPr>
          <a:xfrm>
            <a:off x="11430000" y="6547104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601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PUTTING IT TOGETHER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CLIP Architecture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914400" y="1920240"/>
            <a:ext cx="2103120" cy="822960"/>
          </a:xfrm>
          <a:prstGeom prst="roundRect">
            <a:avLst>
              <a:gd name="adj" fmla="val 7778"/>
            </a:avLst>
          </a:prstGeom>
          <a:solidFill>
            <a:srgbClr val="EEF3F6"/>
          </a:solidFill>
          <a:ln w="12700">
            <a:solidFill>
              <a:srgbClr val="0F2A4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1920240"/>
            <a:ext cx="2103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3063240" y="2249424"/>
            <a:ext cx="274320" cy="164592"/>
          </a:xfrm>
          <a:prstGeom prst="rightArrow">
            <a:avLst/>
          </a:prstGeom>
          <a:solidFill>
            <a:srgbClr val="5C6B78"/>
          </a:solidFill>
          <a:ln/>
        </p:spPr>
      </p:sp>
      <p:sp>
        <p:nvSpPr>
          <p:cNvPr id="7" name="Shape 5"/>
          <p:cNvSpPr/>
          <p:nvPr/>
        </p:nvSpPr>
        <p:spPr>
          <a:xfrm>
            <a:off x="3383280" y="1920240"/>
            <a:ext cx="2103120" cy="822960"/>
          </a:xfrm>
          <a:prstGeom prst="roundRect">
            <a:avLst>
              <a:gd name="adj" fmla="val 7778"/>
            </a:avLst>
          </a:prstGeom>
          <a:solidFill>
            <a:srgbClr val="FF6B35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3383280" y="1920240"/>
            <a:ext cx="2103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Encoder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(ViT or ResNet)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532120" y="2249424"/>
            <a:ext cx="274320" cy="164592"/>
          </a:xfrm>
          <a:prstGeom prst="rightArrow">
            <a:avLst/>
          </a:prstGeom>
          <a:solidFill>
            <a:srgbClr val="5C6B78"/>
          </a:solidFill>
          <a:ln/>
        </p:spPr>
      </p:sp>
      <p:sp>
        <p:nvSpPr>
          <p:cNvPr id="10" name="Shape 8"/>
          <p:cNvSpPr/>
          <p:nvPr/>
        </p:nvSpPr>
        <p:spPr>
          <a:xfrm>
            <a:off x="5852160" y="1920240"/>
            <a:ext cx="2103120" cy="822960"/>
          </a:xfrm>
          <a:prstGeom prst="roundRect">
            <a:avLst>
              <a:gd name="adj" fmla="val 7778"/>
            </a:avLst>
          </a:prstGeom>
          <a:solidFill>
            <a:srgbClr val="C2571E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852160" y="1920240"/>
            <a:ext cx="2103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914400" y="3383280"/>
            <a:ext cx="2103120" cy="822960"/>
          </a:xfrm>
          <a:prstGeom prst="roundRect">
            <a:avLst>
              <a:gd name="adj" fmla="val 7778"/>
            </a:avLst>
          </a:prstGeom>
          <a:solidFill>
            <a:srgbClr val="EEF3F6"/>
          </a:solidFill>
          <a:ln w="12700">
            <a:solidFill>
              <a:srgbClr val="0F2A47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14400" y="3383280"/>
            <a:ext cx="2103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3063240" y="3712464"/>
            <a:ext cx="274320" cy="164592"/>
          </a:xfrm>
          <a:prstGeom prst="rightArrow">
            <a:avLst/>
          </a:prstGeom>
          <a:solidFill>
            <a:srgbClr val="5C6B78"/>
          </a:solidFill>
          <a:ln/>
        </p:spPr>
      </p:sp>
      <p:sp>
        <p:nvSpPr>
          <p:cNvPr id="15" name="Shape 13"/>
          <p:cNvSpPr/>
          <p:nvPr/>
        </p:nvSpPr>
        <p:spPr>
          <a:xfrm>
            <a:off x="3383280" y="3383280"/>
            <a:ext cx="2103120" cy="822960"/>
          </a:xfrm>
          <a:prstGeom prst="roundRect">
            <a:avLst>
              <a:gd name="adj" fmla="val 7778"/>
            </a:avLst>
          </a:prstGeom>
          <a:solidFill>
            <a:srgbClr val="1C7293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3383280" y="3383280"/>
            <a:ext cx="2103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Encoder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(Transformer)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532120" y="3712464"/>
            <a:ext cx="274320" cy="164592"/>
          </a:xfrm>
          <a:prstGeom prst="rightArrow">
            <a:avLst/>
          </a:prstGeom>
          <a:solidFill>
            <a:srgbClr val="5C6B78"/>
          </a:solidFill>
          <a:ln/>
        </p:spPr>
      </p:sp>
      <p:sp>
        <p:nvSpPr>
          <p:cNvPr id="18" name="Shape 16"/>
          <p:cNvSpPr/>
          <p:nvPr/>
        </p:nvSpPr>
        <p:spPr>
          <a:xfrm>
            <a:off x="5852160" y="3383280"/>
            <a:ext cx="2103120" cy="822960"/>
          </a:xfrm>
          <a:prstGeom prst="roundRect">
            <a:avLst>
              <a:gd name="adj" fmla="val 7778"/>
            </a:avLst>
          </a:prstGeom>
          <a:solidFill>
            <a:srgbClr val="165A72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5852160" y="3383280"/>
            <a:ext cx="2103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8001000" y="2249424"/>
            <a:ext cx="320040" cy="164592"/>
          </a:xfrm>
          <a:prstGeom prst="rightArrow">
            <a:avLst/>
          </a:prstGeom>
          <a:solidFill>
            <a:srgbClr val="5C6B78"/>
          </a:solidFill>
          <a:ln/>
        </p:spPr>
      </p:sp>
      <p:sp>
        <p:nvSpPr>
          <p:cNvPr id="21" name="Shape 19"/>
          <p:cNvSpPr/>
          <p:nvPr/>
        </p:nvSpPr>
        <p:spPr>
          <a:xfrm>
            <a:off x="8138160" y="2331720"/>
            <a:ext cx="0" cy="1463040"/>
          </a:xfrm>
          <a:prstGeom prst="line">
            <a:avLst/>
          </a:prstGeom>
          <a:noFill/>
          <a:ln w="15875">
            <a:solidFill>
              <a:srgbClr val="5C6B7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001000" y="3712464"/>
            <a:ext cx="320040" cy="164592"/>
          </a:xfrm>
          <a:prstGeom prst="rightArrow">
            <a:avLst/>
          </a:prstGeom>
          <a:solidFill>
            <a:srgbClr val="5C6B78"/>
          </a:solidFill>
          <a:ln/>
        </p:spPr>
      </p:sp>
      <p:sp>
        <p:nvSpPr>
          <p:cNvPr id="23" name="Shape 21"/>
          <p:cNvSpPr/>
          <p:nvPr/>
        </p:nvSpPr>
        <p:spPr>
          <a:xfrm>
            <a:off x="8503920" y="2651760"/>
            <a:ext cx="1828800" cy="822960"/>
          </a:xfrm>
          <a:prstGeom prst="roundRect">
            <a:avLst>
              <a:gd name="adj" fmla="val 7778"/>
            </a:avLst>
          </a:prstGeom>
          <a:solidFill>
            <a:srgbClr val="0F2A47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8503920" y="265176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Cosine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Similarity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548640" y="4663440"/>
            <a:ext cx="1097280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▪"/>
            </a:pPr>
            <a:r>
              <a:rPr lang="en-US" sz="135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towers train jointly</a:t>
            </a:r>
            <a:endParaRPr lang="en-US" sz="1350" dirty="0"/>
          </a:p>
          <a:p>
            <a:pPr lvl="1" marL="685800" indent="-342900">
              <a:spcAft>
                <a:spcPts val="900"/>
              </a:spcAft>
              <a:buSzPct val="100000"/>
              <a:buChar char="–"/>
            </a:pPr>
            <a:r>
              <a:rPr lang="en-US" sz="11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a large batch of (image, text) pairs, using the contrastive loss (next slide)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▪"/>
            </a:pPr>
            <a:r>
              <a:rPr lang="en-US" sz="135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inference, either tower can be used alone</a:t>
            </a:r>
            <a:endParaRPr lang="en-US" sz="1350" dirty="0"/>
          </a:p>
          <a:p>
            <a:pPr lvl="1" marL="685800" indent="-342900">
              <a:spcAft>
                <a:spcPts val="900"/>
              </a:spcAft>
              <a:buSzPct val="100000"/>
              <a:buChar char="–"/>
            </a:pPr>
            <a:r>
              <a:rPr lang="en-US" sz="11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 just an image, or just a caption, and compare against anything else already embedded</a:t>
            </a:r>
            <a:endParaRPr lang="en-US" sz="1350" dirty="0"/>
          </a:p>
        </p:txBody>
      </p:sp>
      <p:sp>
        <p:nvSpPr>
          <p:cNvPr id="26" name="Text 24"/>
          <p:cNvSpPr txBox="1"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FOR COMPUTER VISION  |  WEEK 13 · LECTURE 1  |  HOUR 25</a:t>
            </a:r>
            <a:endParaRPr lang="en-US" sz="850" dirty="0"/>
          </a:p>
        </p:txBody>
      </p:sp>
      <p:sp>
        <p:nvSpPr>
          <p:cNvPr id="27" name="Text 25"/>
          <p:cNvSpPr txBox="1"/>
          <p:nvPr/>
        </p:nvSpPr>
        <p:spPr>
          <a:xfrm>
            <a:off x="11430000" y="6547104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601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MATH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Contrastive Loss in Detail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37360"/>
            <a:ext cx="539496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 batch of N (image, text) pairs, compute all N×N pairwise similarity scores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400" b="1" dirty="0">
                <a:solidFill>
                  <a:srgbClr val="1E7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correct pairings sit on the diagonal</a:t>
            </a:r>
            <a:endParaRPr lang="en-US" sz="1300" dirty="0"/>
          </a:p>
          <a:p>
            <a:pPr lvl="1" marL="685800" indent="-342900">
              <a:spcAft>
                <a:spcPts val="1000"/>
              </a:spcAft>
              <a:buSzPct val="100000"/>
              <a:buChar char="–"/>
            </a:pPr>
            <a:r>
              <a:rPr lang="en-US" sz="12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pushes those to be the highest score in their row AND their column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40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with a symmetric cross-entropy loss:</a:t>
            </a:r>
            <a:endParaRPr lang="en-US" sz="1300" dirty="0"/>
          </a:p>
          <a:p>
            <a:pPr lvl="1" marL="685800" indent="-342900">
              <a:spcAft>
                <a:spcPts val="1000"/>
              </a:spcAft>
              <a:buSzPct val="100000"/>
              <a:buChar char="–"/>
            </a:pPr>
            <a:r>
              <a:rPr lang="en-US" sz="12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image-to-text direction + text-to-image direction, averaged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766560" y="1920240"/>
            <a:ext cx="566928" cy="566928"/>
          </a:xfrm>
          <a:prstGeom prst="rect">
            <a:avLst/>
          </a:prstGeom>
          <a:solidFill>
            <a:srgbClr val="1E7A4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766560" y="192024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333488" y="1920240"/>
            <a:ext cx="566928" cy="566928"/>
          </a:xfrm>
          <a:prstGeom prst="rect">
            <a:avLst/>
          </a:prstGeom>
          <a:solidFill>
            <a:srgbClr val="EEF3F6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33488" y="192024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900416" y="1920240"/>
            <a:ext cx="566928" cy="566928"/>
          </a:xfrm>
          <a:prstGeom prst="rect">
            <a:avLst/>
          </a:prstGeom>
          <a:solidFill>
            <a:srgbClr val="EEF3F6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900416" y="192024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467344" y="1920240"/>
            <a:ext cx="566928" cy="566928"/>
          </a:xfrm>
          <a:prstGeom prst="rect">
            <a:avLst/>
          </a:prstGeom>
          <a:solidFill>
            <a:srgbClr val="EEF3F6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467344" y="192024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9034272" y="1920240"/>
            <a:ext cx="566928" cy="566928"/>
          </a:xfrm>
          <a:prstGeom prst="rect">
            <a:avLst/>
          </a:prstGeom>
          <a:solidFill>
            <a:srgbClr val="EEF3F6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034272" y="192024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766560" y="2487168"/>
            <a:ext cx="566928" cy="566928"/>
          </a:xfrm>
          <a:prstGeom prst="rect">
            <a:avLst/>
          </a:prstGeom>
          <a:solidFill>
            <a:srgbClr val="EEF3F6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766560" y="248716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7333488" y="2487168"/>
            <a:ext cx="566928" cy="566928"/>
          </a:xfrm>
          <a:prstGeom prst="rect">
            <a:avLst/>
          </a:prstGeom>
          <a:solidFill>
            <a:srgbClr val="1E7A4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333488" y="248716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900416" y="2487168"/>
            <a:ext cx="566928" cy="566928"/>
          </a:xfrm>
          <a:prstGeom prst="rect">
            <a:avLst/>
          </a:prstGeom>
          <a:solidFill>
            <a:srgbClr val="EEF3F6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900416" y="248716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8467344" y="2487168"/>
            <a:ext cx="566928" cy="566928"/>
          </a:xfrm>
          <a:prstGeom prst="rect">
            <a:avLst/>
          </a:prstGeom>
          <a:solidFill>
            <a:srgbClr val="EEF3F6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467344" y="248716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9034272" y="2487168"/>
            <a:ext cx="566928" cy="566928"/>
          </a:xfrm>
          <a:prstGeom prst="rect">
            <a:avLst/>
          </a:prstGeom>
          <a:solidFill>
            <a:srgbClr val="EEF3F6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9034272" y="248716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766560" y="3054096"/>
            <a:ext cx="566928" cy="566928"/>
          </a:xfrm>
          <a:prstGeom prst="rect">
            <a:avLst/>
          </a:prstGeom>
          <a:solidFill>
            <a:srgbClr val="EEF3F6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766560" y="305409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7333488" y="3054096"/>
            <a:ext cx="566928" cy="566928"/>
          </a:xfrm>
          <a:prstGeom prst="rect">
            <a:avLst/>
          </a:prstGeom>
          <a:solidFill>
            <a:srgbClr val="EEF3F6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333488" y="305409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7900416" y="3054096"/>
            <a:ext cx="566928" cy="566928"/>
          </a:xfrm>
          <a:prstGeom prst="rect">
            <a:avLst/>
          </a:prstGeom>
          <a:solidFill>
            <a:srgbClr val="1E7A4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7900416" y="305409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8467344" y="3054096"/>
            <a:ext cx="566928" cy="566928"/>
          </a:xfrm>
          <a:prstGeom prst="rect">
            <a:avLst/>
          </a:prstGeom>
          <a:solidFill>
            <a:srgbClr val="EEF3F6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8467344" y="305409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9034272" y="3054096"/>
            <a:ext cx="566928" cy="566928"/>
          </a:xfrm>
          <a:prstGeom prst="rect">
            <a:avLst/>
          </a:prstGeom>
          <a:solidFill>
            <a:srgbClr val="EEF3F6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9034272" y="305409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6766560" y="3621024"/>
            <a:ext cx="566928" cy="566928"/>
          </a:xfrm>
          <a:prstGeom prst="rect">
            <a:avLst/>
          </a:prstGeom>
          <a:solidFill>
            <a:srgbClr val="EEF3F6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6766560" y="3621024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7333488" y="3621024"/>
            <a:ext cx="566928" cy="566928"/>
          </a:xfrm>
          <a:prstGeom prst="rect">
            <a:avLst/>
          </a:prstGeom>
          <a:solidFill>
            <a:srgbClr val="EEF3F6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7333488" y="3621024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7900416" y="3621024"/>
            <a:ext cx="566928" cy="566928"/>
          </a:xfrm>
          <a:prstGeom prst="rect">
            <a:avLst/>
          </a:prstGeom>
          <a:solidFill>
            <a:srgbClr val="EEF3F6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7900416" y="3621024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8467344" y="3621024"/>
            <a:ext cx="566928" cy="566928"/>
          </a:xfrm>
          <a:prstGeom prst="rect">
            <a:avLst/>
          </a:prstGeom>
          <a:solidFill>
            <a:srgbClr val="1E7A4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8467344" y="3621024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43" name="Shape 41"/>
          <p:cNvSpPr/>
          <p:nvPr/>
        </p:nvSpPr>
        <p:spPr>
          <a:xfrm>
            <a:off x="9034272" y="3621024"/>
            <a:ext cx="566928" cy="566928"/>
          </a:xfrm>
          <a:prstGeom prst="rect">
            <a:avLst/>
          </a:prstGeom>
          <a:solidFill>
            <a:srgbClr val="EEF3F6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9034272" y="3621024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1400" dirty="0"/>
          </a:p>
        </p:txBody>
      </p:sp>
      <p:sp>
        <p:nvSpPr>
          <p:cNvPr id="45" name="Shape 43"/>
          <p:cNvSpPr/>
          <p:nvPr/>
        </p:nvSpPr>
        <p:spPr>
          <a:xfrm>
            <a:off x="6766560" y="4187952"/>
            <a:ext cx="566928" cy="566928"/>
          </a:xfrm>
          <a:prstGeom prst="rect">
            <a:avLst/>
          </a:prstGeom>
          <a:solidFill>
            <a:srgbClr val="EEF3F6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6766560" y="418795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1400" dirty="0"/>
          </a:p>
        </p:txBody>
      </p:sp>
      <p:sp>
        <p:nvSpPr>
          <p:cNvPr id="47" name="Shape 45"/>
          <p:cNvSpPr/>
          <p:nvPr/>
        </p:nvSpPr>
        <p:spPr>
          <a:xfrm>
            <a:off x="7333488" y="4187952"/>
            <a:ext cx="566928" cy="566928"/>
          </a:xfrm>
          <a:prstGeom prst="rect">
            <a:avLst/>
          </a:prstGeom>
          <a:solidFill>
            <a:srgbClr val="EEF3F6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7333488" y="418795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1400" dirty="0"/>
          </a:p>
        </p:txBody>
      </p:sp>
      <p:sp>
        <p:nvSpPr>
          <p:cNvPr id="49" name="Shape 47"/>
          <p:cNvSpPr/>
          <p:nvPr/>
        </p:nvSpPr>
        <p:spPr>
          <a:xfrm>
            <a:off x="7900416" y="4187952"/>
            <a:ext cx="566928" cy="566928"/>
          </a:xfrm>
          <a:prstGeom prst="rect">
            <a:avLst/>
          </a:prstGeom>
          <a:solidFill>
            <a:srgbClr val="EEF3F6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7900416" y="418795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1400" dirty="0"/>
          </a:p>
        </p:txBody>
      </p:sp>
      <p:sp>
        <p:nvSpPr>
          <p:cNvPr id="51" name="Shape 49"/>
          <p:cNvSpPr/>
          <p:nvPr/>
        </p:nvSpPr>
        <p:spPr>
          <a:xfrm>
            <a:off x="8467344" y="4187952"/>
            <a:ext cx="566928" cy="566928"/>
          </a:xfrm>
          <a:prstGeom prst="rect">
            <a:avLst/>
          </a:prstGeom>
          <a:solidFill>
            <a:srgbClr val="EEF3F6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8467344" y="418795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1400" dirty="0"/>
          </a:p>
        </p:txBody>
      </p:sp>
      <p:sp>
        <p:nvSpPr>
          <p:cNvPr id="53" name="Shape 51"/>
          <p:cNvSpPr/>
          <p:nvPr/>
        </p:nvSpPr>
        <p:spPr>
          <a:xfrm>
            <a:off x="9034272" y="4187952"/>
            <a:ext cx="566928" cy="566928"/>
          </a:xfrm>
          <a:prstGeom prst="rect">
            <a:avLst/>
          </a:prstGeom>
          <a:solidFill>
            <a:srgbClr val="1E7A4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9034272" y="418795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55" name="Text 53"/>
          <p:cNvSpPr txBox="1"/>
          <p:nvPr/>
        </p:nvSpPr>
        <p:spPr>
          <a:xfrm>
            <a:off x="5394960" y="320040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 (rows)</a:t>
            </a:r>
            <a:endParaRPr lang="en-US" sz="950" dirty="0"/>
          </a:p>
        </p:txBody>
      </p:sp>
      <p:sp>
        <p:nvSpPr>
          <p:cNvPr id="56" name="Text 54"/>
          <p:cNvSpPr txBox="1"/>
          <p:nvPr/>
        </p:nvSpPr>
        <p:spPr>
          <a:xfrm>
            <a:off x="6766560" y="484632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captions (columns)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6766560" y="5257800"/>
            <a:ext cx="2834640" cy="1188720"/>
          </a:xfrm>
          <a:prstGeom prst="roundRect">
            <a:avLst>
              <a:gd name="adj" fmla="val 5385"/>
            </a:avLst>
          </a:prstGeom>
          <a:solidFill>
            <a:srgbClr val="EEF3F6"/>
          </a:solidFill>
          <a:ln/>
        </p:spPr>
      </p:sp>
      <p:sp>
        <p:nvSpPr>
          <p:cNvPr id="58" name="Text 56"/>
          <p:cNvSpPr txBox="1"/>
          <p:nvPr/>
        </p:nvSpPr>
        <p:spPr>
          <a:xfrm>
            <a:off x="6903720" y="5257800"/>
            <a:ext cx="2560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diagonal = the true matching pairs. Every off-diagonal cell is a negative example — free supervision from the batch itself.</a:t>
            </a:r>
            <a:endParaRPr lang="en-US" sz="1000" dirty="0"/>
          </a:p>
        </p:txBody>
      </p:sp>
      <p:sp>
        <p:nvSpPr>
          <p:cNvPr id="59" name="Text 57"/>
          <p:cNvSpPr txBox="1"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FOR COMPUTER VISION  |  WEEK 13 · LECTURE 1  |  HOUR 25</a:t>
            </a:r>
            <a:endParaRPr lang="en-US" sz="850" dirty="0"/>
          </a:p>
        </p:txBody>
      </p:sp>
      <p:sp>
        <p:nvSpPr>
          <p:cNvPr id="60" name="Text 58"/>
          <p:cNvSpPr txBox="1"/>
          <p:nvPr/>
        </p:nvSpPr>
        <p:spPr>
          <a:xfrm>
            <a:off x="11430000" y="6547104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601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PARTY TRICK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Zero-Shot Classification with CLIP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37360"/>
            <a:ext cx="539496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▪"/>
            </a:pPr>
            <a:r>
              <a:rPr lang="en-US" sz="12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classify an image into ANY set of candidate categories, with no task-specific training at all: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▪"/>
            </a:pPr>
            <a:r>
              <a:rPr lang="en-US" sz="135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Embed the image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▪"/>
            </a:pPr>
            <a:r>
              <a:rPr lang="en-US" sz="135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Embed a text prompt like “a photo of a {class}” for every candidate class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▪"/>
            </a:pPr>
            <a:r>
              <a:rPr lang="en-US" sz="135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Pick the class whose text embedding is most similar to the image embedding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▪"/>
            </a:pPr>
            <a:r>
              <a:rPr lang="en-US" sz="135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for arbitrary, open-ended label sets defined at inference time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537960" y="1828800"/>
            <a:ext cx="1280160" cy="594360"/>
          </a:xfrm>
          <a:prstGeom prst="roundRect">
            <a:avLst>
              <a:gd name="adj" fmla="val 9231"/>
            </a:avLst>
          </a:prstGeom>
          <a:solidFill>
            <a:srgbClr val="FF6B35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537960" y="1828800"/>
            <a:ext cx="1280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8915400" y="1645920"/>
            <a:ext cx="2011680" cy="457200"/>
          </a:xfrm>
          <a:prstGeom prst="roundRect">
            <a:avLst>
              <a:gd name="adj" fmla="val 10000"/>
            </a:avLst>
          </a:prstGeom>
          <a:solidFill>
            <a:srgbClr val="1E7A4C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915400" y="164592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 photo of a dog”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909560" y="2125980"/>
            <a:ext cx="1005840" cy="-251460"/>
          </a:xfrm>
          <a:prstGeom prst="line">
            <a:avLst/>
          </a:prstGeom>
          <a:noFill/>
          <a:ln w="25400">
            <a:solidFill>
              <a:srgbClr val="1E7A4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1018520" y="1645920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7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58%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8915400" y="2304288"/>
            <a:ext cx="2011680" cy="457200"/>
          </a:xfrm>
          <a:prstGeom prst="roundRect">
            <a:avLst>
              <a:gd name="adj" fmla="val 10000"/>
            </a:avLst>
          </a:prstGeom>
          <a:solidFill>
            <a:srgbClr val="EEF3F6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915400" y="2304288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 photo of a cat”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909560" y="2125980"/>
            <a:ext cx="1005840" cy="406908"/>
          </a:xfrm>
          <a:prstGeom prst="line">
            <a:avLst/>
          </a:prstGeom>
          <a:noFill/>
          <a:ln w="12700">
            <a:solidFill>
              <a:srgbClr val="CBD8E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1018520" y="2304288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31%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915400" y="2962656"/>
            <a:ext cx="2011680" cy="457200"/>
          </a:xfrm>
          <a:prstGeom prst="roundRect">
            <a:avLst>
              <a:gd name="adj" fmla="val 10000"/>
            </a:avLst>
          </a:prstGeom>
          <a:solidFill>
            <a:srgbClr val="EEF3F6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915400" y="2962656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 photo of a car”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909560" y="2125980"/>
            <a:ext cx="1005840" cy="1065276"/>
          </a:xfrm>
          <a:prstGeom prst="line">
            <a:avLst/>
          </a:prstGeom>
          <a:noFill/>
          <a:ln w="12700">
            <a:solidFill>
              <a:srgbClr val="CBD8E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1018520" y="2962656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8%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8915400" y="3621024"/>
            <a:ext cx="2011680" cy="457200"/>
          </a:xfrm>
          <a:prstGeom prst="roundRect">
            <a:avLst>
              <a:gd name="adj" fmla="val 10000"/>
            </a:avLst>
          </a:prstGeom>
          <a:solidFill>
            <a:srgbClr val="EEF3F6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915400" y="3621024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 photo of a tree”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909560" y="2125980"/>
            <a:ext cx="1005840" cy="1723644"/>
          </a:xfrm>
          <a:prstGeom prst="line">
            <a:avLst/>
          </a:prstGeom>
          <a:noFill/>
          <a:ln w="12700">
            <a:solidFill>
              <a:srgbClr val="CBD8E0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11018520" y="3621024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3%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8915400" y="432511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similarity to image embedding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FOR COMPUTER VISION  |  WEEK 13 · LECTURE 1  |  HOUR 25</a:t>
            </a:r>
            <a:endParaRPr lang="en-US" sz="850" dirty="0"/>
          </a:p>
        </p:txBody>
      </p:sp>
      <p:sp>
        <p:nvSpPr>
          <p:cNvPr id="25" name="Text 23"/>
          <p:cNvSpPr txBox="1"/>
          <p:nvPr/>
        </p:nvSpPr>
        <p:spPr>
          <a:xfrm>
            <a:off x="11430000" y="6547104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601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CLIP Is a Big Deal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11109960" cy="1280160"/>
          </a:xfrm>
          <a:prstGeom prst="roundRect">
            <a:avLst>
              <a:gd name="adj" fmla="val 5714"/>
            </a:avLst>
          </a:prstGeom>
          <a:solidFill>
            <a:srgbClr val="EEF3F6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737360"/>
            <a:ext cx="3566160" cy="128016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1737360"/>
            <a:ext cx="3246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Open-Vocabulary Understanding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4297680" y="1847088"/>
            <a:ext cx="7178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limited to a fixed label set like ImageNet's 1,000 classes — any category expressible in words works.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3154680"/>
            <a:ext cx="11109960" cy="1280160"/>
          </a:xfrm>
          <a:prstGeom prst="roundRect">
            <a:avLst>
              <a:gd name="adj" fmla="val 5714"/>
            </a:avLst>
          </a:prstGeom>
          <a:solidFill>
            <a:srgbClr val="EEF3F6"/>
          </a:solidFill>
          <a:ln/>
        </p:spPr>
      </p:sp>
      <p:sp>
        <p:nvSpPr>
          <p:cNvPr id="9" name="Shape 7"/>
          <p:cNvSpPr/>
          <p:nvPr/>
        </p:nvSpPr>
        <p:spPr>
          <a:xfrm>
            <a:off x="548640" y="3154680"/>
            <a:ext cx="3566160" cy="128016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31520" y="3154680"/>
            <a:ext cx="3246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Zero-Shot Transfer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4297680" y="3264408"/>
            <a:ext cx="7178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performance across many benchmark datasets, often rivaling models trained specifically for that task.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4572000"/>
            <a:ext cx="11109960" cy="1280160"/>
          </a:xfrm>
          <a:prstGeom prst="roundRect">
            <a:avLst>
              <a:gd name="adj" fmla="val 5714"/>
            </a:avLst>
          </a:prstGeom>
          <a:solidFill>
            <a:srgbClr val="EEF3F6"/>
          </a:solidFill>
          <a:ln/>
        </p:spPr>
      </p:sp>
      <p:sp>
        <p:nvSpPr>
          <p:cNvPr id="13" name="Shape 11"/>
          <p:cNvSpPr/>
          <p:nvPr/>
        </p:nvSpPr>
        <p:spPr>
          <a:xfrm>
            <a:off x="548640" y="4572000"/>
            <a:ext cx="3566160" cy="1280160"/>
          </a:xfrm>
          <a:prstGeom prst="rect">
            <a:avLst/>
          </a:prstGeom>
          <a:solidFill>
            <a:srgbClr val="1E7A4C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31520" y="4572000"/>
            <a:ext cx="3246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Genuinely General Representation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4297680" y="4681728"/>
            <a:ext cx="7178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embeddings are reusable across many downstream tasks, not just classification.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FOR COMPUTER VISION  |  WEEK 13 · LECTURE 1  |  HOUR 25</a:t>
            </a:r>
            <a:endParaRPr lang="en-US" sz="850" dirty="0"/>
          </a:p>
        </p:txBody>
      </p:sp>
      <p:sp>
        <p:nvSpPr>
          <p:cNvPr id="17" name="Text 15"/>
          <p:cNvSpPr txBox="1"/>
          <p:nvPr/>
        </p:nvSpPr>
        <p:spPr>
          <a:xfrm>
            <a:off x="11430000" y="6547104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601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CIRCLE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Powering Modern Multimodal Systems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37360"/>
            <a:ext cx="1097280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CLIP's embeddings became foundational infrastructure for later systems: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nice full circle: the generative models from the last two lectures often rely on a CLIP-like component internally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577840" y="3200400"/>
            <a:ext cx="2103120" cy="822960"/>
          </a:xfrm>
          <a:prstGeom prst="roundRect">
            <a:avLst>
              <a:gd name="adj" fmla="val 8889"/>
            </a:avLst>
          </a:prstGeom>
          <a:solidFill>
            <a:srgbClr val="0F2A47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577840" y="3200400"/>
            <a:ext cx="2103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CLIP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22960" y="4663440"/>
            <a:ext cx="3108960" cy="1280160"/>
          </a:xfrm>
          <a:prstGeom prst="roundRect">
            <a:avLst>
              <a:gd name="adj" fmla="val 5000"/>
            </a:avLst>
          </a:prstGeom>
          <a:solidFill>
            <a:srgbClr val="EEF3F6"/>
          </a:solidFill>
          <a:ln/>
        </p:spPr>
      </p:sp>
      <p:sp>
        <p:nvSpPr>
          <p:cNvPr id="8" name="Shape 6"/>
          <p:cNvSpPr/>
          <p:nvPr/>
        </p:nvSpPr>
        <p:spPr>
          <a:xfrm>
            <a:off x="822960" y="4663440"/>
            <a:ext cx="3108960" cy="41148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22960" y="466344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Text-to-Image Generation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932688" y="5120640"/>
            <a:ext cx="28895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Diffusion models (DALL-E 2, Stable Diffusion) use CLIP-style text encoding to align generated images with a prompt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852160" y="4023360"/>
            <a:ext cx="-3474720" cy="640080"/>
          </a:xfrm>
          <a:prstGeom prst="line">
            <a:avLst/>
          </a:prstGeom>
          <a:noFill/>
          <a:ln w="15875">
            <a:solidFill>
              <a:srgbClr val="5C6B78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4251960" y="4663440"/>
            <a:ext cx="3108960" cy="1280160"/>
          </a:xfrm>
          <a:prstGeom prst="roundRect">
            <a:avLst>
              <a:gd name="adj" fmla="val 5000"/>
            </a:avLst>
          </a:prstGeom>
          <a:solidFill>
            <a:srgbClr val="EEF3F6"/>
          </a:solidFill>
          <a:ln/>
        </p:spPr>
      </p:sp>
      <p:sp>
        <p:nvSpPr>
          <p:cNvPr id="13" name="Shape 11"/>
          <p:cNvSpPr/>
          <p:nvPr/>
        </p:nvSpPr>
        <p:spPr>
          <a:xfrm>
            <a:off x="4251960" y="4663440"/>
            <a:ext cx="3108960" cy="41148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251960" y="466344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Search &amp; Retrieval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4361688" y="5120640"/>
            <a:ext cx="28895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images using natural-language queries, no manual tagging required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629400" y="4023360"/>
            <a:ext cx="-822960" cy="640080"/>
          </a:xfrm>
          <a:prstGeom prst="line">
            <a:avLst/>
          </a:prstGeom>
          <a:noFill/>
          <a:ln w="15875">
            <a:solidFill>
              <a:srgbClr val="5C6B78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7680960" y="4663440"/>
            <a:ext cx="3108960" cy="1280160"/>
          </a:xfrm>
          <a:prstGeom prst="roundRect">
            <a:avLst>
              <a:gd name="adj" fmla="val 5000"/>
            </a:avLst>
          </a:prstGeom>
          <a:solidFill>
            <a:srgbClr val="EEF3F6"/>
          </a:solidFill>
          <a:ln/>
        </p:spPr>
      </p:sp>
      <p:sp>
        <p:nvSpPr>
          <p:cNvPr id="18" name="Shape 16"/>
          <p:cNvSpPr/>
          <p:nvPr/>
        </p:nvSpPr>
        <p:spPr>
          <a:xfrm>
            <a:off x="7680960" y="4663440"/>
            <a:ext cx="3108960" cy="411480"/>
          </a:xfrm>
          <a:prstGeom prst="rect">
            <a:avLst/>
          </a:prstGeom>
          <a:solidFill>
            <a:srgbClr val="1E7A4C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680960" y="466344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Captioning &amp; Visual Q&amp;A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7790688" y="5120640"/>
            <a:ext cx="28895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multimodal systems that reason jointly about images and text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7406640" y="4023360"/>
            <a:ext cx="1828800" cy="640080"/>
          </a:xfrm>
          <a:prstGeom prst="line">
            <a:avLst/>
          </a:prstGeom>
          <a:noFill/>
          <a:ln w="15875">
            <a:solidFill>
              <a:srgbClr val="5C6B78"/>
            </a:solidFill>
            <a:prstDash val="solid"/>
            <a:tailEnd type="triangle"/>
          </a:ln>
        </p:spPr>
      </p:sp>
      <p:sp>
        <p:nvSpPr>
          <p:cNvPr id="22" name="Text 20"/>
          <p:cNvSpPr txBox="1"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FOR COMPUTER VISION  |  WEEK 13 · LECTURE 1  |  HOUR 25</a:t>
            </a:r>
            <a:endParaRPr lang="en-US" sz="850" dirty="0"/>
          </a:p>
        </p:txBody>
      </p:sp>
      <p:sp>
        <p:nvSpPr>
          <p:cNvPr id="23" name="Text 21"/>
          <p:cNvSpPr txBox="1"/>
          <p:nvPr/>
        </p:nvSpPr>
        <p:spPr>
          <a:xfrm>
            <a:off x="11430000" y="6547104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F2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601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WRAP-UP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02920" cy="502920"/>
          </a:xfrm>
          <a:prstGeom prst="ellipse">
            <a:avLst/>
          </a:prstGeom>
          <a:solidFill>
            <a:srgbClr val="0F2A4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5087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1463040"/>
            <a:ext cx="10241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models (VAEs, GANs) have moved well beyond research demos — content creation, data augmentation, restoration, translation, simulation, and anomaly detection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2295144"/>
            <a:ext cx="502920" cy="502920"/>
          </a:xfrm>
          <a:prstGeom prst="ellipse">
            <a:avLst/>
          </a:prstGeom>
          <a:solidFill>
            <a:srgbClr val="0F2A47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229514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1234440" y="2249424"/>
            <a:ext cx="10241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Responsible use matters: deepfakes, copyright, and bias are real, active concerns — not solved problems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3081528"/>
            <a:ext cx="502920" cy="502920"/>
          </a:xfrm>
          <a:prstGeom prst="ellipse">
            <a:avLst/>
          </a:prstGeom>
          <a:solidFill>
            <a:srgbClr val="0F2A47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308152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1234440" y="3035808"/>
            <a:ext cx="10241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CLIP connects vision and language by training image and text encoders to agree in a shared embedding space via contrastive learning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3867912"/>
            <a:ext cx="502920" cy="502920"/>
          </a:xfrm>
          <a:prstGeom prst="ellipse">
            <a:avLst/>
          </a:prstGeom>
          <a:solidFill>
            <a:srgbClr val="0F2A47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48640" y="386791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1234440" y="3822192"/>
            <a:ext cx="10241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shared space enables zero-shot classification with arbitrary categories — no fine-tuning needed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4654296"/>
            <a:ext cx="502920" cy="502920"/>
          </a:xfrm>
          <a:prstGeom prst="ellipse">
            <a:avLst/>
          </a:prstGeom>
          <a:solidFill>
            <a:srgbClr val="0F2A47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48640" y="465429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1234440" y="4608576"/>
            <a:ext cx="10241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CLIP's embeddings now underpin much of modern multimodal AI, including text-to-image systems built on the generative models we just studied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48640" y="553212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16385A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77240" y="553212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</a:t>
            </a:r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Diffusion models in depth — the modern engine behind most state-of-the-art text-to-image systems.</a:t>
            </a:r>
            <a:endParaRPr lang="en-US" sz="135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FOR COMPUTER VISION  |  WEEK 13 · LECTURE 1  |  HOUR 25</a:t>
            </a:r>
            <a:endParaRPr lang="en-US" sz="850" dirty="0"/>
          </a:p>
        </p:txBody>
      </p:sp>
      <p:sp>
        <p:nvSpPr>
          <p:cNvPr id="22" name="Text 20"/>
          <p:cNvSpPr txBox="1"/>
          <p:nvPr/>
        </p:nvSpPr>
        <p:spPr>
          <a:xfrm>
            <a:off x="11430000" y="6547104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Week 13 · Lecture 1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Applications of Generative Models &amp; CLIP</dc:title>
  <dc:subject>PptxGenJS Presentation</dc:subject>
  <dc:creator>Deep Learning for Computer Vision</dc:creator>
  <cp:lastModifiedBy>Deep Learning for Computer Vision</cp:lastModifiedBy>
  <cp:revision>1</cp:revision>
  <dcterms:created xsi:type="dcterms:W3CDTF">2026-09-06T05:10:19Z</dcterms:created>
  <dcterms:modified xsi:type="dcterms:W3CDTF">2026-09-06T05:10:19Z</dcterms:modified>
</cp:coreProperties>
</file>