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5898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3179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7695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6359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949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390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11289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7187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3086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74882" y="0"/>
            <a:ext cx="0" cy="685800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7932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958645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937967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917290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896612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875934"/>
            <a:ext cx="12191695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1417320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9377172" y="14173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52560" y="4713732"/>
            <a:ext cx="365760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7172" y="4389120"/>
            <a:ext cx="41148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   ·   WEEK 10  ·  LECTURE 1  ·  HOUR 19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21488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Boxes to Pixels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&amp; Instance Segmentation</a:t>
            </a:r>
            <a:pPr indent="0" marL="0">
              <a:buNone/>
            </a:pPr>
            <a:r>
              <a:rPr lang="en-US" sz="2200" dirty="0">
                <a:solidFill>
                  <a:srgbClr val="AEC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UNet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989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tells you where an object roughly is. A segmentation mask tells you exactly which pixels are it.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WHERE WE'VE BEEN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Detection to Segmentation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lectures ago: YOLO, SSD and RetinaNet learned to output boxes — a class and a rectangle per object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lecture: mAP gave us a rigorous way to grade those boxes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box is a blunt instrument: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includes background pixels the object doesn't occupy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nothing about the object's actual shape, edges, or extent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go one level deeper: from “where, roughly” to “which exact pixels”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737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progression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75120" y="210312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210312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21031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“there's a car</a:t>
            </a:r>
            <a:endParaRPr lang="en-US" sz="1100" dirty="0"/>
          </a:p>
          <a:p>
            <a:pPr algn="r"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image”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025128" y="3209544"/>
            <a:ext cx="237744" cy="256032"/>
          </a:xfrm>
          <a:prstGeom prst="downArrow">
            <a:avLst/>
          </a:prstGeom>
          <a:solidFill>
            <a:srgbClr val="5C6B78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35204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EF3F6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352044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35204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car is in</a:t>
            </a:r>
            <a:endParaRPr lang="en-US" sz="1100" dirty="0"/>
          </a:p>
          <a:p>
            <a:pPr algn="r"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box”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25128" y="4626864"/>
            <a:ext cx="237744" cy="256032"/>
          </a:xfrm>
          <a:prstGeom prst="downArrow">
            <a:avLst/>
          </a:prstGeom>
          <a:solidFill>
            <a:srgbClr val="5C6B78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0" y="493776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03720" y="49377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493776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exact</a:t>
            </a:r>
            <a:endParaRPr lang="en-US" sz="1100" dirty="0"/>
          </a:p>
          <a:p>
            <a:pPr algn="r" indent="0" marL="0">
              <a:buNone/>
            </a:pPr>
            <a:r>
              <a:rPr lang="en-US" sz="1100" i="1" dirty="0">
                <a:solidFill>
                  <a:srgbClr val="F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are car”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98448" y="1636776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1636776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pixel-level output is needed, and how segmentation differs from detection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98448" y="2532888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08760" y="2532888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semantic, instance, and panoptic segmentation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98448" y="3429000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08760" y="3429000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UNet's encoder-decoder architecture and why skip connections matter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98448" y="4325112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08760" y="4325112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loss functions and evaluation metrics used to train and grade segmentation models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98448" y="5221224"/>
            <a:ext cx="9966960" cy="749808"/>
          </a:xfrm>
          <a:prstGeom prst="roundRect">
            <a:avLst>
              <a:gd name="adj" fmla="val 8537"/>
            </a:avLst>
          </a:prstGeom>
          <a:solidFill>
            <a:srgbClr val="EEF3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508760" y="5221224"/>
            <a:ext cx="9601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segmentation is used in practice, and UNet's strengths, limits, and variants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Boxes Aren't Enough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bounding box is the smallest rectangle around an object — it always includes background pixels too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irregular, thin, or overlapping objects, a rectangle is a poor stand-in for actual shape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real tasks need to know exactly WHICH pixels belong to the object: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— precise tumor/organ boundaries for diagnosis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 — the exact drivable road surface, not “somewhere in this box”</a:t>
            </a:r>
            <a:endParaRPr lang="en-US" sz="12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Photo/video editing — cleanly cutting out an object needs its exact silhouette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92240" y="1737360"/>
            <a:ext cx="2423160" cy="45720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56832" y="173736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2194560"/>
            <a:ext cx="2423160" cy="2651760"/>
          </a:xfrm>
          <a:prstGeom prst="rect">
            <a:avLst/>
          </a:prstGeom>
          <a:solidFill>
            <a:srgbClr val="F7FAFB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2606040"/>
            <a:ext cx="1600200" cy="1828800"/>
          </a:xfrm>
          <a:prstGeom prst="rect">
            <a:avLst/>
          </a:prstGeom>
          <a:ln w="28575">
            <a:solidFill>
              <a:srgbClr val="B23A3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178040" y="2834640"/>
            <a:ext cx="1051560" cy="1371600"/>
          </a:xfrm>
          <a:prstGeom prst="octagon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4800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only — includes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pixels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89720" y="1737360"/>
            <a:ext cx="2423160" cy="4572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54312" y="173736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89720" y="2194560"/>
            <a:ext cx="2423160" cy="2651760"/>
          </a:xfrm>
          <a:prstGeom prst="rect">
            <a:avLst/>
          </a:prstGeom>
          <a:solidFill>
            <a:srgbClr val="F7FAFB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0" y="2834640"/>
            <a:ext cx="1051560" cy="1371600"/>
          </a:xfrm>
          <a:prstGeom prst="octagon">
            <a:avLst/>
          </a:prstGeom>
          <a:solidFill>
            <a:srgbClr val="1E7A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89720" y="4800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silhouette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object's pixels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Segmentation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class label to EVERY pixel in the image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of the same class share the same label, no matter which physical object they belong 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cars in the scene? Both are simply labeled “car” — no distinction between them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“what class is at this pixel?”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label map the same height/width as the input, one class index per pixel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0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5452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52944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60436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7928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75420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82912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0404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97896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5388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5452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52944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0436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67928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5420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82912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90404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97896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05388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5452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52944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0436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67928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75420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90404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97896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105388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7960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5452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52944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60436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67928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75420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82912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90404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97896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05388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37960" y="3670663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45452" y="3670663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52944" y="3670663"/>
            <a:ext cx="507492" cy="483326"/>
          </a:xfrm>
          <a:prstGeom prst="rect">
            <a:avLst/>
          </a:prstGeom>
          <a:solidFill>
            <a:srgbClr val="F0A8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60436" y="3670663"/>
            <a:ext cx="507492" cy="483326"/>
          </a:xfrm>
          <a:prstGeom prst="rect">
            <a:avLst/>
          </a:prstGeom>
          <a:solidFill>
            <a:srgbClr val="F0A8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67928" y="3670663"/>
            <a:ext cx="507492" cy="483326"/>
          </a:xfrm>
          <a:prstGeom prst="rect">
            <a:avLst/>
          </a:prstGeom>
          <a:solidFill>
            <a:srgbClr val="F0A8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75420" y="3670663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82912" y="3670663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90404" y="3670663"/>
            <a:ext cx="507492" cy="483326"/>
          </a:xfrm>
          <a:prstGeom prst="rect">
            <a:avLst/>
          </a:prstGeom>
          <a:solidFill>
            <a:srgbClr val="F0A8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97896" y="3670663"/>
            <a:ext cx="507492" cy="483326"/>
          </a:xfrm>
          <a:prstGeom prst="rect">
            <a:avLst/>
          </a:prstGeom>
          <a:solidFill>
            <a:srgbClr val="F0A8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05388" y="3670663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37960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5452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52944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60436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67928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75420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82912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90404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597896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105388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37960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45452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52944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60436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67928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75420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82912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90404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597896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105388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37960" y="1737360"/>
            <a:ext cx="5074920" cy="3383280"/>
          </a:xfrm>
          <a:prstGeom prst="rect">
            <a:avLst/>
          </a:prstGeom>
          <a:ln w="12700">
            <a:solidFill>
              <a:srgbClr val="CBD8E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537960" y="5257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· Trees · Cars (same color) · Road — one label per class, instances not separated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 Segmentation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further: separates individual OBJECT INSTANCES, not just classes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distinct object gets its own mask, even when it shares a class with another object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cars from the previous slide now become “car #1” and “car #2”, each with its own pixels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“which pixels belong to THIS specific object?”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applied only to countable “thing” classes (car, person) — not amorphous “stuff” like sky or road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37960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5452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52944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60436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7928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75420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82912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90404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97896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5388" y="1737360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5452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52944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0436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67928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5420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82912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90404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97896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05388" y="2220686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5452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52944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0436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67928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75420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82912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90404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97896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105388" y="2704011"/>
            <a:ext cx="507492" cy="483326"/>
          </a:xfrm>
          <a:prstGeom prst="rect">
            <a:avLst/>
          </a:prstGeom>
          <a:solidFill>
            <a:srgbClr val="BFDCE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7960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5452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52944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60436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67928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75420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82912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90404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97896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105388" y="3187337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37960" y="3670663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45452" y="3670663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52944" y="3670663"/>
            <a:ext cx="507492" cy="483326"/>
          </a:xfrm>
          <a:prstGeom prst="rect">
            <a:avLst/>
          </a:prstGeom>
          <a:solidFill>
            <a:srgbClr val="F0A8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60436" y="3670663"/>
            <a:ext cx="507492" cy="483326"/>
          </a:xfrm>
          <a:prstGeom prst="rect">
            <a:avLst/>
          </a:prstGeom>
          <a:solidFill>
            <a:srgbClr val="F0A8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67928" y="3670663"/>
            <a:ext cx="507492" cy="483326"/>
          </a:xfrm>
          <a:prstGeom prst="rect">
            <a:avLst/>
          </a:prstGeom>
          <a:solidFill>
            <a:srgbClr val="F0A8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75420" y="3670663"/>
            <a:ext cx="507492" cy="483326"/>
          </a:xfrm>
          <a:prstGeom prst="rect">
            <a:avLst/>
          </a:prstGeom>
          <a:solidFill>
            <a:srgbClr val="F0A8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82912" y="3670663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90404" y="3670663"/>
            <a:ext cx="507492" cy="483326"/>
          </a:xfrm>
          <a:prstGeom prst="rect">
            <a:avLst/>
          </a:prstGeom>
          <a:solidFill>
            <a:srgbClr val="D9E8D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97896" y="3670663"/>
            <a:ext cx="507492" cy="483326"/>
          </a:xfrm>
          <a:prstGeom prst="rect">
            <a:avLst/>
          </a:prstGeom>
          <a:solidFill>
            <a:srgbClr val="6FA8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05388" y="3670663"/>
            <a:ext cx="507492" cy="483326"/>
          </a:xfrm>
          <a:prstGeom prst="rect">
            <a:avLst/>
          </a:prstGeom>
          <a:solidFill>
            <a:srgbClr val="6FA8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37960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5452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52944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60436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67928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75420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82912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90404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597896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105388" y="4153989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37960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45452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52944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60436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67928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75420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82912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90404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597896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105388" y="4637314"/>
            <a:ext cx="507492" cy="483326"/>
          </a:xfrm>
          <a:prstGeom prst="rect">
            <a:avLst/>
          </a:prstGeom>
          <a:solidFill>
            <a:srgbClr val="C7CDD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537960" y="1737360"/>
            <a:ext cx="5074920" cy="3383280"/>
          </a:xfrm>
          <a:prstGeom prst="rect">
            <a:avLst/>
          </a:prstGeom>
          <a:ln w="12700">
            <a:solidFill>
              <a:srgbClr val="CBD8E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400696" y="32598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#1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10394899" y="32598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#2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6537960" y="52578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· Trees · Road stay class-only — but each car is now its own distinct mask</a:t>
            </a: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TERMS TOGETHER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vs. Instance vs. Panoptic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class labels across the whole image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3246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every pixel, including “stuff” (sky, road, grass)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Same-class objects are NOT distinguished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label map as output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EEF3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737360"/>
            <a:ext cx="361188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17373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423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Per-object masks for countable “things”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200400"/>
            <a:ext cx="3246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individual objects of the same class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label background “stuff” at all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detection + per-object masks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EEF3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1737360"/>
            <a:ext cx="3611880" cy="54864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0" y="17373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Panoptic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423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both, introduced by Kirillov et al. 2019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200400"/>
            <a:ext cx="3246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“Stuff” classes get semantic labels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“Things” get individual instance masks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gets exactly one label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ARCHITECTURE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1289304" y="1417320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1467612" y="1417320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82012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03704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2382012"/>
            <a:ext cx="219456" cy="411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1467612" y="2203704"/>
            <a:ext cx="4114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463040"/>
            <a:ext cx="914400" cy="91440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417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UNet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Ronneberger, Fischer &amp; Brox, 2015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designed for biomedical image segmentation — tracing cell and organ boundaries in microscopy and medical scans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at the time: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labeled training images exist in biomedical domains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UNet's answer:</a:t>
            </a:r>
            <a:endParaRPr lang="en-US" sz="135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architecture that trains well even on a small dataset, and runs fast at inference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worked so well that it became the default starting point for segmentation far beyond biomedical imaging — satellite imagery, autonomous driving, and more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for the distinctive “U” shape of its architecture diagram — which we'll build up over the next few slides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Picture: An Encoder-Decoder “U”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path (encoder)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spatial size, grows channel depth — captures WHAT is in the image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Expansive path (decoder)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spatial size back — recovers WHERE things are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matching-resolution levels directly across the U, shortcutting the bottleneck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looks like the letter U: down the left side, across the bottom, back up the right side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0" y="1737360"/>
            <a:ext cx="13716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1737360"/>
            <a:ext cx="137160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2011680"/>
            <a:ext cx="4572000" cy="0"/>
          </a:xfrm>
          <a:prstGeom prst="line">
            <a:avLst/>
          </a:prstGeom>
          <a:noFill/>
          <a:ln w="15875">
            <a:solidFill>
              <a:srgbClr val="5C6B7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715000" y="2286000"/>
            <a:ext cx="0" cy="36576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750040" y="2651760"/>
            <a:ext cx="0" cy="36576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5349240" y="2651760"/>
            <a:ext cx="105156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2651760"/>
            <a:ext cx="105156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0" y="2926080"/>
            <a:ext cx="4572000" cy="0"/>
          </a:xfrm>
          <a:prstGeom prst="line">
            <a:avLst/>
          </a:prstGeom>
          <a:noFill/>
          <a:ln w="15875">
            <a:solidFill>
              <a:srgbClr val="5C6B7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875020" y="3200400"/>
            <a:ext cx="0" cy="36576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1590020" y="3566160"/>
            <a:ext cx="0" cy="36576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5623560" y="3566160"/>
            <a:ext cx="7772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0" y="3566160"/>
            <a:ext cx="77724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840480"/>
            <a:ext cx="4572000" cy="0"/>
          </a:xfrm>
          <a:prstGeom prst="line">
            <a:avLst/>
          </a:prstGeom>
          <a:noFill/>
          <a:ln w="15875">
            <a:solidFill>
              <a:srgbClr val="5C6B7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012180" y="4114800"/>
            <a:ext cx="0" cy="36576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452860" y="4480560"/>
            <a:ext cx="0" cy="36576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5852160" y="4480560"/>
            <a:ext cx="54864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64240" y="4480560"/>
            <a:ext cx="54864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4754880"/>
            <a:ext cx="4572000" cy="0"/>
          </a:xfrm>
          <a:prstGeom prst="line">
            <a:avLst/>
          </a:prstGeom>
          <a:noFill/>
          <a:ln w="15875">
            <a:solidFill>
              <a:srgbClr val="5C6B7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446520" y="4526280"/>
            <a:ext cx="4572000" cy="4572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50474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1371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(contracting)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88136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(expansive)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1371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→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Contracting Path (Encoder)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block: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3×3 convolutions (+ ReLU), then a 2×2 max pooling with stride 2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downsampling step: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the spatial resolution (e.g. 128×128 → 64×64)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the number of feature channels (e.g. 64 → 128)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layers see a larger effective receptive field → more global, semantic context (“this whole region looks like a cell nucleus”)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fine spatial detail — exact edges, small structures — is progressively lost as we pool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0" y="1828800"/>
            <a:ext cx="237744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098280" y="18288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128×128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×64 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0" y="2395728"/>
            <a:ext cx="0" cy="50292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7863840" y="2404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/2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903720" y="2898648"/>
            <a:ext cx="173736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778240" y="28986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64×64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×128 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3465576"/>
            <a:ext cx="0" cy="50292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786384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/2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55180" y="3968496"/>
            <a:ext cx="123444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26780" y="396849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32×32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×256 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0" y="4535424"/>
            <a:ext cx="0" cy="50292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863840" y="45445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/2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38060" y="5038344"/>
            <a:ext cx="868680" cy="5669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43900" y="503834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16×16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×512 ch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61996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shrinks — depth (channels) grows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Expansive Path (Decoder)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block: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up-convolution (transposed conv / upsampling), then two 3×3 convolutions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upsampling step: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the spatial resolution back toward the original size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the number of feature channels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Gradually reconstructs a full-resolution output from the compressed bottleneck representation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on its own: reconstruction from the bottleneck alone tends to be blurry — fine detail has to be “guessed” back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12380" y="1828800"/>
            <a:ext cx="868680" cy="5669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18220" y="182880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16×16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×1024 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46720" y="2395728"/>
            <a:ext cx="0" cy="50292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8138160" y="24048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up-conv ×2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29500" y="2898648"/>
            <a:ext cx="1234440" cy="5669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01100" y="28986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32×32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×512 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3465576"/>
            <a:ext cx="0" cy="50292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8138160" y="3474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up-conv ×2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78040" y="3968496"/>
            <a:ext cx="1737360" cy="5669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396849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64×64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×256 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4535424"/>
            <a:ext cx="0" cy="50292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8138160" y="45445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up-conv ×2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5038344"/>
            <a:ext cx="2377440" cy="5669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72600" y="503834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128×128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×128 ch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61996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grows back — depth (channels) shrinks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ARCHITECTURE — THE KEY IDEA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 Connections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for blurry reconstruction: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resolution level, the matching encoder feature map is concatenated onto the decoder's upsampled feature map — BEFORE the decoder's convolutions run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hands the decoder direct access to the fine-grained spatial detail that was captured early on, before it was ever lost to pooling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combines “what” (from the deep bottleneck) with “where” (from the shallow skip connections) → sharp, accurate boundaries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35040" y="2103120"/>
            <a:ext cx="155448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35040" y="21031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feature 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(fine detail, shallow)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635240" y="2491740"/>
            <a:ext cx="1051560" cy="0"/>
          </a:xfrm>
          <a:prstGeom prst="line">
            <a:avLst/>
          </a:prstGeom>
          <a:noFill/>
          <a:ln w="19050">
            <a:solidFill>
              <a:srgbClr val="5C6B78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35040" y="3566160"/>
            <a:ext cx="1554480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35040" y="35661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feature 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(coarse “what”, upsampled)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35240" y="3954780"/>
            <a:ext cx="1051560" cy="0"/>
          </a:xfrm>
          <a:prstGeom prst="line">
            <a:avLst/>
          </a:prstGeom>
          <a:noFill/>
          <a:ln w="19050">
            <a:solidFill>
              <a:srgbClr val="5C6B78"/>
            </a:solidFill>
            <a:prstDash val="dash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732520" y="2423160"/>
            <a:ext cx="640080" cy="1828800"/>
          </a:xfrm>
          <a:prstGeom prst="roundRect">
            <a:avLst>
              <a:gd name="adj" fmla="val 11429"/>
            </a:avLst>
          </a:prstGeom>
          <a:solidFill>
            <a:srgbClr val="0F2A47"/>
          </a:solidFill>
          <a:ln/>
        </p:spPr>
      </p:sp>
      <p:sp>
        <p:nvSpPr>
          <p:cNvPr id="12" name="Text 10"/>
          <p:cNvSpPr txBox="1"/>
          <p:nvPr/>
        </p:nvSpPr>
        <p:spPr>
          <a:xfrm rot="16200000">
            <a:off x="8732520" y="2423160"/>
            <a:ext cx="640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72600" y="3337560"/>
            <a:ext cx="274320" cy="0"/>
          </a:xfrm>
          <a:prstGeom prst="line">
            <a:avLst/>
          </a:prstGeom>
          <a:noFill/>
          <a:ln w="19050">
            <a:solidFill>
              <a:srgbClr val="5C6B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646920" y="27432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EEF3F6"/>
          </a:solidFill>
          <a:ln w="15875">
            <a:solidFill>
              <a:srgbClr val="0F2A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38360" y="274320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fed into decoder's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convolutions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ARCHITECTURE — FULL PICTURE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2148840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691640"/>
            <a:ext cx="2148840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0" y="16916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 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2020824"/>
            <a:ext cx="5349240" cy="0"/>
          </a:xfrm>
          <a:prstGeom prst="line">
            <a:avLst/>
          </a:prstGeom>
          <a:noFill/>
          <a:ln w="19050">
            <a:solidFill>
              <a:srgbClr val="5C6B78"/>
            </a:solidFill>
            <a:prstDash val="dash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200400" y="1435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88820" y="2350008"/>
            <a:ext cx="0" cy="256032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78340" y="2606040"/>
            <a:ext cx="0" cy="256032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head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2606040"/>
            <a:ext cx="2148840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6060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2606040"/>
            <a:ext cx="2148840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0" y="26060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2935224"/>
            <a:ext cx="5349240" cy="0"/>
          </a:xfrm>
          <a:prstGeom prst="line">
            <a:avLst/>
          </a:prstGeom>
          <a:noFill/>
          <a:ln w="19050">
            <a:solidFill>
              <a:srgbClr val="5C6B78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200400" y="23500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88820" y="3264408"/>
            <a:ext cx="0" cy="256032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78340" y="3520440"/>
            <a:ext cx="0" cy="256032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3520440"/>
            <a:ext cx="2148840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5204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3520440"/>
            <a:ext cx="2148840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03920" y="35204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54680" y="3849624"/>
            <a:ext cx="5349240" cy="0"/>
          </a:xfrm>
          <a:prstGeom prst="line">
            <a:avLst/>
          </a:prstGeom>
          <a:noFill/>
          <a:ln w="19050">
            <a:solidFill>
              <a:srgbClr val="5C6B78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200400" y="32644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988820" y="4178808"/>
            <a:ext cx="0" cy="256032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78340" y="4434840"/>
            <a:ext cx="0" cy="256032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914400" y="4434840"/>
            <a:ext cx="2148840" cy="6583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44348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 ch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503920" y="4434840"/>
            <a:ext cx="2148840" cy="6583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03920" y="44348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ch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54680" y="4764024"/>
            <a:ext cx="5349240" cy="0"/>
          </a:xfrm>
          <a:prstGeom prst="line">
            <a:avLst/>
          </a:prstGeom>
          <a:noFill/>
          <a:ln w="19050">
            <a:solidFill>
              <a:srgbClr val="5C6B78"/>
            </a:solidFill>
            <a:prstDash val="dash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3200400" y="41788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988820" y="5093208"/>
            <a:ext cx="0" cy="91440"/>
          </a:xfrm>
          <a:prstGeom prst="line">
            <a:avLst/>
          </a:prstGeom>
          <a:noFill/>
          <a:ln w="19050">
            <a:solidFill>
              <a:srgbClr val="0F2A4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4400" y="5184648"/>
            <a:ext cx="9738360" cy="658368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5184648"/>
            <a:ext cx="9738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— 1024 channels, smallest spatial size (e.g. 8×8)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1440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6025896"/>
            <a:ext cx="9738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1×1 conv → num_classes channels → per-pixel class scores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Output Layer: Producing a Segmentation Map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layer: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1×1 convolution maps the last decoder feature map to num_classes channels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softmax (or sigmoid for binary masks) at each pixel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 pixel gets a probability distribution over classes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argmax per pixel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single discrete class label per pixel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output has the SAME height and width as the input image — that's the whole point of the decoder rebuilding resolution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0" y="2103120"/>
            <a:ext cx="1188720" cy="1463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0" y="36393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0" y="2752344"/>
            <a:ext cx="41148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2103120"/>
            <a:ext cx="1005840" cy="1005840"/>
          </a:xfrm>
          <a:prstGeom prst="rect">
            <a:avLst/>
          </a:prstGeom>
          <a:solidFill>
            <a:srgbClr val="6E8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39328" y="2212848"/>
            <a:ext cx="1005840" cy="1005840"/>
          </a:xfrm>
          <a:prstGeom prst="rect">
            <a:avLst/>
          </a:prstGeom>
          <a:solidFill>
            <a:srgbClr val="6E8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49056" y="2322576"/>
            <a:ext cx="1005840" cy="1005840"/>
          </a:xfrm>
          <a:prstGeom prst="rect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363931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conv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scores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555480" y="2752344"/>
            <a:ext cx="411480" cy="164592"/>
          </a:xfrm>
          <a:prstGeom prst="rightArrow">
            <a:avLst/>
          </a:prstGeom>
          <a:solidFill>
            <a:srgbClr val="5C6B7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04120" y="2103120"/>
            <a:ext cx="1463040" cy="1463040"/>
          </a:xfrm>
          <a:prstGeom prst="rect">
            <a:avLst/>
          </a:prstGeom>
          <a:solidFill>
            <a:srgbClr val="F7FAFB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04120" y="2103120"/>
            <a:ext cx="1463040" cy="731520"/>
          </a:xfrm>
          <a:prstGeom prst="rect">
            <a:avLst/>
          </a:prstGeom>
          <a:solidFill>
            <a:srgbClr val="BFDCE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23576" y="2907792"/>
            <a:ext cx="731520" cy="585216"/>
          </a:xfrm>
          <a:prstGeom prst="rect">
            <a:avLst/>
          </a:prstGeom>
          <a:solidFill>
            <a:srgbClr val="F0A86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04120" y="3419856"/>
            <a:ext cx="1463040" cy="1024128"/>
          </a:xfrm>
          <a:prstGeom prst="rect">
            <a:avLst/>
          </a:prstGeom>
          <a:solidFill>
            <a:srgbClr val="C7CDD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0" y="363931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63640" y="4251960"/>
            <a:ext cx="5303520" cy="64008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425196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H×W as the input image — just one class label per pixel instead of three color channels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SEGMENTATION MODELS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 for Segmentation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834640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Cross-Entropy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828800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every pixel as an independent classification problem, averaged over all pixels in the image.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377440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class imbalance — a tiny tumor region is swamped by a huge background, just like detection's foreground/background problem.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154680"/>
            <a:ext cx="2834640" cy="12801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15468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Loss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46120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optimizes the Dice coefficient (an overlap-based score) between predicted and true masks.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794760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to class imbalance — doesn't care how big the background is, only how well the target region overlaps.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572000"/>
            <a:ext cx="2834640" cy="128016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57200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(CE + Dice)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663440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sum of both losses, used in most modern segmentation pipelines — especially medical imaging.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5212080"/>
            <a:ext cx="7909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pixel-wise gradient stability from CE and imbalance robustness from Dice.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SEGMENTATION MODELS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Metrics: Pixel Accuracy, mIoU, Dice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54864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Accuracy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all pixels classified correctly.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under class imbalance — predicting “background” everywhere can still score high.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3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737360"/>
            <a:ext cx="3611880" cy="54864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17373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IoU (mIoU)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4688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computed per class (predicted mask ∩ true mask, over their union), then averaged across classes.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02336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segmentation metric — IoU is back, just applied to pixel masks instead of boxes.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EF3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1737360"/>
            <a:ext cx="36118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0" y="17373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Coefficient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4688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|A ∩ B| / (|A| + |B|) — closely related to IoU, more sensitive to overlap size.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02336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common in medical imaging, where it doubles as the loss function too (Dice Loss).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UNET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UNet: Strengths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737360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well even with a small labeled dataset — its original biomedical use case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preserve fine spatial detail → sharp, accurate boundaries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convolutional — flexible with input image size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well-understood architecture; fast to train and run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the default starting point for segmentation across many domains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303520" cy="457200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19672" y="1737360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3172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Memory-intensive at high resolution — skip connections mean many feature maps must be kept around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still miss very small or very thin structures despite skip connections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multi-scale reasoning across objects of very different sizes, unlike FPN-based detectors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inherently instance-aware — needs adaptation to separate individual object instances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UNET FAMILY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UNet Variants &amp; Extensions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859536"/>
          </a:xfrm>
          <a:prstGeom prst="roundRect">
            <a:avLst>
              <a:gd name="adj" fmla="val 7447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UNet++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737360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Nested, dense skip connections between encoder and decoder — finer-grained feature fusion than a single skip per level.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11109960" cy="859536"/>
          </a:xfrm>
          <a:prstGeom prst="roundRect">
            <a:avLst>
              <a:gd name="adj" fmla="val 7447"/>
            </a:avLst>
          </a:prstGeom>
          <a:solidFill>
            <a:srgbClr val="EE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6148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 UNet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761488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attention gates to the skip connections, letting the decoder focus on the most relevant regions instead of passing everything through equally.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85616"/>
            <a:ext cx="11109960" cy="859536"/>
          </a:xfrm>
          <a:prstGeom prst="roundRect">
            <a:avLst>
              <a:gd name="adj" fmla="val 7447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785616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UNet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785616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every convolution to 3D, for volumetric data like CT and MRI scans instead of flat 2D images.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09744"/>
            <a:ext cx="11109960" cy="859536"/>
          </a:xfrm>
          <a:prstGeom prst="roundRect">
            <a:avLst>
              <a:gd name="adj" fmla="val 7447"/>
            </a:avLst>
          </a:prstGeom>
          <a:solidFill>
            <a:srgbClr val="EEF3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809744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Pretrained-encoder UNet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809744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the encoder for a pretrained backbone (ResNet, EfficientNet, …) — transfer learning meets the UNet decoder.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in the Real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645920"/>
            <a:ext cx="10424160" cy="713232"/>
          </a:xfrm>
          <a:prstGeom prst="roundRect">
            <a:avLst>
              <a:gd name="adj" fmla="val 8974"/>
            </a:avLst>
          </a:prstGeom>
          <a:solidFill>
            <a:srgbClr val="EEF3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16459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Imaging: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Tumor, organ, and cell boundary segmentation in CT, MRI, and microscopy — UNet's original home turf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328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487168"/>
            <a:ext cx="10424160" cy="713232"/>
          </a:xfrm>
          <a:prstGeom prst="roundRect">
            <a:avLst>
              <a:gd name="adj" fmla="val 8974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248716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Driving: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Drivable road surface, lane markings, sidewalks — pixel-precise understanding of what's safe to drive 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741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3328416"/>
            <a:ext cx="10424160" cy="713232"/>
          </a:xfrm>
          <a:prstGeom prst="roundRect">
            <a:avLst>
              <a:gd name="adj" fmla="val 8974"/>
            </a:avLst>
          </a:prstGeom>
          <a:solidFill>
            <a:srgbClr val="EEF3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17320" y="3328416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&amp; Aerial Imagery: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classification, building footprints, deforestation tracking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153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34440" y="4169664"/>
            <a:ext cx="10424160" cy="713232"/>
          </a:xfrm>
          <a:prstGeom prst="roundRect">
            <a:avLst>
              <a:gd name="adj" fmla="val 8974"/>
            </a:avLst>
          </a:prstGeom>
          <a:solidFill>
            <a:srgbClr val="EEF3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417320" y="4169664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Agriculture: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vs. weed segmentation for precision farming and targeted treatment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530352" cy="530352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056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34440" y="5010912"/>
            <a:ext cx="10424160" cy="713232"/>
          </a:xfrm>
          <a:prstGeom prst="roundRect">
            <a:avLst>
              <a:gd name="adj" fmla="val 8974"/>
            </a:avLst>
          </a:prstGeom>
          <a:solidFill>
            <a:srgbClr val="EEF3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17320" y="5010912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&amp; Video Editing:  </a:t>
            </a:r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background removal and portrait matting — exact silhouettes, not rectangles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predicts a label for every pixel — a fundamentally finer-grained task than detection's boxes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13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6771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 labels classes; instance segmentation separates individual objects; panoptic unifies both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26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98094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UNet's encoder-decoder shape captures “what”, then rebuilds “where” — skip connections are what make the rebuild sharp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739896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39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69417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shows up again here — Dice loss and mIoU are the segmentation-world answers to a problem we already met in detection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53128"/>
            <a:ext cx="502920" cy="502920"/>
          </a:xfrm>
          <a:prstGeom prst="ellipse">
            <a:avLst/>
          </a:prstGeom>
          <a:solidFill>
            <a:srgbClr val="0F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53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40740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UNet's simplicity and data-efficiency made it the default starting point far beyond its original biomedical use case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6385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Unit V: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UNet mask to full instance segmentation networks — how architectures like Mask R-CNN add per-instance masks on top of detection.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 |  WEEK 10 · LECTURE 1  |  HOUR 19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Week 10 · Lecture 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Boxes to Pixels — Segmentation &amp; UNet</dc:title>
  <dc:subject>PptxGenJS Presentation</dc:subject>
  <dc:creator>Deep Learning for Computer Vision</dc:creator>
  <cp:lastModifiedBy>Deep Learning for Computer Vision</cp:lastModifiedBy>
  <cp:revision>1</cp:revision>
  <dcterms:created xsi:type="dcterms:W3CDTF">2026-09-04T09:40:24Z</dcterms:created>
  <dcterms:modified xsi:type="dcterms:W3CDTF">2026-09-04T09:40:24Z</dcterms:modified>
</cp:coreProperties>
</file>